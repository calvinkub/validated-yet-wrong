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สวัสดีครับ/ค่ะ วันนี้นำเสนอเรื่อง "ผ่านการตรวจแล้ว แต่ผิด" (Validated, yet Wrong) เป็นบทเรียนจากการทบทวนงานวิเคราะห์ของเราเองสี่งานบนข้อมูลเมแทบอโลมิกส์ขนาดเล็ก แต่ละงานผ่านการตรวจสอบที่เราใช้ แต่การตีความทางชีววิทยาไม่มีหลักฐานรองรับ หรือระบุไม่ได้ เราจะเล่าก่อนว่าเราทำอะไร แล้วดูทีละกรณี (~0:20)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พื้นฐานก่อน: นักวิจัยเก็บตัวอย่างเลือดหรือปัสสาวะ วัดด้วยเครื่อง NMR ได้ตัวเลขของเมแทบอไลต์หลายสิบตัว แล้วใช้โมเดลแมชชีนเลิร์นนิงทำนายโรคหรือผลการรักษา จากนั้นรายงานผลหลังผ่านการตรวจสอบ งานของเราคือย้อนกลับไปทบทวนงานของเราเองสี่เรื่อง ว่าการตีความผลที่ผ่านการตรวจนั้นมีหลักฐานรองรับจริงไหม (~0:35)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เมแทบอไลต์ (metabolite) คือสารโมเลกุลเล็กที่เกิดจากการเผาผลาญ อยู่ในเลือดหรือปัสสาวะ มาจากอาหาร ยา และกระบวนการในร่างกาย ปริมาณของมันจึงเปลี่ยนไปตามสุขภาพ เช่น valine, glycine, กรดแลกติก และไขมันในเลือด (lipoproteins) แต่บางสาร เช่น dimethyl sulfone, isopropanol และ methanol ยังไม่ทราบแหล่งที่มาแน่ชัด อาจมาจากชีววิทยา การจัดการตัวอย่าง หรือทั้งสองอย่าง สารกลุ่มนี้จะกลายเป็นตัวละครสำคัญในกรณีที่ 2 (~0:40)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เครื่อง NMR วัดสารแต่ละตัวเป็นยอด (peak) ความสูงของยอดบอกปริมาณ ภาพซ้ายเป็นภาพประกอบ ไม่ใช่ข้อมูลจริง ส่วนตารางขวาเป็นตัวเลขจริงจากไฟล์ MTBLS242 ของผู้ป่วยสองคน คนละสองตัวอย่าง คือก่อนผ่าตัดและหลังผ่าตัด 12 เดือน โมเดลเห็นเพียงตารางนี้: หนึ่งแถวคือหนึ่งตัวอย่าง หนึ่งคอลัมน์คือสารหนึ่งชนิด และมีอีกคอลัมน์ที่บอกว่าตัวอย่างนั้นก่อนหรือหลังผ่าตัด ซึ่งก็คือ label ที่โมเดลต้องทำนาย (~0:40)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เราใช้ข้อมูลสาธารณะสามชุดจาก MetaboLights ชุดแรก MTBLS242 คือผู้ป่วยผ่าตัดลดน้ำหนัก วัดก่อนผ่าตัด 106 คน และหลังผ่าตัด 12 เดือน 71 คน ใช้ในกรณีที่ 1, 2 และ 4 ชุดที่สอง MTBLS1 คือปัสสาวะผู้ป่วยเบาหวานเทียบกับกลุ่มควบคุม 132 ตัวอย่าง ใช้ในกรณีที่ 3 ชุดที่สาม MTBLS881 คือผู้ป่วยผ่าตัดหัวใจ 47 คน เก็บเลือดสองตำแหน่ง ใช้ทำซ้ำกรณีที่ 1 (~0:30)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แต่ละการตรวจตอบได้คำถามเดียว: cross-validation ถามว่าโมเดลทำนายบุคคลใหม่ที่เก็บตัวอย่างแบบเดียวกันได้ดีแค่ไหน permutation test ถามว่าฟีเจอร์กับ label เป็นอิสระต่อกันหรือไม่ ROAR ถามว่าโมเดลพึ่งฟีเจอร์อันดับต้นหรือไม่ ไม่มีอันไหนถามว่าสัญญาณมาจากไหน หรือ label หมายถึงสิ่งที่ชื่อบอกจริงหรือเปล่า (~0:35)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นี่คือแผนที่ของทั้งงาน อ่านจากซ้ายไปขวา: ปัญหาที่ซ่อนอยู่ การตรวจที่ผ่าน และวิธีควบคุมที่เปิดเผยปัญหา หนึ่ง ผลลัพธ์ที่สร้างจากฟีเจอร์ของตัวเอง จับด้วยคะแนนอ้างอิงที่ไม่ต้องฝึกและการสลับคู่ตัวอย่าง สอง สารที่ยังไม่ทราบแหล่งที่มาที่ ROAR จัดให้สำคัญพอ ๆ กับสารจริง จับด้วยฟีเจอร์สังเคราะห์ที่ไม่มีชีววิทยา สาม โปรโตคอลการเก็บตัวอย่างตรงกับ label จับด้วยการตรวจ metadata และโปรโตคอล สี่ label ที่ชื่อไม่ตรงความหมาย จับด้วยการเขียน label ลงในหนึ่งประโยค (~0:40)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ก่อนเข้ากรณีที่ 1 ขออธิบาย regression to the mean ภาพนี้เป็นข้อมูลสมมติเพื่อประกอบ: คนที่วัดได้สูงที่สุดในครั้งแรก มักวัดได้ต่ำลงในครั้งที่สอง และคนที่ต่ำที่สุดมักสูงขึ้น ทั้งที่ไม่มีอะไรเปลี่ยนจริง เพราะการวัดมีความคลาดเคลื่อน ถ้า label คือ "การเปลี่ยนแปลง" และฟีเจอร์คือ "ค่าครั้งแรก" ฟีเจอร์จะทำนาย label ได้เองโดยไม่ต้องมีการตอบสนองทางชีววิทยา (~0:35)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กรณีแรก: ผู้ป่วยผ่าตัดลดน้ำหนัก 71 คน ทำนายว่าใครจะตอบสนองดีหลังหนึ่งปี label คำนวณจากการเปลี่ยนแปลงของสารชุดเดียวกับที่ใช้เป็นฟีเจอร์ ค่าตั้งต้นกับการเปลี่ยนแปลงมีสหสัมพันธ์มัธยฐาน -0.62 การสลับ label ให้ p = 0.001 แต่วิธีนี้ยังไม่ได้ตรวจการสอบเทียบ คะแนนอ้างอิงที่ไม่ต้องฝึกได้ 0.709 สูงกว่าโมเดล 0.683 และเมื่อสลับว่าตัวอย่างหลังหนึ่งปีเป็นของใคร ซึ่งไม่เหลือการตอบสนองรายบุคคลเลย ยังได้ lift มัธยฐาน 2.04 เท่า (ฝึกโมเดลใหม่ทุกรอบได้ 1.99 เท่า) สูงกว่าโมเดลจริงที่ 1.57 เท่า null นี้อนุรักษ์นิยม จึงบอกได้แค่ว่ายังไม่มีหลักฐานของสิ่งที่เกินกว่า regression to the mean (~0:50)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เทียบทั้งก่อนและหลังแก้: ดีไซน์เดิม โมเดล 0.683 ต่ำกว่าคะแนนอ้างอิง 0.709 หลังหักผลของค่าตั้งต้นทุกตัวพร้อมกันภายในแต่ละ fold โมเดลได้ 0.554 คะแนนอ้างอิง 0.589 ผลต่าง -0.037 ช่วง 95% [-0.111, +0.037] คร่อมศูนย์ จึงพูดได้ว่า "ไม่มีหลักฐานว่าดีกว่า" ไม่ใช่ "แย่กว่า" และที่ n = 71 ยังตัดความเป็นไปได้ที่จะดีขึ้นเล็กน้อยไม่ได้ ดีไซน์ใหม่ใช้เกณฑ์ 6 จาก 11 ตัวชี้วัด 18 ฟีเจอร์ ความชุก 0.521 จึงเทียบผลต่าง ไม่ใช่ระดับ PR-AUC (~0:30)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เพื่อดูว่าปัญหานี้เกิดเมื่อไร เราจำลอง 36,000 ชุดข้อมูล เมื่อไม่มีการตอบสนองที่พยากรณ์ได้ การสลับ label ทั้งชุดปฏิเสธความเป็นอิสระ 26% ที่ n = 50 ไปจนถึง 100% ที่ n = 500 แต่ละครั้งถูกเรื่องความเป็นอิสระ แต่ผิดถ้าอ่านเป็นหลักฐานของการพยากรณ์ ข้อมูลมากขึ้นแค่ประมาณ coupling ได้แม่นขึ้น การหักค่าตั้งต้นทีละสารยังปฏิเสธ 8-29% เพราะสารสัมพันธ์กัน การหักทุกสารพร้อมกันเหลือ 5-8% สูงกว่า 5% เล็กน้อย การแก้ก็ต้องมีการตรวจของมันเอง (~0:45)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เราทำซ้ำกรณีที่ 1 บน MTBLS881 ผู้ป่วยผ่าตัดหัวใจ 47 คน เก็บเลือดสองตำแหน่ง โดยเขียนแผนไว้ก่อนฝึกโมเดล ผลแบบ raw change เหมือนเดิม: การสลับ label ให้ p = 0.007 ทั้งสองตำแหน่ง แต่ไม่มีตำแหน่งไหนชนะคะแนนอ้างอิงที่ไม่ต้องฝึก ช่วงของผลต่างคร่อมศูนย์ทั้งคู่ สองตำแหน่งมาจากผู้ป่วยกลุ่มเดียวกัน จึงไม่ใช่การทำซ้ำสองครั้ง และหลังหักค่าตั้งต้นพร้อมกัน 47 คนไม่พอจะบอกได้ว่ายังมีสัญญาณจริงหรือไม่ (~0:25)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กรณีที่สองคือ ROAR ซึ่งตัดฟีเจอร์ที่ SHAP จัดว่าสำคัญแล้วฝึกโมเดลใหม่ ห้าตัวแรกที่ถูกตัดมี dimethyl sulfone, isopropanol และ methanol ซึ่งยังไม่ทราบแหล่งที่มาแน่ชัด อาจมาจากชีววิทยา การจัดการตัวอย่าง หรือทั้งสองอย่าง ตัดสามตัวนี้เหลือ 0.954 ตัดเมแทบอไลต์ที่รู้จักดีสามตัวเหลือ 0.959 ต่างกัน 0.0056 น้อยกว่าความผันผวนระหว่าง fold (~0.03) และเราไม่ได้ทดสอบความเท่ากันอย่างเป็นทางการ อันดับ SHAP คำนวณจากทั้ง 177 ตัวอย่าง จึงมี selection bias ผลนี้จึงเป็นเชิงสำรวจ (~0:45)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เพื่อยืนยันแนวคิด เราใส่ฟีเจอร์สังเคราะห์ที่ขึ้นกับ label อย่างเดียว ไม่มีชีววิทยาเลย (d คูณ label บวกสัญญาณรบกวน) ที่ d = 1.75 ซึ่งแรงพอ ๆ กับ dimethyl sulfone SHAP จัดให้เป็นอันดับหนึ่งใน 6 จาก 10 ครั้ง และอันดับสองในที่เหลือ การตัดมันออกทำให้คะแนนตก 0.0127 มากกว่าการตัดสารจริงตัวใดก็ตาม (มากสุด 0.0073) ROAR วัดว่าฟีเจอร์พกสัญญาณที่ไม่ซ้ำกับตัวอื่นมากแค่ไหน ไม่ได้วัดว่ามาจากไหน (~0:30)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กรณีที่สามคือข้อมูลปัสสาวะผู้ป่วยเบาหวาน ค่า 0.976 ที่เคยรายงานมาจาก seed เดียว เมื่อรัน 20 seed เฉลี่ย 0.911 metadata ไม่มีคอลัมน์วันที่ batch หรือลำดับการรัน แต่โปรโตคอลที่เผยแพร่บอกว่ามาจากสองการศึกษา ชื่อตัวอย่างกลุ่มควบคุมขึ้นต้นด้วย ADG19007u และของผู้ป่วยขึ้นต้นด้วย ADG10003u ทุกตัว ข้อมูลนี้จึงแยกโรคออกจากโปรโตคอลการเก็บตัวอย่างไม่ได้ อายุและ BMI ก็อาจเป็นตัวแปรกวน (~0:30)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กรณีที่สี่ งานเดิมเรียกว่า "ทำนายโรคอ้วน" ได้ ROC-AUC 0.973 แต่ label จริงคือก่อนผ่าตัดเทียบกับหลังผ่าตัดหนึ่งปี และ 71 จาก 106 คนอยู่ทั้งสองฝั่ง (80% ของตัวอย่าง) เมื่อทำซ้ำ 10 รอบ CV แบ่งตามผู้ป่วยและ CV ธรรมดาได้ 0.965 เท่ากัน ทั้งที่ใน CV ธรรมดา 65% ของตัวอย่างทดสอบมีอีกครั้งของผู้ป่วยคนเดียวกันอยู่ในชุดฝึก ปัญหาจึงอยู่ที่ความหมายของ label โมเดลเรียนรู้ทุกอย่างที่ต่างระหว่างก่อนและหลังผ่าตัด ชื่อที่ถูกคือ "การจำแนกก่อนและหลังผ่าตัด" (~0:30)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ข้อเสนอของเราคือคำถามหกข้อ หนึ่ง ผลลัพธ์คำนวณจากฟีเจอร์ไหม ถ้าใช่ การสลับ label ไม่ใช่หลักฐานของการพยากรณ์ ให้หักด้วยค่าตั้งต้นทุกตัวภายในแต่ละ fold และรายงาน pairing-destroyed null สอง ฝึกโมเดลใหม่ทุกรอบการสลับและระบุวิธีสลับ สาม เทียบกับคะแนนอ้างอิงที่ไม่ต้องฝึก พร้อมช่วงความเชื่อมั่นระดับบุคคล สี่ มีฟีเจอร์ที่อาจมาจากการจัดการตัวอย่างหรือยาไหม ห้า มี metadata หรือโปรโตคอลที่ตรงกับ label ไหม หก เขียนให้ได้ในหนึ่งประโยคว่าสองคลาสต่างกันทางกายภาพอย่างไร ถ้าต่างจากชื่อเรื่อง ให้เปลี่ยนชื่อเรื่อง (~0:35)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ข้อสรุปคือ การตรวจที่ผ่านตอบได้แค่ปัญหาเดียวภายใต้สมมติฐานของมัน ไม่ได้พิสูจน์ว่าการตีความถูก ข้อจำกัด: เราทบทวนงานของเราเองบนข้อมูลสาธารณะขนาดเล็กสามชุด และไม่ได้อ้างว่าปัญหานี้พบบ่อยแค่ไหน ผลเป็นเรื่องวิธีตรวจสอบ ไม่ใช่ชีววิทยาของโรคอ้วน การผ่าตัด หรือเบาหวาน ค่า p ในกรณีที่ 1 มาจากวิธีที่ยังไม่ได้ตรวจการสอบเทียบ และการจำลองใช้ข้อมูลเกาส์เซียน โมเดลเชิงเส้น และกฎผลลัพธ์แบบเดียว โค้ดและตัวเลขทุกค่าขอได้จากผู้วิจัย ขอบคุณครับ/ค่ะ (~0:25)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สำรองสำหรับตอบคำถาม: r = 0.25 ทำซ้ำค่าสหสัมพันธ์ baseline-change -0.62 ที่เห็นใน MTBLS242 ระดับแฝงของสาร 11 ตัวสัมพันธ์กัน 0.3 (ค่าที่วัดได้สัมพันธ์กัน 0.3r) กลุ่มผลลัพธ์ดิบสลับ label ทั้งชุดก่อน CV ส่วนกลุ่มที่หักค่าตั้งต้นสลับ label ของข้อมูลฝึกในแต่ละ fold ทุกการทดสอบฝึกโมเดลใหม่ทุกรอบ (200 รอบ) การจำลองนี้ไม่ได้ยืนยันการสอบเทียบของวิธีราย fold ที่ใช้กับข้อมูลจริง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สำรองสำหรับตอบคำถามเรื่องตัวเลขของกรณีที่ 1: PR-AUC เป็นค่าเฉลี่ยราย fold ส่วนผลต่างคำนวณจากการทำนายที่รวมกันในแต่ละรอบ CV จึงไม่เท่ากับผลต่างของค่าเฉลี่ยพอดี ความชุกต่างกันเพราะดีไซน์ใหม่ใช้เกณฑ์ 6 จาก 11 และตัดสารที่ยังไม่ทราบแหล่งที่มาออก 3 ตัว ช่องที่เป็นขีดคือค่าที่บทความไม่ได้รายงาน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Validated, yet Wrong  |  School of Information Technology, KMITL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image" Target="../media/image-10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image" Target="../media/image-11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image" Target="../media/image-12-3.png"/><Relationship Id="rId5" Type="http://schemas.openxmlformats.org/officeDocument/2006/relationships/image" Target="../media/image-12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13-1.png"/><Relationship Id="rId3" Type="http://schemas.openxmlformats.org/officeDocument/2006/relationships/image" Target="../media/image-13-2.png"/><Relationship Id="rId4" Type="http://schemas.openxmlformats.org/officeDocument/2006/relationships/image" Target="../media/image-13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15-1.png"/><Relationship Id="rId3" Type="http://schemas.openxmlformats.org/officeDocument/2006/relationships/image" Target="../media/image-15-2.png"/><Relationship Id="rId4" Type="http://schemas.openxmlformats.org/officeDocument/2006/relationships/image" Target="../media/image-15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สอบโครงงาน  |  ตุลาคม 2569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ผ่านการตรวจแล้ว แต่ผิด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Validated, yet Wrong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บทเรียนจากการทบทวนการตรวจสอบความถูกต้อง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ของงานเมแทบอโลมิกส์สี่กรณี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คณิณ แคลวิณ ชมวิวัฒน์ (67070015)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ชัยพร ออฤดี (67070217)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อาจารย์ที่ปรึกษา: ผศ.ดร. นนท์ คนึงสุขเกษม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คณะเทคโนโลยีสารสนเทศ สจล.</a:t>
            </a:r>
            <a:endParaRPr lang="en-US" sz="1500" dirty="0"/>
          </a:p>
        </p:txBody>
      </p:sp>
      <p:sp>
        <p:nvSpPr>
          <p:cNvPr id="7" name="Check row"/>
          <p:cNvSpPr/>
          <p:nvPr/>
        </p:nvSpPr>
        <p:spPr>
          <a:xfrm>
            <a:off x="7589520" y="13258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8" name="Check badge"/>
          <p:cNvSpPr/>
          <p:nvPr/>
        </p:nvSpPr>
        <p:spPr>
          <a:xfrm>
            <a:off x="7790688" y="1481328"/>
            <a:ext cx="457200" cy="45720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9" name="Check icon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55448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412480" y="1325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ทดสอบข้ามชุดข้อมูล (cross-validation)</a:t>
            </a:r>
            <a:endParaRPr lang="en-US" sz="1400" dirty="0"/>
          </a:p>
        </p:txBody>
      </p:sp>
      <p:sp>
        <p:nvSpPr>
          <p:cNvPr id="11" name="Check row"/>
          <p:cNvSpPr/>
          <p:nvPr/>
        </p:nvSpPr>
        <p:spPr>
          <a:xfrm>
            <a:off x="7589520" y="22860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Check badge"/>
          <p:cNvSpPr/>
          <p:nvPr/>
        </p:nvSpPr>
        <p:spPr>
          <a:xfrm>
            <a:off x="7790688" y="2441448"/>
            <a:ext cx="457200" cy="45720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3" name="Check icon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51460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41248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 label (permutation test)</a:t>
            </a:r>
            <a:endParaRPr lang="en-US" sz="1400" dirty="0"/>
          </a:p>
        </p:txBody>
      </p:sp>
      <p:sp>
        <p:nvSpPr>
          <p:cNvPr id="15" name="Check row"/>
          <p:cNvSpPr/>
          <p:nvPr/>
        </p:nvSpPr>
        <p:spPr>
          <a:xfrm>
            <a:off x="7589520" y="324612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Check badge"/>
          <p:cNvSpPr/>
          <p:nvPr/>
        </p:nvSpPr>
        <p:spPr>
          <a:xfrm>
            <a:off x="7790688" y="3401568"/>
            <a:ext cx="457200" cy="45720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7" name="Check icon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47472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12480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ตัดฟีเจอร์แล้วฝึกใหม่ (ROAR)</a:t>
            </a:r>
            <a:endParaRPr lang="en-US" sz="1400" dirty="0"/>
          </a:p>
        </p:txBody>
      </p:sp>
      <p:sp>
        <p:nvSpPr>
          <p:cNvPr id="19" name="Verdict row"/>
          <p:cNvSpPr/>
          <p:nvPr/>
        </p:nvSpPr>
        <p:spPr>
          <a:xfrm>
            <a:off x="7589520" y="425196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20" name="Verdict icon" descr="wro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526280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21040" y="4251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ผลลัพธ์: ยังพิสูจน์ไม่ได้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ProjectDiagra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เราทำอะไร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ตรวจว่า ผลโมเดลที่ "ผ่านการตรวจ" เชื่อได้จริงไหม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NMR = nuclear magnetic resonance spectroscopy. งานทั้งสี่เรื่องเป็นงานเก่าของผู้เขียนเอง ใช้ข้อมูลสาธารณะจาก MetaboLights</a:t>
            </a:r>
            <a:endParaRPr lang="en-US" sz="1000" dirty="0"/>
          </a:p>
        </p:txBody>
      </p:sp>
      <p:sp>
        <p:nvSpPr>
          <p:cNvPr id="7" name="Step circle"/>
          <p:cNvSpPr/>
          <p:nvPr/>
        </p:nvSpPr>
        <p:spPr>
          <a:xfrm>
            <a:off x="1120140" y="1965960"/>
            <a:ext cx="1188720" cy="118872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8" name="Step icon" descr="Via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433" y="2251253"/>
            <a:ext cx="618134" cy="61813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เก็บตัวอย่าง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37033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เลือดหรือปัสสาวะของผู้ป่วย</a:t>
            </a:r>
            <a:endParaRPr lang="en-US" sz="1400" dirty="0"/>
          </a:p>
        </p:txBody>
      </p:sp>
      <p:pic>
        <p:nvPicPr>
          <p:cNvPr id="11" name="Arrow" descr="arr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376" y="2395728"/>
            <a:ext cx="329184" cy="329184"/>
          </a:xfrm>
          <a:prstGeom prst="rect">
            <a:avLst/>
          </a:prstGeom>
        </p:spPr>
      </p:pic>
      <p:sp>
        <p:nvSpPr>
          <p:cNvPr id="12" name="Step circle"/>
          <p:cNvSpPr/>
          <p:nvPr/>
        </p:nvSpPr>
        <p:spPr>
          <a:xfrm>
            <a:off x="4037076" y="1965960"/>
            <a:ext cx="1188720" cy="118872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3" name="Step icon" descr="Microscop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369" y="2251253"/>
            <a:ext cx="618134" cy="61813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3465576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วัดด้วยเครื่อง NMR</a:t>
            </a:r>
            <a:endParaRPr lang="en-US" sz="1800" dirty="0"/>
          </a:p>
        </p:txBody>
      </p:sp>
      <p:sp>
        <p:nvSpPr>
          <p:cNvPr id="15" name="Text 8"/>
          <p:cNvSpPr txBox="1"/>
          <p:nvPr/>
        </p:nvSpPr>
        <p:spPr>
          <a:xfrm>
            <a:off x="3465576" y="37033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ได้ปริมาณสารเมแทบอไลต์หลายสิบตัว</a:t>
            </a:r>
            <a:endParaRPr lang="en-US" sz="1400" dirty="0"/>
          </a:p>
        </p:txBody>
      </p:sp>
      <p:pic>
        <p:nvPicPr>
          <p:cNvPr id="16" name="Arrow" descr="arro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2" y="2395728"/>
            <a:ext cx="329184" cy="329184"/>
          </a:xfrm>
          <a:prstGeom prst="rect">
            <a:avLst/>
          </a:prstGeom>
        </p:spPr>
      </p:pic>
      <p:sp>
        <p:nvSpPr>
          <p:cNvPr id="17" name="Step circle"/>
          <p:cNvSpPr/>
          <p:nvPr/>
        </p:nvSpPr>
        <p:spPr>
          <a:xfrm>
            <a:off x="6954012" y="1965960"/>
            <a:ext cx="1188720" cy="118872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8" name="Step icon" descr="Robo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305" y="2251253"/>
            <a:ext cx="618134" cy="618134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6382512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 ML ทำนาย</a:t>
            </a:r>
            <a:endParaRPr lang="en-US" sz="1800" dirty="0"/>
          </a:p>
        </p:txBody>
      </p:sp>
      <p:sp>
        <p:nvSpPr>
          <p:cNvPr id="20" name="Text 11"/>
          <p:cNvSpPr txBox="1"/>
          <p:nvPr/>
        </p:nvSpPr>
        <p:spPr>
          <a:xfrm>
            <a:off x="6382512" y="37033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โรค หรือผลการรักษา</a:t>
            </a:r>
            <a:endParaRPr lang="en-US" sz="1400" dirty="0"/>
          </a:p>
        </p:txBody>
      </p:sp>
      <p:pic>
        <p:nvPicPr>
          <p:cNvPr id="21" name="Arrow" descr="arrow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2248" y="2395728"/>
            <a:ext cx="329184" cy="329184"/>
          </a:xfrm>
          <a:prstGeom prst="rect">
            <a:avLst/>
          </a:prstGeom>
        </p:spPr>
      </p:pic>
      <p:sp>
        <p:nvSpPr>
          <p:cNvPr id="22" name="Step circle"/>
          <p:cNvSpPr/>
          <p:nvPr/>
        </p:nvSpPr>
        <p:spPr>
          <a:xfrm>
            <a:off x="9870948" y="1965960"/>
            <a:ext cx="1188720" cy="118872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23" name="Step icon" descr="ShieldAlt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6241" y="2251253"/>
            <a:ext cx="618134" cy="618134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9299448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ตรวจสอบมาตรฐาน</a:t>
            </a:r>
            <a:endParaRPr lang="en-US" sz="1800" dirty="0"/>
          </a:p>
        </p:txBody>
      </p:sp>
      <p:sp>
        <p:nvSpPr>
          <p:cNvPr id="25" name="Text 14"/>
          <p:cNvSpPr txBox="1"/>
          <p:nvPr/>
        </p:nvSpPr>
        <p:spPr>
          <a:xfrm>
            <a:off x="9299448" y="37033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ผ่านทุกข้อ แล้วรายงานผล</a:t>
            </a:r>
            <a:endParaRPr lang="en-US" sz="1400" dirty="0"/>
          </a:p>
        </p:txBody>
      </p:sp>
      <p:sp>
        <p:nvSpPr>
          <p:cNvPr id="26" name="Question card"/>
          <p:cNvSpPr/>
          <p:nvPr/>
        </p:nvSpPr>
        <p:spPr>
          <a:xfrm>
            <a:off x="548640" y="46177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7" name="Question circle"/>
          <p:cNvSpPr/>
          <p:nvPr/>
        </p:nvSpPr>
        <p:spPr>
          <a:xfrm>
            <a:off x="822960" y="4846320"/>
            <a:ext cx="777240" cy="77724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28" name="Question icon" descr="QuestionCircle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498" y="5032858"/>
            <a:ext cx="404165" cy="404165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1828800" y="4663440"/>
            <a:ext cx="9537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คำถามของเรา: ถ้าผ่านทุกการตรวจแล้ว การตีความนั้นถูกต้องจริงหรือเปล่า? ในทั้งสี่กรณี การตีความทางชีววิทยาไม่มีหลักฐานรองรับ หรือระบุไม่ได้</a:t>
            </a:r>
            <a:endParaRPr lang="en-US" sz="19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Tin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พื้นฐาน  |  metabolite คืออะไร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Metabolite คือสารเล็ก ๆ ในเลือดที่เปลี่ยนไปตามสุขภาพ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ตัวอย่างสารทั้งหมดมาจากตาราง MTBLS242 (21 ตัว). dimethyl sulfone มาจากอาหาร แบคทีเรียในลำไส้ หรือการเผาผลาญเองได้ (Engelke 2005) จึงจัดเป็นสารที่ยังไม่ทราบแหล่งที่มาแน่ชัด อาจมาจากชีววิทยา การจัดการตัวอย่าง หรือทั้งสองอย่าง</a:t>
            </a:r>
            <a:endParaRPr lang="en-US" sz="1000" dirty="0"/>
          </a:p>
        </p:txBody>
      </p:sp>
      <p:sp>
        <p:nvSpPr>
          <p:cNvPr id="7" name="Source circle"/>
          <p:cNvSpPr/>
          <p:nvPr/>
        </p:nvSpPr>
        <p:spPr>
          <a:xfrm>
            <a:off x="548640" y="1874520"/>
            <a:ext cx="640080" cy="64008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8" name="Source icon" descr="AppleAl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2028139"/>
            <a:ext cx="332842" cy="33284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2588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อาหาร</a:t>
            </a:r>
            <a:endParaRPr lang="en-US" sz="1500" dirty="0"/>
          </a:p>
        </p:txBody>
      </p:sp>
      <p:pic>
        <p:nvPicPr>
          <p:cNvPr id="10" name="Arrow" descr="arr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029968"/>
            <a:ext cx="329184" cy="329184"/>
          </a:xfrm>
          <a:prstGeom prst="rect">
            <a:avLst/>
          </a:prstGeom>
        </p:spPr>
      </p:pic>
      <p:sp>
        <p:nvSpPr>
          <p:cNvPr id="11" name="Source circle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2" name="Source icon" descr="Capsule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2896819"/>
            <a:ext cx="332842" cy="332842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325880" y="2743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ยา</a:t>
            </a:r>
            <a:endParaRPr lang="en-US" sz="1500" dirty="0"/>
          </a:p>
        </p:txBody>
      </p:sp>
      <p:pic>
        <p:nvPicPr>
          <p:cNvPr id="14" name="Arrow" descr="arro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2898648"/>
            <a:ext cx="329184" cy="329184"/>
          </a:xfrm>
          <a:prstGeom prst="rect">
            <a:avLst/>
          </a:prstGeom>
        </p:spPr>
      </p:pic>
      <p:sp>
        <p:nvSpPr>
          <p:cNvPr id="15" name="Source circle"/>
          <p:cNvSpPr/>
          <p:nvPr/>
        </p:nvSpPr>
        <p:spPr>
          <a:xfrm>
            <a:off x="548640" y="3611880"/>
            <a:ext cx="640080" cy="64008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6" name="Source icon" descr="Heartbea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59" y="3765499"/>
            <a:ext cx="332842" cy="332842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325880" y="3611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การเผาผลาญในร่างกาย</a:t>
            </a:r>
            <a:endParaRPr lang="en-US" sz="1500" dirty="0"/>
          </a:p>
        </p:txBody>
      </p:sp>
      <p:pic>
        <p:nvPicPr>
          <p:cNvPr id="18" name="Arrow" descr="arrow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200" y="3767328"/>
            <a:ext cx="329184" cy="329184"/>
          </a:xfrm>
          <a:prstGeom prst="rect">
            <a:avLst/>
          </a:prstGeom>
        </p:spPr>
      </p:pic>
      <p:sp>
        <p:nvSpPr>
          <p:cNvPr id="19" name="Source circle"/>
          <p:cNvSpPr/>
          <p:nvPr/>
        </p:nvSpPr>
        <p:spPr>
          <a:xfrm>
            <a:off x="548640" y="4480560"/>
            <a:ext cx="640080" cy="64008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20" name="Source icon" descr="Flask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259" y="4634179"/>
            <a:ext cx="332842" cy="332842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1325880" y="4480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สิ่งปนเข้ามาตอนเก็บตัวอย่าง</a:t>
            </a:r>
            <a:endParaRPr lang="en-US" sz="1500" dirty="0"/>
          </a:p>
        </p:txBody>
      </p:sp>
      <p:pic>
        <p:nvPicPr>
          <p:cNvPr id="22" name="Arrow" descr="arrow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200" y="4636008"/>
            <a:ext cx="329184" cy="329184"/>
          </a:xfrm>
          <a:prstGeom prst="rect">
            <a:avLst/>
          </a:prstGeom>
        </p:spPr>
      </p:pic>
      <p:sp>
        <p:nvSpPr>
          <p:cNvPr id="23" name="Blood circle"/>
          <p:cNvSpPr/>
          <p:nvPr/>
        </p:nvSpPr>
        <p:spPr>
          <a:xfrm>
            <a:off x="4343400" y="2240280"/>
            <a:ext cx="2103120" cy="2103120"/>
          </a:xfrm>
          <a:prstGeom prst="ellipse">
            <a:avLst/>
          </a:prstGeom>
          <a:solidFill>
            <a:srgbClr val="DCE9F9"/>
          </a:solidFill>
          <a:ln w="19050">
            <a:solidFill>
              <a:srgbClr val="2A78D6"/>
            </a:solidFill>
            <a:prstDash val="solid"/>
          </a:ln>
        </p:spPr>
      </p:sp>
      <p:pic>
        <p:nvPicPr>
          <p:cNvPr id="24" name="Blood icon" descr="blood drop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2514600"/>
            <a:ext cx="822960" cy="822960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4343400" y="3429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เลือด / ปัสสาวะ</a:t>
            </a:r>
            <a:endParaRPr lang="en-US" sz="1500" dirty="0"/>
          </a:p>
        </p:txBody>
      </p:sp>
      <p:pic>
        <p:nvPicPr>
          <p:cNvPr id="26" name="Arrow" descr="arrow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9400" y="3108960"/>
            <a:ext cx="365760" cy="365760"/>
          </a:xfrm>
          <a:prstGeom prst="rect">
            <a:avLst/>
          </a:prstGeom>
        </p:spPr>
      </p:pic>
      <p:sp>
        <p:nvSpPr>
          <p:cNvPr id="27" name="Metabolite card"/>
          <p:cNvSpPr/>
          <p:nvPr/>
        </p:nvSpPr>
        <p:spPr>
          <a:xfrm>
            <a:off x="7223760" y="1874520"/>
            <a:ext cx="4389120" cy="3337560"/>
          </a:xfrm>
          <a:prstGeom prst="roundRect">
            <a:avLst>
              <a:gd name="adj" fmla="val 219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8" name="Text 14"/>
          <p:cNvSpPr txBox="1"/>
          <p:nvPr/>
        </p:nvSpPr>
        <p:spPr>
          <a:xfrm>
            <a:off x="745236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สารที่วัดได้ในข้อมูลของเรา (21 ตัว)</a:t>
            </a:r>
            <a:endParaRPr lang="en-US" sz="1400" dirty="0"/>
          </a:p>
        </p:txBody>
      </p:sp>
      <p:sp>
        <p:nvSpPr>
          <p:cNvPr id="29" name="Text 15"/>
          <p:cNvSpPr txBox="1"/>
          <p:nvPr/>
        </p:nvSpPr>
        <p:spPr>
          <a:xfrm>
            <a:off x="7452360" y="2468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สารในร่างกาย</a:t>
            </a:r>
            <a:endParaRPr lang="en-US" sz="1200" dirty="0"/>
          </a:p>
        </p:txBody>
      </p:sp>
      <p:sp>
        <p:nvSpPr>
          <p:cNvPr id="30" name="Chip"/>
          <p:cNvSpPr/>
          <p:nvPr/>
        </p:nvSpPr>
        <p:spPr>
          <a:xfrm>
            <a:off x="7452360" y="278892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sp>
        <p:nvSpPr>
          <p:cNvPr id="31" name="Text 17"/>
          <p:cNvSpPr txBox="1"/>
          <p:nvPr/>
        </p:nvSpPr>
        <p:spPr>
          <a:xfrm>
            <a:off x="7452360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L-valine</a:t>
            </a:r>
            <a:endParaRPr lang="en-US" sz="1200" dirty="0"/>
          </a:p>
        </p:txBody>
      </p:sp>
      <p:sp>
        <p:nvSpPr>
          <p:cNvPr id="32" name="Chip"/>
          <p:cNvSpPr/>
          <p:nvPr/>
        </p:nvSpPr>
        <p:spPr>
          <a:xfrm>
            <a:off x="8567928" y="278892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sp>
        <p:nvSpPr>
          <p:cNvPr id="33" name="Text 19"/>
          <p:cNvSpPr txBox="1"/>
          <p:nvPr/>
        </p:nvSpPr>
        <p:spPr>
          <a:xfrm>
            <a:off x="8567928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glycine</a:t>
            </a:r>
            <a:endParaRPr lang="en-US" sz="1200" dirty="0"/>
          </a:p>
        </p:txBody>
      </p:sp>
      <p:sp>
        <p:nvSpPr>
          <p:cNvPr id="34" name="Chip"/>
          <p:cNvSpPr/>
          <p:nvPr/>
        </p:nvSpPr>
        <p:spPr>
          <a:xfrm>
            <a:off x="9592056" y="27889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sp>
        <p:nvSpPr>
          <p:cNvPr id="35" name="Text 21"/>
          <p:cNvSpPr txBox="1"/>
          <p:nvPr/>
        </p:nvSpPr>
        <p:spPr>
          <a:xfrm>
            <a:off x="9592056" y="2788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lactic acid</a:t>
            </a:r>
            <a:endParaRPr lang="en-US" sz="1200" dirty="0"/>
          </a:p>
        </p:txBody>
      </p:sp>
      <p:sp>
        <p:nvSpPr>
          <p:cNvPr id="36" name="Chip"/>
          <p:cNvSpPr/>
          <p:nvPr/>
        </p:nvSpPr>
        <p:spPr>
          <a:xfrm>
            <a:off x="7452360" y="324612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sp>
        <p:nvSpPr>
          <p:cNvPr id="37" name="Text 23"/>
          <p:cNvSpPr txBox="1"/>
          <p:nvPr/>
        </p:nvSpPr>
        <p:spPr>
          <a:xfrm>
            <a:off x="7452360" y="3246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lipoproteins</a:t>
            </a:r>
            <a:endParaRPr lang="en-US" sz="1200" dirty="0"/>
          </a:p>
        </p:txBody>
      </p:sp>
      <p:sp>
        <p:nvSpPr>
          <p:cNvPr id="38" name="Chip"/>
          <p:cNvSpPr/>
          <p:nvPr/>
        </p:nvSpPr>
        <p:spPr>
          <a:xfrm>
            <a:off x="8842248" y="324612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sp>
        <p:nvSpPr>
          <p:cNvPr id="39" name="Text 25"/>
          <p:cNvSpPr txBox="1"/>
          <p:nvPr/>
        </p:nvSpPr>
        <p:spPr>
          <a:xfrm>
            <a:off x="8842248" y="32461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creatinine</a:t>
            </a:r>
            <a:endParaRPr lang="en-US" sz="1200" dirty="0"/>
          </a:p>
        </p:txBody>
      </p:sp>
      <p:sp>
        <p:nvSpPr>
          <p:cNvPr id="40" name="Chip"/>
          <p:cNvSpPr/>
          <p:nvPr/>
        </p:nvSpPr>
        <p:spPr>
          <a:xfrm>
            <a:off x="10094976" y="32461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sp>
        <p:nvSpPr>
          <p:cNvPr id="41" name="Text 27"/>
          <p:cNvSpPr txBox="1"/>
          <p:nvPr/>
        </p:nvSpPr>
        <p:spPr>
          <a:xfrm>
            <a:off x="10094976" y="32461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citrate</a:t>
            </a:r>
            <a:endParaRPr lang="en-US" sz="1200" dirty="0"/>
          </a:p>
        </p:txBody>
      </p:sp>
      <p:sp>
        <p:nvSpPr>
          <p:cNvPr id="42" name="Text 28"/>
          <p:cNvSpPr txBox="1"/>
          <p:nvPr/>
        </p:nvSpPr>
        <p:spPr>
          <a:xfrm>
            <a:off x="7452360" y="3840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ยังไม่ทราบแหล่งที่มาแน่ชัด (ดูกรณีที่ 2)</a:t>
            </a:r>
            <a:endParaRPr lang="en-US" sz="1200" dirty="0"/>
          </a:p>
        </p:txBody>
      </p:sp>
      <p:sp>
        <p:nvSpPr>
          <p:cNvPr id="43" name="Chip"/>
          <p:cNvSpPr/>
          <p:nvPr/>
        </p:nvSpPr>
        <p:spPr>
          <a:xfrm>
            <a:off x="7452360" y="41605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sp>
        <p:nvSpPr>
          <p:cNvPr id="44" name="Text 30"/>
          <p:cNvSpPr txBox="1"/>
          <p:nvPr/>
        </p:nvSpPr>
        <p:spPr>
          <a:xfrm>
            <a:off x="7452360" y="4160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isopropanol</a:t>
            </a:r>
            <a:endParaRPr lang="en-US" sz="1200" dirty="0"/>
          </a:p>
        </p:txBody>
      </p:sp>
      <p:sp>
        <p:nvSpPr>
          <p:cNvPr id="45" name="Chip"/>
          <p:cNvSpPr/>
          <p:nvPr/>
        </p:nvSpPr>
        <p:spPr>
          <a:xfrm>
            <a:off x="8750808" y="41605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sp>
        <p:nvSpPr>
          <p:cNvPr id="46" name="Text 32"/>
          <p:cNvSpPr txBox="1"/>
          <p:nvPr/>
        </p:nvSpPr>
        <p:spPr>
          <a:xfrm>
            <a:off x="8750808" y="4160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methanol</a:t>
            </a:r>
            <a:endParaRPr lang="en-US" sz="1200" dirty="0"/>
          </a:p>
        </p:txBody>
      </p:sp>
      <p:sp>
        <p:nvSpPr>
          <p:cNvPr id="47" name="Chip"/>
          <p:cNvSpPr/>
          <p:nvPr/>
        </p:nvSpPr>
        <p:spPr>
          <a:xfrm>
            <a:off x="7452360" y="46177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sp>
        <p:nvSpPr>
          <p:cNvPr id="48" name="Text 34"/>
          <p:cNvSpPr txBox="1"/>
          <p:nvPr/>
        </p:nvSpPr>
        <p:spPr>
          <a:xfrm>
            <a:off x="7452360" y="4617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dimethyl sulfone</a:t>
            </a:r>
            <a:endParaRPr lang="en-US" sz="1200" dirty="0"/>
          </a:p>
        </p:txBody>
      </p:sp>
      <p:sp>
        <p:nvSpPr>
          <p:cNvPr id="49" name="Takeaway"/>
          <p:cNvSpPr/>
          <p:nvPr/>
        </p:nvSpPr>
        <p:spPr>
          <a:xfrm>
            <a:off x="548640" y="544068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50" name="Text 36"/>
          <p:cNvSpPr txBox="1"/>
          <p:nvPr/>
        </p:nvSpPr>
        <p:spPr>
          <a:xfrm>
            <a:off x="822960" y="544068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ปริมาณของสารแต่ละตัว = ตัวเลข 1 ค่า ต่อ 1 ตัวอย่าง จึงเอาไปเข้าโมเดลได้</a:t>
            </a:r>
            <a:endParaRPr lang="en-US" sz="15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Tab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พื้นฐาน  |  ข้อมูลหน้าตาเป็นอย่างไร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จากหลอดเลือด เป็นตารางตัวเลขที่โมเดลเห็น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ตารางขวา: ค่าจริงจาก m_MTBLS242_v2_maf.tsv (smallmolecule_abundance, หน่วยตามไฟล์ MetaboLights). ภาพซ้าย: สเปกตรัมสมมติเพื่อประกอบคำอธิบาย</a:t>
            </a:r>
            <a:endParaRPr lang="en-US" sz="1000" dirty="0"/>
          </a:p>
        </p:txBody>
      </p:sp>
      <p:pic>
        <p:nvPicPr>
          <p:cNvPr id="7" name="NMR schematic" descr="Schematic NMR spectrum with labelled pea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20"/>
            <a:ext cx="4480560" cy="23774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4297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ภาพประกอบ (สเปกตรัมสมมติ ไม่ใช่ข้อมูลจริง): ความสูงของยอด = ปริมาณสาร</a:t>
            </a:r>
            <a:endParaRPr lang="en-US" sz="1200" dirty="0"/>
          </a:p>
        </p:txBody>
      </p:sp>
      <p:pic>
        <p:nvPicPr>
          <p:cNvPr id="9" name="Arrow" descr="arr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880360"/>
            <a:ext cx="310896" cy="310896"/>
          </a:xfrm>
          <a:prstGeom prst="rect">
            <a:avLst/>
          </a:prstGeom>
        </p:spPr>
      </p:pic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1874520"/>
          <a:ext cx="608076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761695"/>
                <a:gridCol w="761695"/>
                <a:gridCol w="761695"/>
                <a:gridCol w="761695"/>
                <a:gridCol w="761695"/>
                <a:gridCol w="764438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ตัวอย่าง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L-valine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glycine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lactic acid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lipo-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proteins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iso-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propanol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dimethyl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sulfone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0003 · ก่อนผ่าตัด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316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1699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39591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166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26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0003 · 12 เดือน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335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273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1387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22542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260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0008 · ก่อนผ่าตัด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368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337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1131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28800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0008 · 12 เดือน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228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426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1575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23382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4"/>
          <p:cNvSpPr txBox="1"/>
          <p:nvPr/>
        </p:nvSpPr>
        <p:spPr>
          <a:xfrm>
            <a:off x="5532120" y="4343400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ตัวเลขจริงจาก MTBLS242 (ผู้ป่วย 2 คน คนละ 2 ตัวอย่าง จากทั้งหมด 21 สาร)</a:t>
            </a:r>
            <a:endParaRPr lang="en-US" sz="1200" dirty="0"/>
          </a:p>
        </p:txBody>
      </p:sp>
      <p:sp>
        <p:nvSpPr>
          <p:cNvPr id="12" name="Legend card"/>
          <p:cNvSpPr/>
          <p:nvPr/>
        </p:nvSpPr>
        <p:spPr>
          <a:xfrm>
            <a:off x="548640" y="4983480"/>
            <a:ext cx="3514344" cy="960120"/>
          </a:xfrm>
          <a:prstGeom prst="roundRect">
            <a:avLst>
              <a:gd name="adj" fmla="val 761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3" name="Legend circle"/>
          <p:cNvSpPr/>
          <p:nvPr/>
        </p:nvSpPr>
        <p:spPr>
          <a:xfrm>
            <a:off x="731520" y="5138928"/>
            <a:ext cx="640080" cy="64008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4" name="Legend icon" descr="Via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5292547"/>
            <a:ext cx="332842" cy="332842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508760" y="4983480"/>
            <a:ext cx="2417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แถว = ตัวอย่าง 1 หลอด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106 + 71 ตัวอย่าง</a:t>
            </a:r>
            <a:endParaRPr lang="en-US" sz="1500" dirty="0"/>
          </a:p>
        </p:txBody>
      </p:sp>
      <p:sp>
        <p:nvSpPr>
          <p:cNvPr id="16" name="Legend card"/>
          <p:cNvSpPr/>
          <p:nvPr/>
        </p:nvSpPr>
        <p:spPr>
          <a:xfrm>
            <a:off x="4337304" y="4983480"/>
            <a:ext cx="3514344" cy="960120"/>
          </a:xfrm>
          <a:prstGeom prst="roundRect">
            <a:avLst>
              <a:gd name="adj" fmla="val 761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7" name="Legend circle"/>
          <p:cNvSpPr/>
          <p:nvPr/>
        </p:nvSpPr>
        <p:spPr>
          <a:xfrm>
            <a:off x="4520184" y="5138928"/>
            <a:ext cx="640080" cy="64008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8" name="Legend icon" descr="Flas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803" y="5292547"/>
            <a:ext cx="332842" cy="332842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5297424" y="4983480"/>
            <a:ext cx="2417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คอลัมน์ = สาร 1 ชนิด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ที่ใช้เป็นฟีเจอร์ 21 ตัว</a:t>
            </a:r>
            <a:endParaRPr lang="en-US" sz="1500" dirty="0"/>
          </a:p>
        </p:txBody>
      </p:sp>
      <p:sp>
        <p:nvSpPr>
          <p:cNvPr id="20" name="Legend card"/>
          <p:cNvSpPr/>
          <p:nvPr/>
        </p:nvSpPr>
        <p:spPr>
          <a:xfrm>
            <a:off x="8125968" y="4983480"/>
            <a:ext cx="3514344" cy="960120"/>
          </a:xfrm>
          <a:prstGeom prst="roundRect">
            <a:avLst>
              <a:gd name="adj" fmla="val 761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1" name="Legend circle"/>
          <p:cNvSpPr/>
          <p:nvPr/>
        </p:nvSpPr>
        <p:spPr>
          <a:xfrm>
            <a:off x="8308848" y="5138928"/>
            <a:ext cx="640080" cy="64008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22" name="Legend icon" descr="Tag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2467" y="5292547"/>
            <a:ext cx="332842" cy="332842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9086088" y="4983480"/>
            <a:ext cx="2417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label = ก่อน / หลังผ่าตัด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สิ่งที่โมเดลต้องทำนาย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Databas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ข้อมูลที่ใช้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ข้อมูลสาธารณะสามชุด ขนาดเล็กกว่า 200 คน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MetaboLights: www.ebi.ac.uk/metabolights. ตัวอย่างน้อยเป็นลักษณะทั่วไปของงานเมแทบอโลมิกส์ ทำให้ตัวเลขคลาดเคลื่อนง่าย</a:t>
            </a:r>
            <a:endParaRPr lang="en-US" sz="1000" dirty="0"/>
          </a:p>
        </p:txBody>
      </p:sp>
      <p:sp>
        <p:nvSpPr>
          <p:cNvPr id="7" name="Dataset card"/>
          <p:cNvSpPr/>
          <p:nvPr/>
        </p:nvSpPr>
        <p:spPr>
          <a:xfrm>
            <a:off x="548640" y="1920240"/>
            <a:ext cx="3514344" cy="3931920"/>
          </a:xfrm>
          <a:prstGeom prst="roundRect">
            <a:avLst>
              <a:gd name="adj" fmla="val 20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8" name="Dataset circle"/>
          <p:cNvSpPr/>
          <p:nvPr/>
        </p:nvSpPr>
        <p:spPr>
          <a:xfrm>
            <a:off x="822960" y="2148840"/>
            <a:ext cx="914400" cy="91440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9" name="Dataset icon" descr="We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368296"/>
            <a:ext cx="475488" cy="47548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920240" y="2194560"/>
            <a:ext cx="1959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MTBLS242</a:t>
            </a:r>
            <a:endParaRPr lang="en-US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1920240" y="2606040"/>
            <a:ext cx="1959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ผ่าตัดกระเพาะ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822960" y="333756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ซีรัม วัดด้วย NMR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22960" y="379476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ก่อนผ่าตัด 106 คน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หลังผ่าตัด 12 เดือน 71 คน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22960" y="512064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ใช้ในกรณีที่ 1, 2, 4</a:t>
            </a:r>
            <a:endParaRPr lang="en-US" sz="1400" dirty="0"/>
          </a:p>
        </p:txBody>
      </p:sp>
      <p:sp>
        <p:nvSpPr>
          <p:cNvPr id="15" name="Dataset card"/>
          <p:cNvSpPr/>
          <p:nvPr/>
        </p:nvSpPr>
        <p:spPr>
          <a:xfrm>
            <a:off x="4337304" y="1920240"/>
            <a:ext cx="3514344" cy="3931920"/>
          </a:xfrm>
          <a:prstGeom prst="roundRect">
            <a:avLst>
              <a:gd name="adj" fmla="val 20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Dataset circle"/>
          <p:cNvSpPr/>
          <p:nvPr/>
        </p:nvSpPr>
        <p:spPr>
          <a:xfrm>
            <a:off x="4611624" y="2148840"/>
            <a:ext cx="914400" cy="91440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7" name="Dataset icon" descr="Tin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080" y="236829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708904" y="2194560"/>
            <a:ext cx="1959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MTBLS1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5708904" y="2606040"/>
            <a:ext cx="1959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เบาหวานชนิดที่ 2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4611624" y="333756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ปัสสาวะ วัดด้วย NMR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4611624" y="379476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132 ตัวอย่าง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40 ถึง 42 คน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611624" y="512064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ใช้ในกรณีที่ 3</a:t>
            </a:r>
            <a:endParaRPr lang="en-US" sz="1400" dirty="0"/>
          </a:p>
        </p:txBody>
      </p:sp>
      <p:sp>
        <p:nvSpPr>
          <p:cNvPr id="23" name="Dataset card"/>
          <p:cNvSpPr/>
          <p:nvPr/>
        </p:nvSpPr>
        <p:spPr>
          <a:xfrm>
            <a:off x="8125968" y="1920240"/>
            <a:ext cx="3514344" cy="3931920"/>
          </a:xfrm>
          <a:prstGeom prst="roundRect">
            <a:avLst>
              <a:gd name="adj" fmla="val 20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4" name="Dataset circle"/>
          <p:cNvSpPr/>
          <p:nvPr/>
        </p:nvSpPr>
        <p:spPr>
          <a:xfrm>
            <a:off x="8400288" y="2148840"/>
            <a:ext cx="914400" cy="91440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25" name="Dataset icon" descr="Heartbea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9744" y="2368296"/>
            <a:ext cx="475488" cy="47548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497568" y="2194560"/>
            <a:ext cx="1959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MTBLS881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9497568" y="2606040"/>
            <a:ext cx="1959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ผ่าตัดหัวใจ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8400288" y="333756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ซีรัม วัดด้วย NMR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8400288" y="379476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47 คน เก็บเลือด 2 ตำแหน่ง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ก่อนผ่าตัด 1 ชม. และหลัง 20 ชม.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8400288" y="512064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ทำซ้ำกรณีที่ 1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ExclamationTriang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การตรวจมาตรฐานแต่ละข้อ ถามได้แค่คำถามเดียว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กรอบคิดตามตารางที่ 1 ในบทความ; Ojala และ Garriga (2010), Hooker และคณะ (2019), Kapoor และ Narayanan (2023)</a:t>
            </a:r>
            <a:endParaRPr lang="en-US" sz="1000" dirty="0"/>
          </a:p>
        </p:txBody>
      </p:sp>
      <p:sp>
        <p:nvSpPr>
          <p:cNvPr id="7" name="Column card"/>
          <p:cNvSpPr/>
          <p:nvPr/>
        </p:nvSpPr>
        <p:spPr>
          <a:xfrm>
            <a:off x="548640" y="1920240"/>
            <a:ext cx="3514344" cy="3931920"/>
          </a:xfrm>
          <a:prstGeom prst="roundRect">
            <a:avLst>
              <a:gd name="adj" fmla="val 20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8" name="Check circle"/>
          <p:cNvSpPr/>
          <p:nvPr/>
        </p:nvSpPr>
        <p:spPr>
          <a:xfrm>
            <a:off x="822960" y="2103120"/>
            <a:ext cx="777240" cy="77724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9" name="Check icon" descr="LayerGroup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8" y="2289658"/>
            <a:ext cx="404165" cy="40416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737360" y="2103120"/>
            <a:ext cx="2142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ทดสอบข้ามชุดข้อมูล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(cross-validation)</a:t>
            </a:r>
            <a:endParaRPr lang="en-US" sz="1600" dirty="0"/>
          </a:p>
        </p:txBody>
      </p:sp>
      <p:pic>
        <p:nvPicPr>
          <p:cNvPr id="11" name="Answers icon" descr="answ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0040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61872" y="3108960"/>
            <a:ext cx="2599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ตอบได้: โมเดลทำนายบุคคลใหม่ที่เก็บตัวอย่างแบบเดียวกันได้ดีแค่ไหน</a:t>
            </a:r>
            <a:endParaRPr lang="en-US" sz="1500" dirty="0"/>
          </a:p>
        </p:txBody>
      </p:sp>
      <p:pic>
        <p:nvPicPr>
          <p:cNvPr id="13" name="Never icon" descr="never ask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34840"/>
            <a:ext cx="292608" cy="29260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261872" y="4343400"/>
            <a:ext cx="2599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ไม่เคยถาม: แต่ละคลาสเก็บด้วยโปรโตคอลของตัวเองไหม label หมายถึงสิ่งที่ชื่อบอกไหม</a:t>
            </a:r>
            <a:endParaRPr lang="en-US" sz="1500" dirty="0"/>
          </a:p>
        </p:txBody>
      </p:sp>
      <p:sp>
        <p:nvSpPr>
          <p:cNvPr id="15" name="Column card"/>
          <p:cNvSpPr/>
          <p:nvPr/>
        </p:nvSpPr>
        <p:spPr>
          <a:xfrm>
            <a:off x="4337304" y="1920240"/>
            <a:ext cx="3514344" cy="3931920"/>
          </a:xfrm>
          <a:prstGeom prst="roundRect">
            <a:avLst>
              <a:gd name="adj" fmla="val 20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Check circle"/>
          <p:cNvSpPr/>
          <p:nvPr/>
        </p:nvSpPr>
        <p:spPr>
          <a:xfrm>
            <a:off x="4611624" y="2103120"/>
            <a:ext cx="777240" cy="77724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7" name="Check icon" descr="Random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8162" y="2289658"/>
            <a:ext cx="404165" cy="40416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5526024" y="2103120"/>
            <a:ext cx="2142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 label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(permutation test)</a:t>
            </a:r>
            <a:endParaRPr lang="en-US" sz="1600" dirty="0"/>
          </a:p>
        </p:txBody>
      </p:sp>
      <p:pic>
        <p:nvPicPr>
          <p:cNvPr id="19" name="Answers icon" descr="answe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1624" y="3200400"/>
            <a:ext cx="292608" cy="292608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5050536" y="3108960"/>
            <a:ext cx="2599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ตอบได้: ฟีเจอร์กับ label เป็นอิสระต่อกันไหม</a:t>
            </a:r>
            <a:endParaRPr lang="en-US" sz="1500" dirty="0"/>
          </a:p>
        </p:txBody>
      </p:sp>
      <p:pic>
        <p:nvPicPr>
          <p:cNvPr id="21" name="Never icon" descr="never ask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1624" y="4434840"/>
            <a:ext cx="292608" cy="292608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5050536" y="4343400"/>
            <a:ext cx="2599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ไม่เคยถาม: โมเดลพยากรณ์การตอบสนองจริง หรือ label สร้างจากฟีเจอร์เอง</a:t>
            </a:r>
            <a:endParaRPr lang="en-US" sz="1500" dirty="0"/>
          </a:p>
        </p:txBody>
      </p:sp>
      <p:sp>
        <p:nvSpPr>
          <p:cNvPr id="23" name="Column card"/>
          <p:cNvSpPr/>
          <p:nvPr/>
        </p:nvSpPr>
        <p:spPr>
          <a:xfrm>
            <a:off x="8125968" y="1920240"/>
            <a:ext cx="3514344" cy="3931920"/>
          </a:xfrm>
          <a:prstGeom prst="roundRect">
            <a:avLst>
              <a:gd name="adj" fmla="val 20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4" name="Check circle"/>
          <p:cNvSpPr/>
          <p:nvPr/>
        </p:nvSpPr>
        <p:spPr>
          <a:xfrm>
            <a:off x="8400288" y="2103120"/>
            <a:ext cx="777240" cy="77724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25" name="Check icon" descr="Cut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826" y="2289658"/>
            <a:ext cx="404165" cy="404165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9314688" y="2103120"/>
            <a:ext cx="2142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ตัดฟีเจอร์แล้วฝึกใหม่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(ROAR)</a:t>
            </a:r>
            <a:endParaRPr lang="en-US" sz="1600" dirty="0"/>
          </a:p>
        </p:txBody>
      </p:sp>
      <p:pic>
        <p:nvPicPr>
          <p:cNvPr id="27" name="Answers icon" descr="answer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0288" y="3200400"/>
            <a:ext cx="292608" cy="292608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8839200" y="3108960"/>
            <a:ext cx="2599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ตอบได้: โมเดลพึ่งฟีเจอร์อันดับต้นไหม</a:t>
            </a:r>
            <a:endParaRPr lang="en-US" sz="1500" dirty="0"/>
          </a:p>
        </p:txBody>
      </p:sp>
      <p:pic>
        <p:nvPicPr>
          <p:cNvPr id="29" name="Never icon" descr="never ask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0288" y="4434840"/>
            <a:ext cx="292608" cy="292608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8839200" y="4343400"/>
            <a:ext cx="2599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ไม่เคยถาม: ฟีเจอร์นั้นมาจากชีววิทยา การจัดการตัวอย่าง หรือทั้งสองอย่าง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Search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สี่ปัญหาที่การตรวจมาตรฐานมองไม่เห็น และวิธีจับ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 2 ในบทความ. กรณีที่ 1, 2, 4: MTBLS242. กรณีที่ 3: MTBLS1. ทำซ้ำกรณีที่ 1 บน MTBLS881</a:t>
            </a:r>
            <a:endParaRPr lang="en-US" sz="1000" dirty="0"/>
          </a:p>
        </p:txBody>
      </p:sp>
      <p:pic>
        <p:nvPicPr>
          <p:cNvPr id="7" name="Column icon" descr="ปัญหาที่ซ่อนอยู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274320" cy="2743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32688" y="18013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ปัญหาที่ซ่อนอยู่</a:t>
            </a:r>
            <a:endParaRPr lang="en-US" sz="1400" dirty="0"/>
          </a:p>
        </p:txBody>
      </p:sp>
      <p:pic>
        <p:nvPicPr>
          <p:cNvPr id="9" name="Column icon" descr="ตรวจมาตรฐานแล้ว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82880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007608" y="180136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ตรวจมาตรฐานแล้ว</a:t>
            </a:r>
            <a:endParaRPr lang="en-US" sz="1400" dirty="0"/>
          </a:p>
        </p:txBody>
      </p:sp>
      <p:pic>
        <p:nvPicPr>
          <p:cNvPr id="11" name="Column icon" descr="จับได้ด้วย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82880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9390888" y="180136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จับได้ด้วย</a:t>
            </a:r>
            <a:endParaRPr lang="en-US" sz="1400" dirty="0"/>
          </a:p>
        </p:txBody>
      </p:sp>
      <p:sp>
        <p:nvSpPr>
          <p:cNvPr id="13" name="Row band"/>
          <p:cNvSpPr/>
          <p:nvPr/>
        </p:nvSpPr>
        <p:spPr>
          <a:xfrm>
            <a:off x="548640" y="22402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Problem circle"/>
          <p:cNvSpPr/>
          <p:nvPr/>
        </p:nvSpPr>
        <p:spPr>
          <a:xfrm>
            <a:off x="685800" y="2350008"/>
            <a:ext cx="603504" cy="603504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15" name="Problem icon" descr="SyncAl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41" y="2494849"/>
            <a:ext cx="313822" cy="313822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463040" y="2240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 ผลลัพธ์ถูกสร้างจากฟีเจอร์เอง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label คำนวณจากค่าที่ใช้เป็นฟีเจอร์</a:t>
            </a:r>
            <a:endParaRPr lang="en-US" sz="1600" dirty="0"/>
          </a:p>
        </p:txBody>
      </p:sp>
      <p:pic>
        <p:nvPicPr>
          <p:cNvPr id="17" name="Arrow" descr="arrow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368" y="2496312"/>
            <a:ext cx="310896" cy="310896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5623560" y="2240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 label ได้ p = 0.001</a:t>
            </a:r>
            <a:endParaRPr lang="en-US" sz="1400" dirty="0"/>
          </a:p>
        </p:txBody>
      </p:sp>
      <p:pic>
        <p:nvPicPr>
          <p:cNvPr id="19" name="Arrow" descr="arrow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080" y="2496312"/>
            <a:ext cx="310896" cy="310896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9006840" y="224028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คะแนนอ้างอิง + สลับคู่ตัวอย่าง</a:t>
            </a:r>
            <a:endParaRPr lang="en-US" sz="1400" dirty="0"/>
          </a:p>
        </p:txBody>
      </p:sp>
      <p:sp>
        <p:nvSpPr>
          <p:cNvPr id="21" name="Row band"/>
          <p:cNvSpPr/>
          <p:nvPr/>
        </p:nvSpPr>
        <p:spPr>
          <a:xfrm>
            <a:off x="548640" y="3182112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2" name="Problem circle"/>
          <p:cNvSpPr/>
          <p:nvPr/>
        </p:nvSpPr>
        <p:spPr>
          <a:xfrm>
            <a:off x="685800" y="3291840"/>
            <a:ext cx="603504" cy="603504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23" name="Problem icon" descr="Flask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641" y="3436681"/>
            <a:ext cx="313822" cy="313822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1463040" y="318211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 สารที่ยังไม่ทราบแหล่งที่มา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ROAR จัดให้สำคัญพอ ๆ กับสารจริง</a:t>
            </a:r>
            <a:endParaRPr lang="en-US" sz="1600" dirty="0"/>
          </a:p>
        </p:txBody>
      </p:sp>
      <p:pic>
        <p:nvPicPr>
          <p:cNvPr id="25" name="Arrow" descr="arrow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0368" y="3438144"/>
            <a:ext cx="310896" cy="310896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5623560" y="318211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ROAR (เชิงสำรวจ) บอกว่าสำคัญ</a:t>
            </a:r>
            <a:endParaRPr lang="en-US" sz="1400" dirty="0"/>
          </a:p>
        </p:txBody>
      </p:sp>
      <p:pic>
        <p:nvPicPr>
          <p:cNvPr id="27" name="Arrow" descr="arrow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41080" y="3438144"/>
            <a:ext cx="310896" cy="310896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9006840" y="3182112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ฟีเจอร์สังเคราะห์ที่ไม่มีชีววิทยา</a:t>
            </a:r>
            <a:endParaRPr lang="en-US" sz="1400" dirty="0"/>
          </a:p>
        </p:txBody>
      </p:sp>
      <p:sp>
        <p:nvSpPr>
          <p:cNvPr id="29" name="Row band"/>
          <p:cNvSpPr/>
          <p:nvPr/>
        </p:nvSpPr>
        <p:spPr>
          <a:xfrm>
            <a:off x="548640" y="4123944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0" name="Problem circle"/>
          <p:cNvSpPr/>
          <p:nvPr/>
        </p:nvSpPr>
        <p:spPr>
          <a:xfrm>
            <a:off x="685800" y="4233672"/>
            <a:ext cx="603504" cy="603504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31" name="Problem icon" descr="Barcode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41" y="4378513"/>
            <a:ext cx="313822" cy="313822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1463040" y="412394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 โปรโตคอลตรงกับ label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แต่ละคลาสเก็บด้วยโปรโตคอลของตัวเอง</a:t>
            </a:r>
            <a:endParaRPr lang="en-US" sz="1600" dirty="0"/>
          </a:p>
        </p:txBody>
      </p:sp>
      <p:pic>
        <p:nvPicPr>
          <p:cNvPr id="33" name="Arrow" descr="arrow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30368" y="4379976"/>
            <a:ext cx="310896" cy="310896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5623560" y="4123944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CV แบ่งตามผู้ป่วยแล้ว</a:t>
            </a:r>
            <a:endParaRPr lang="en-US" sz="1400" dirty="0"/>
          </a:p>
        </p:txBody>
      </p:sp>
      <p:pic>
        <p:nvPicPr>
          <p:cNvPr id="35" name="Arrow" descr="arrow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41080" y="4379976"/>
            <a:ext cx="310896" cy="310896"/>
          </a:xfrm>
          <a:prstGeom prst="rect">
            <a:avLst/>
          </a:prstGeom>
        </p:spPr>
      </p:pic>
      <p:sp>
        <p:nvSpPr>
          <p:cNvPr id="36" name="Text 20"/>
          <p:cNvSpPr txBox="1"/>
          <p:nvPr/>
        </p:nvSpPr>
        <p:spPr>
          <a:xfrm>
            <a:off x="9006840" y="4123944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 metadata และโปรโตคอล</a:t>
            </a:r>
            <a:endParaRPr lang="en-US" sz="1400" dirty="0"/>
          </a:p>
        </p:txBody>
      </p:sp>
      <p:sp>
        <p:nvSpPr>
          <p:cNvPr id="37" name="Row band"/>
          <p:cNvSpPr/>
          <p:nvPr/>
        </p:nvSpPr>
        <p:spPr>
          <a:xfrm>
            <a:off x="548640" y="5065776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8" name="Problem circle"/>
          <p:cNvSpPr/>
          <p:nvPr/>
        </p:nvSpPr>
        <p:spPr>
          <a:xfrm>
            <a:off x="685800" y="5175504"/>
            <a:ext cx="603504" cy="603504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39" name="Problem icon" descr="Tags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41" y="5320345"/>
            <a:ext cx="313822" cy="313822"/>
          </a:xfrm>
          <a:prstGeom prst="rect">
            <a:avLst/>
          </a:prstGeom>
        </p:spPr>
      </p:pic>
      <p:sp>
        <p:nvSpPr>
          <p:cNvPr id="40" name="Text 23"/>
          <p:cNvSpPr txBox="1"/>
          <p:nvPr/>
        </p:nvSpPr>
        <p:spPr>
          <a:xfrm>
            <a:off x="1463040" y="506577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 ชื่อ label ไม่ตรงความหมาย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"โรคอ้วน" คือ ก่อน/หลังผ่าตัด</a:t>
            </a:r>
            <a:endParaRPr lang="en-US" sz="1600" dirty="0"/>
          </a:p>
        </p:txBody>
      </p:sp>
      <p:pic>
        <p:nvPicPr>
          <p:cNvPr id="41" name="Arrow" descr="arrow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30368" y="5321808"/>
            <a:ext cx="310896" cy="310896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5623560" y="5065776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CV แบ่งตามผู้ป่วยแล้ว</a:t>
            </a:r>
            <a:endParaRPr lang="en-US" sz="1400" dirty="0"/>
          </a:p>
        </p:txBody>
      </p:sp>
      <p:pic>
        <p:nvPicPr>
          <p:cNvPr id="43" name="Arrow" descr="arrow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41080" y="5321808"/>
            <a:ext cx="310896" cy="310896"/>
          </a:xfrm>
          <a:prstGeom prst="rect">
            <a:avLst/>
          </a:prstGeom>
        </p:spPr>
      </p:pic>
      <p:sp>
        <p:nvSpPr>
          <p:cNvPr id="44" name="Text 25"/>
          <p:cNvSpPr txBox="1"/>
          <p:nvPr/>
        </p:nvSpPr>
        <p:spPr>
          <a:xfrm>
            <a:off x="9006840" y="5065776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 label ใน 1 ประโยค</a:t>
            </a:r>
            <a:endParaRPr lang="en-US" sz="14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Sync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พื้นฐาน  |  regression to the mean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ทำไมค่าตั้งต้น "ทำนาย" การเปลี่ยนแปลงได้เอง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ภาพประกอบด้วยข้อมูลสมมติ ไม่ใช่ข้อมูลจริง. อ้างอิง: Barnett, van der Pols, Dobson (2005) Int J Epidemiol 34:215-220</a:t>
            </a:r>
            <a:endParaRPr lang="en-US" sz="1000" dirty="0"/>
          </a:p>
        </p:txBody>
      </p:sp>
      <p:grpSp>
        <p:nvGrpSpPr>
          <p:cNvPr id="1068" name="Chart 0 (drawn)"/>
          <p:cNvGrpSpPr/>
          <p:nvPr/>
        </p:nvGrpSpPr>
        <p:grpSpPr>
          <a:xfrm>
            <a:off x="548640" y="1874520"/>
            <a:ext cx="5852160" cy="3840480"/>
            <a:chOff x="548640" y="1874520"/>
            <a:chExt cx="5852160" cy="3840480"/>
          </a:xfrm>
        </p:grpSpPr>
        <p:sp>
          <p:nvSpPr>
            <p:cNvPr id="1026" name="Tick label"/>
            <p:cNvSpPr txBox="1"/>
            <p:nvPr/>
          </p:nvSpPr>
          <p:spPr>
            <a:xfrm>
              <a:off x="548640" y="4805934"/>
              <a:ext cx="192024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</a:t>
              </a:r>
            </a:p>
          </p:txBody>
        </p:sp>
        <p:cxnSp>
          <p:nvCxnSpPr>
            <p:cNvPr id="1027" name="Gridline"/>
            <p:cNvCxnSpPr/>
            <p:nvPr/>
          </p:nvCxnSpPr>
          <p:spPr>
            <a:xfrm>
              <a:off x="813816" y="4347159"/>
              <a:ext cx="5541264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28" name="Tick label"/>
            <p:cNvSpPr txBox="1"/>
            <p:nvPr/>
          </p:nvSpPr>
          <p:spPr>
            <a:xfrm>
              <a:off x="548640" y="4256354"/>
              <a:ext cx="192024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2</a:t>
              </a:r>
            </a:p>
          </p:txBody>
        </p:sp>
        <p:cxnSp>
          <p:nvCxnSpPr>
            <p:cNvPr id="1029" name="Gridline"/>
            <p:cNvCxnSpPr/>
            <p:nvPr/>
          </p:nvCxnSpPr>
          <p:spPr>
            <a:xfrm>
              <a:off x="813816" y="3797579"/>
              <a:ext cx="5541264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0" name="Tick label"/>
            <p:cNvSpPr txBox="1"/>
            <p:nvPr/>
          </p:nvSpPr>
          <p:spPr>
            <a:xfrm>
              <a:off x="548640" y="3706774"/>
              <a:ext cx="192024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4</a:t>
              </a:r>
            </a:p>
          </p:txBody>
        </p:sp>
        <p:cxnSp>
          <p:nvCxnSpPr>
            <p:cNvPr id="1031" name="Gridline"/>
            <p:cNvCxnSpPr/>
            <p:nvPr/>
          </p:nvCxnSpPr>
          <p:spPr>
            <a:xfrm>
              <a:off x="813816" y="3248000"/>
              <a:ext cx="5541264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2" name="Tick label"/>
            <p:cNvSpPr txBox="1"/>
            <p:nvPr/>
          </p:nvSpPr>
          <p:spPr>
            <a:xfrm>
              <a:off x="548640" y="3157195"/>
              <a:ext cx="192024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6</a:t>
              </a:r>
            </a:p>
          </p:txBody>
        </p:sp>
        <p:cxnSp>
          <p:nvCxnSpPr>
            <p:cNvPr id="1033" name="Gridline"/>
            <p:cNvCxnSpPr/>
            <p:nvPr/>
          </p:nvCxnSpPr>
          <p:spPr>
            <a:xfrm>
              <a:off x="813816" y="2698420"/>
              <a:ext cx="5541264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4" name="Tick label"/>
            <p:cNvSpPr txBox="1"/>
            <p:nvPr/>
          </p:nvSpPr>
          <p:spPr>
            <a:xfrm>
              <a:off x="548640" y="2607615"/>
              <a:ext cx="192024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8</a:t>
              </a:r>
            </a:p>
          </p:txBody>
        </p:sp>
        <p:cxnSp>
          <p:nvCxnSpPr>
            <p:cNvPr id="1035" name="Gridline"/>
            <p:cNvCxnSpPr/>
            <p:nvPr/>
          </p:nvCxnSpPr>
          <p:spPr>
            <a:xfrm>
              <a:off x="813816" y="2148840"/>
              <a:ext cx="5541264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6" name="Tick label"/>
            <p:cNvSpPr txBox="1"/>
            <p:nvPr/>
          </p:nvSpPr>
          <p:spPr>
            <a:xfrm>
              <a:off x="548640" y="2058035"/>
              <a:ext cx="192024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10</a:t>
              </a:r>
            </a:p>
          </p:txBody>
        </p:sp>
        <p:sp>
          <p:nvSpPr>
            <p:cNvPr id="1037" name="Bar"/>
            <p:cNvSpPr/>
            <p:nvPr/>
          </p:nvSpPr>
          <p:spPr>
            <a:xfrm>
              <a:off x="958741" y="2423630"/>
              <a:ext cx="392151" cy="2473109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38" name="Value label"/>
            <p:cNvSpPr txBox="1"/>
            <p:nvPr/>
          </p:nvSpPr>
          <p:spPr>
            <a:xfrm>
              <a:off x="684421" y="2172424"/>
              <a:ext cx="940791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9.0</a:t>
              </a:r>
            </a:p>
          </p:txBody>
        </p:sp>
        <p:sp>
          <p:nvSpPr>
            <p:cNvPr id="1039" name="Bar"/>
            <p:cNvSpPr/>
            <p:nvPr/>
          </p:nvSpPr>
          <p:spPr>
            <a:xfrm>
              <a:off x="1384992" y="3110605"/>
              <a:ext cx="392151" cy="1786134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40" name="Value label"/>
            <p:cNvSpPr txBox="1"/>
            <p:nvPr/>
          </p:nvSpPr>
          <p:spPr>
            <a:xfrm>
              <a:off x="1110672" y="2859399"/>
              <a:ext cx="940791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6.5</a:t>
              </a:r>
            </a:p>
          </p:txBody>
        </p:sp>
        <p:sp>
          <p:nvSpPr>
            <p:cNvPr id="1041" name="Bar"/>
            <p:cNvSpPr/>
            <p:nvPr/>
          </p:nvSpPr>
          <p:spPr>
            <a:xfrm>
              <a:off x="2066994" y="3248000"/>
              <a:ext cx="392151" cy="1648739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42" name="Value label"/>
            <p:cNvSpPr txBox="1"/>
            <p:nvPr/>
          </p:nvSpPr>
          <p:spPr>
            <a:xfrm>
              <a:off x="1792674" y="2996794"/>
              <a:ext cx="940791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6.0</a:t>
              </a:r>
            </a:p>
          </p:txBody>
        </p:sp>
        <p:sp>
          <p:nvSpPr>
            <p:cNvPr id="1043" name="Bar"/>
            <p:cNvSpPr/>
            <p:nvPr/>
          </p:nvSpPr>
          <p:spPr>
            <a:xfrm>
              <a:off x="2493245" y="3385395"/>
              <a:ext cx="392151" cy="1511344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44" name="Value label"/>
            <p:cNvSpPr txBox="1"/>
            <p:nvPr/>
          </p:nvSpPr>
          <p:spPr>
            <a:xfrm>
              <a:off x="2218925" y="3134189"/>
              <a:ext cx="940791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5.5</a:t>
              </a:r>
            </a:p>
          </p:txBody>
        </p:sp>
        <p:sp>
          <p:nvSpPr>
            <p:cNvPr id="1045" name="Bar"/>
            <p:cNvSpPr/>
            <p:nvPr/>
          </p:nvSpPr>
          <p:spPr>
            <a:xfrm>
              <a:off x="3175247" y="3522790"/>
              <a:ext cx="392151" cy="1373950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46" name="Value label"/>
            <p:cNvSpPr txBox="1"/>
            <p:nvPr/>
          </p:nvSpPr>
          <p:spPr>
            <a:xfrm>
              <a:off x="2900927" y="3271584"/>
              <a:ext cx="940791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5.0</a:t>
              </a:r>
            </a:p>
          </p:txBody>
        </p:sp>
        <p:sp>
          <p:nvSpPr>
            <p:cNvPr id="1047" name="Bar"/>
            <p:cNvSpPr/>
            <p:nvPr/>
          </p:nvSpPr>
          <p:spPr>
            <a:xfrm>
              <a:off x="3601498" y="3522790"/>
              <a:ext cx="392151" cy="1373950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48" name="Value label"/>
            <p:cNvSpPr txBox="1"/>
            <p:nvPr/>
          </p:nvSpPr>
          <p:spPr>
            <a:xfrm>
              <a:off x="3327178" y="3271584"/>
              <a:ext cx="940791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5.0</a:t>
              </a:r>
            </a:p>
          </p:txBody>
        </p:sp>
        <p:sp>
          <p:nvSpPr>
            <p:cNvPr id="1049" name="Bar"/>
            <p:cNvSpPr/>
            <p:nvPr/>
          </p:nvSpPr>
          <p:spPr>
            <a:xfrm>
              <a:off x="4283500" y="3797579"/>
              <a:ext cx="392151" cy="1099160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50" name="Value label"/>
            <p:cNvSpPr txBox="1"/>
            <p:nvPr/>
          </p:nvSpPr>
          <p:spPr>
            <a:xfrm>
              <a:off x="4009180" y="3546373"/>
              <a:ext cx="940791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4.0</a:t>
              </a:r>
            </a:p>
          </p:txBody>
        </p:sp>
        <p:sp>
          <p:nvSpPr>
            <p:cNvPr id="1051" name="Bar"/>
            <p:cNvSpPr/>
            <p:nvPr/>
          </p:nvSpPr>
          <p:spPr>
            <a:xfrm>
              <a:off x="4709751" y="3660184"/>
              <a:ext cx="392151" cy="1236555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52" name="Value label"/>
            <p:cNvSpPr txBox="1"/>
            <p:nvPr/>
          </p:nvSpPr>
          <p:spPr>
            <a:xfrm>
              <a:off x="4435431" y="3408978"/>
              <a:ext cx="940791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4.5</a:t>
              </a:r>
            </a:p>
          </p:txBody>
        </p:sp>
        <p:sp>
          <p:nvSpPr>
            <p:cNvPr id="1053" name="Bar"/>
            <p:cNvSpPr/>
            <p:nvPr/>
          </p:nvSpPr>
          <p:spPr>
            <a:xfrm>
              <a:off x="5391753" y="4621949"/>
              <a:ext cx="392151" cy="274790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54" name="Value label"/>
            <p:cNvSpPr txBox="1"/>
            <p:nvPr/>
          </p:nvSpPr>
          <p:spPr>
            <a:xfrm>
              <a:off x="5117433" y="4370743"/>
              <a:ext cx="940791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1.0</a:t>
              </a:r>
            </a:p>
          </p:txBody>
        </p:sp>
        <p:sp>
          <p:nvSpPr>
            <p:cNvPr id="1055" name="Bar"/>
            <p:cNvSpPr/>
            <p:nvPr/>
          </p:nvSpPr>
          <p:spPr>
            <a:xfrm>
              <a:off x="5818004" y="3934974"/>
              <a:ext cx="392151" cy="961765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56" name="Value label"/>
            <p:cNvSpPr txBox="1"/>
            <p:nvPr/>
          </p:nvSpPr>
          <p:spPr>
            <a:xfrm>
              <a:off x="5543684" y="3683768"/>
              <a:ext cx="940791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3.5</a:t>
              </a:r>
            </a:p>
          </p:txBody>
        </p:sp>
        <p:cxnSp>
          <p:nvCxnSpPr>
            <p:cNvPr id="1057" name="Axis"/>
            <p:cNvCxnSpPr/>
            <p:nvPr/>
          </p:nvCxnSpPr>
          <p:spPr>
            <a:xfrm>
              <a:off x="813816" y="4896739"/>
              <a:ext cx="5541264" cy="0"/>
            </a:xfrm>
            <a:prstGeom prst="line">
              <a:avLst/>
            </a:prstGeom>
            <a:ln w="12700">
              <a:solidFill>
                <a:srgbClr val="888888"/>
              </a:solidFill>
            </a:ln>
          </p:spPr>
        </p:cxnSp>
        <p:sp>
          <p:nvSpPr>
            <p:cNvPr id="1058" name="Category label"/>
            <p:cNvSpPr txBox="1"/>
            <p:nvPr/>
          </p:nvSpPr>
          <p:spPr>
            <a:xfrm>
              <a:off x="813816" y="4969891"/>
              <a:ext cx="1108253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A</a:t>
              </a:r>
            </a:p>
          </p:txBody>
        </p:sp>
        <p:sp>
          <p:nvSpPr>
            <p:cNvPr id="1059" name="Category label"/>
            <p:cNvSpPr txBox="1"/>
            <p:nvPr/>
          </p:nvSpPr>
          <p:spPr>
            <a:xfrm>
              <a:off x="1922069" y="4969891"/>
              <a:ext cx="1108253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B</a:t>
              </a:r>
            </a:p>
          </p:txBody>
        </p:sp>
        <p:sp>
          <p:nvSpPr>
            <p:cNvPr id="1060" name="Category label"/>
            <p:cNvSpPr txBox="1"/>
            <p:nvPr/>
          </p:nvSpPr>
          <p:spPr>
            <a:xfrm>
              <a:off x="3030322" y="4969891"/>
              <a:ext cx="1108253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C</a:t>
              </a:r>
            </a:p>
          </p:txBody>
        </p:sp>
        <p:sp>
          <p:nvSpPr>
            <p:cNvPr id="1061" name="Category label"/>
            <p:cNvSpPr txBox="1"/>
            <p:nvPr/>
          </p:nvSpPr>
          <p:spPr>
            <a:xfrm>
              <a:off x="4138574" y="4969891"/>
              <a:ext cx="1108253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D</a:t>
              </a:r>
            </a:p>
          </p:txBody>
        </p:sp>
        <p:sp>
          <p:nvSpPr>
            <p:cNvPr id="1062" name="Category label"/>
            <p:cNvSpPr txBox="1"/>
            <p:nvPr/>
          </p:nvSpPr>
          <p:spPr>
            <a:xfrm>
              <a:off x="5246827" y="4969891"/>
              <a:ext cx="1108253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E</a:t>
              </a:r>
            </a:p>
          </p:txBody>
        </p:sp>
        <p:sp>
          <p:nvSpPr>
            <p:cNvPr id="1063" name="Axis title"/>
            <p:cNvSpPr txBox="1"/>
            <p:nvPr/>
          </p:nvSpPr>
          <p:spPr>
            <a:xfrm>
              <a:off x="548640" y="5222875"/>
              <a:ext cx="5852160" cy="19812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ผู้ป่วย 5 คน (ข้อมูลสมมติ)</a:t>
              </a:r>
            </a:p>
          </p:txBody>
        </p:sp>
        <p:sp>
          <p:nvSpPr>
            <p:cNvPr id="1064" name="Legend key"/>
            <p:cNvSpPr/>
            <p:nvPr/>
          </p:nvSpPr>
          <p:spPr>
            <a:xfrm>
              <a:off x="1865376" y="5549710"/>
              <a:ext cx="128016" cy="128016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65" name="Legend label"/>
            <p:cNvSpPr txBox="1"/>
            <p:nvPr/>
          </p:nvSpPr>
          <p:spPr>
            <a:xfrm>
              <a:off x="2121408" y="5512435"/>
              <a:ext cx="722376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th-TH" sz="11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วัดครั้งที่ 1</a:t>
              </a:r>
            </a:p>
          </p:txBody>
        </p:sp>
        <p:sp>
          <p:nvSpPr>
            <p:cNvPr id="1066" name="Legend key"/>
            <p:cNvSpPr/>
            <p:nvPr/>
          </p:nvSpPr>
          <p:spPr>
            <a:xfrm>
              <a:off x="3017520" y="5549710"/>
              <a:ext cx="128016" cy="128016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67" name="Legend label"/>
            <p:cNvSpPr txBox="1"/>
            <p:nvPr/>
          </p:nvSpPr>
          <p:spPr>
            <a:xfrm>
              <a:off x="3273552" y="5512435"/>
              <a:ext cx="1984248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th-TH" sz="11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วัดครั้งที่ 2 (ไม่มีอะไรเปลี่ยนจริง)</a:t>
              </a:r>
            </a:p>
          </p:txBody>
        </p:sp>
      </p:grpSp>
      <p:sp>
        <p:nvSpPr>
          <p:cNvPr id="8" name="Point circle"/>
          <p:cNvSpPr/>
          <p:nvPr/>
        </p:nvSpPr>
        <p:spPr>
          <a:xfrm>
            <a:off x="6766560" y="1965960"/>
            <a:ext cx="731520" cy="73152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9" name="Point icon" descr="SyncA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125" y="2141525"/>
            <a:ext cx="380390" cy="38039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635240" y="196596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วัดซ้ำ ค่าสุดโต่งมักถอยเข้าหาค่าเฉลี่ย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 A สูงสุดในครั้งแรก ครั้งที่สองต่ำลง คน E ต่ำสุด กลับสูงขึ้น เพราะการวัดมีความคลาดเคลื่อน</a:t>
            </a:r>
            <a:endParaRPr lang="en-US" sz="1500" dirty="0"/>
          </a:p>
        </p:txBody>
      </p:sp>
      <p:sp>
        <p:nvSpPr>
          <p:cNvPr id="11" name="Point circle"/>
          <p:cNvSpPr/>
          <p:nvPr/>
        </p:nvSpPr>
        <p:spPr>
          <a:xfrm>
            <a:off x="6766560" y="3246120"/>
            <a:ext cx="731520" cy="73152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12" name="Point icon" descr="Tag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125" y="3421685"/>
            <a:ext cx="380390" cy="38039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635240" y="324612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 label = "การเปลี่ยนแปลง"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แล้วฟีเจอร์ = "ค่าครั้งแรก" ทั้งสองมีค่าเดียวกันเป็นส่วนประกอบ</a:t>
            </a:r>
            <a:endParaRPr lang="en-US" sz="1500" dirty="0"/>
          </a:p>
        </p:txBody>
      </p:sp>
      <p:sp>
        <p:nvSpPr>
          <p:cNvPr id="14" name="Point circle"/>
          <p:cNvSpPr/>
          <p:nvPr/>
        </p:nvSpPr>
        <p:spPr>
          <a:xfrm>
            <a:off x="6766560" y="4526280"/>
            <a:ext cx="731520" cy="73152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15" name="Point icon" descr="ExclamationTriangl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125" y="4701845"/>
            <a:ext cx="380390" cy="38039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7635240" y="452628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 "ทำนาย" label ได้เอง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โดยไม่มีชีววิทยาอยู่เลย นี่คือกับดักของกรณีที่ 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Sync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กรณีที่ 1  |  ผลลัพธ์ที่ทำนายตัวเอง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ตัวเทียบที่ไม่มีการตอบสนองรายบุคคล ยังชนะโมเดล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หัวข้อ 4.1. MTBLS242, 71 คน, ผู้ตอบสนอง = อย่างน้อย 9 จาก 11 ตัวชี้วัด. PR-AUC โมเดล 0.683 คะแนนอ้างอิง 0.709 ความชุก 0.437. lift ของ null: มัธยฐาน 2.04 เท่า (ฝึกใหม่ 1.99 เท่า)</a:t>
            </a:r>
            <a:endParaRPr lang="en-US" sz="1000" dirty="0"/>
          </a:p>
        </p:txBody>
      </p:sp>
      <p:sp>
        <p:nvSpPr>
          <p:cNvPr id="7" name="Flow circle"/>
          <p:cNvSpPr/>
          <p:nvPr/>
        </p:nvSpPr>
        <p:spPr>
          <a:xfrm>
            <a:off x="685800" y="1920240"/>
            <a:ext cx="822960" cy="82296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8" name="Flow icon" descr="Via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10" y="2117750"/>
            <a:ext cx="427939" cy="4279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5720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ค่าตั้งต้น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(baseline)</a:t>
            </a:r>
            <a:endParaRPr lang="en-US" sz="1300" dirty="0"/>
          </a:p>
        </p:txBody>
      </p:sp>
      <p:pic>
        <p:nvPicPr>
          <p:cNvPr id="10" name="Arrow" descr="arr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176272"/>
            <a:ext cx="274320" cy="274320"/>
          </a:xfrm>
          <a:prstGeom prst="rect">
            <a:avLst/>
          </a:prstGeom>
        </p:spPr>
      </p:pic>
      <p:sp>
        <p:nvSpPr>
          <p:cNvPr id="11" name="Flow circle"/>
          <p:cNvSpPr/>
          <p:nvPr/>
        </p:nvSpPr>
        <p:spPr>
          <a:xfrm>
            <a:off x="2468880" y="1920240"/>
            <a:ext cx="822960" cy="82296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2" name="Flow icon" descr="Via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6390" y="2117750"/>
            <a:ext cx="427939" cy="42793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224028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ค่าหลัง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 เดือน</a:t>
            </a:r>
            <a:endParaRPr lang="en-US" sz="1300" dirty="0"/>
          </a:p>
        </p:txBody>
      </p:sp>
      <p:pic>
        <p:nvPicPr>
          <p:cNvPr id="14" name="Arrow" descr="arro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176272"/>
            <a:ext cx="274320" cy="274320"/>
          </a:xfrm>
          <a:prstGeom prst="rect">
            <a:avLst/>
          </a:prstGeom>
        </p:spPr>
      </p:pic>
      <p:sp>
        <p:nvSpPr>
          <p:cNvPr id="15" name="Flow circle"/>
          <p:cNvSpPr/>
          <p:nvPr/>
        </p:nvSpPr>
        <p:spPr>
          <a:xfrm>
            <a:off x="4251960" y="1920240"/>
            <a:ext cx="822960" cy="82296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16" name="Flow icon" descr="Tag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9470" y="2117750"/>
            <a:ext cx="427939" cy="427939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402336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ตอบสนองดี?</a:t>
            </a:r>
            <a:endParaRPr lang="en-US" sz="1300" dirty="0"/>
          </a:p>
        </p:txBody>
      </p:sp>
      <p:sp>
        <p:nvSpPr>
          <p:cNvPr id="18" name="Text 9"/>
          <p:cNvSpPr txBox="1"/>
          <p:nvPr/>
        </p:nvSpPr>
        <p:spPr>
          <a:xfrm>
            <a:off x="548640" y="352044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label คำนวณจาก "การเปลี่ยนแปลง" ของสารเดียวกับที่ใช้เป็นฟีเจอร์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ค่าตั้งต้นสูง ๆ ลดลงเข้าหาค่าเฉลี่ยได้เอง (regression to the mean) สหสัมพันธ์มัธยฐาน -0.62 ฟีเจอร์จึง "ทำนาย" label ได้</a:t>
            </a:r>
            <a:endParaRPr lang="en-US" sz="1500" dirty="0"/>
          </a:p>
        </p:txBody>
      </p:sp>
      <p:sp>
        <p:nvSpPr>
          <p:cNvPr id="19" name="Callout"/>
          <p:cNvSpPr/>
          <p:nvPr/>
        </p:nvSpPr>
        <p:spPr>
          <a:xfrm>
            <a:off x="548640" y="484632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pic>
        <p:nvPicPr>
          <p:cNvPr id="20" name="Callout icon" descr="warni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138928"/>
            <a:ext cx="365760" cy="36576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1325880" y="48920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 label ได้ p = 0.001 (ยังไม่ได้ตรวจการสอบเทียบ) บอกแค่ว่าฟีเจอร์กับ label สัมพันธ์กัน ไม่ได้บอกว่าโมเดลพยากรณ์ได้</a:t>
            </a:r>
            <a:endParaRPr lang="en-US" sz="1400" dirty="0"/>
          </a:p>
        </p:txBody>
      </p:sp>
      <p:grpSp>
        <p:nvGrpSpPr>
          <p:cNvPr id="1048" name="Chart 0 (drawn)"/>
          <p:cNvGrpSpPr/>
          <p:nvPr/>
        </p:nvGrpSpPr>
        <p:grpSpPr>
          <a:xfrm>
            <a:off x="5943600" y="1874520"/>
            <a:ext cx="5669280" cy="4114800"/>
            <a:chOff x="5943600" y="1874520"/>
            <a:chExt cx="5669280" cy="4114800"/>
          </a:xfrm>
        </p:grpSpPr>
        <p:sp>
          <p:nvSpPr>
            <p:cNvPr id="1026" name="Axis title"/>
            <p:cNvSpPr txBox="1"/>
            <p:nvPr/>
          </p:nvSpPr>
          <p:spPr>
            <a:xfrm>
              <a:off x="5943600" y="1874520"/>
              <a:ext cx="5669280" cy="19812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th-TH" sz="12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Lift = average precision / ความชุก</a:t>
              </a:r>
            </a:p>
          </p:txBody>
        </p:sp>
        <p:sp>
          <p:nvSpPr>
            <p:cNvPr id="1027" name="Tick label"/>
            <p:cNvSpPr txBox="1"/>
            <p:nvPr/>
          </p:nvSpPr>
          <p:spPr>
            <a:xfrm>
              <a:off x="5943600" y="5429123"/>
              <a:ext cx="301752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0.0x</a:t>
              </a:r>
            </a:p>
          </p:txBody>
        </p:sp>
        <p:cxnSp>
          <p:nvCxnSpPr>
            <p:cNvPr id="1028" name="Gridline"/>
            <p:cNvCxnSpPr/>
            <p:nvPr/>
          </p:nvCxnSpPr>
          <p:spPr>
            <a:xfrm>
              <a:off x="6318504" y="4907280"/>
              <a:ext cx="5248656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29" name="Tick label"/>
            <p:cNvSpPr txBox="1"/>
            <p:nvPr/>
          </p:nvSpPr>
          <p:spPr>
            <a:xfrm>
              <a:off x="5943600" y="4816475"/>
              <a:ext cx="301752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0.5x</a:t>
              </a:r>
            </a:p>
          </p:txBody>
        </p:sp>
        <p:cxnSp>
          <p:nvCxnSpPr>
            <p:cNvPr id="1030" name="Gridline"/>
            <p:cNvCxnSpPr/>
            <p:nvPr/>
          </p:nvCxnSpPr>
          <p:spPr>
            <a:xfrm>
              <a:off x="6318504" y="4294632"/>
              <a:ext cx="5248656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1" name="Tick label"/>
            <p:cNvSpPr txBox="1"/>
            <p:nvPr/>
          </p:nvSpPr>
          <p:spPr>
            <a:xfrm>
              <a:off x="5943600" y="4203827"/>
              <a:ext cx="301752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1.0x</a:t>
              </a:r>
            </a:p>
          </p:txBody>
        </p:sp>
        <p:cxnSp>
          <p:nvCxnSpPr>
            <p:cNvPr id="1032" name="Gridline"/>
            <p:cNvCxnSpPr/>
            <p:nvPr/>
          </p:nvCxnSpPr>
          <p:spPr>
            <a:xfrm>
              <a:off x="6318504" y="3681984"/>
              <a:ext cx="5248656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3" name="Tick label"/>
            <p:cNvSpPr txBox="1"/>
            <p:nvPr/>
          </p:nvSpPr>
          <p:spPr>
            <a:xfrm>
              <a:off x="5943600" y="3591179"/>
              <a:ext cx="301752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1.5x</a:t>
              </a:r>
            </a:p>
          </p:txBody>
        </p:sp>
        <p:cxnSp>
          <p:nvCxnSpPr>
            <p:cNvPr id="1034" name="Gridline"/>
            <p:cNvCxnSpPr/>
            <p:nvPr/>
          </p:nvCxnSpPr>
          <p:spPr>
            <a:xfrm>
              <a:off x="6318504" y="3069336"/>
              <a:ext cx="5248656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5" name="Tick label"/>
            <p:cNvSpPr txBox="1"/>
            <p:nvPr/>
          </p:nvSpPr>
          <p:spPr>
            <a:xfrm>
              <a:off x="5943600" y="2978531"/>
              <a:ext cx="301752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2.0x</a:t>
              </a:r>
            </a:p>
          </p:txBody>
        </p:sp>
        <p:cxnSp>
          <p:nvCxnSpPr>
            <p:cNvPr id="1036" name="Gridline"/>
            <p:cNvCxnSpPr/>
            <p:nvPr/>
          </p:nvCxnSpPr>
          <p:spPr>
            <a:xfrm>
              <a:off x="6318504" y="2456688"/>
              <a:ext cx="5248656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7" name="Tick label"/>
            <p:cNvSpPr txBox="1"/>
            <p:nvPr/>
          </p:nvSpPr>
          <p:spPr>
            <a:xfrm>
              <a:off x="5943600" y="2365883"/>
              <a:ext cx="301752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2.5x</a:t>
              </a:r>
            </a:p>
          </p:txBody>
        </p:sp>
        <p:sp>
          <p:nvSpPr>
            <p:cNvPr id="1038" name="Bar"/>
            <p:cNvSpPr/>
            <p:nvPr/>
          </p:nvSpPr>
          <p:spPr>
            <a:xfrm>
              <a:off x="6876174" y="3596213"/>
              <a:ext cx="1508989" cy="1923715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39" name="Value label"/>
            <p:cNvSpPr txBox="1"/>
            <p:nvPr/>
          </p:nvSpPr>
          <p:spPr>
            <a:xfrm>
              <a:off x="6601854" y="3345007"/>
              <a:ext cx="2057629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1.57x</a:t>
              </a:r>
            </a:p>
          </p:txBody>
        </p:sp>
        <p:sp>
          <p:nvSpPr>
            <p:cNvPr id="1040" name="Bar"/>
            <p:cNvSpPr/>
            <p:nvPr/>
          </p:nvSpPr>
          <p:spPr>
            <a:xfrm>
              <a:off x="9500502" y="3020324"/>
              <a:ext cx="1508989" cy="2499604"/>
            </a:xfrm>
            <a:prstGeom prst="rect">
              <a:avLst/>
            </a:prstGeom>
            <a:solidFill>
              <a:srgbClr val="EB6834"/>
            </a:solidFill>
            <a:ln>
              <a:noFill/>
            </a:ln>
          </p:spPr>
        </p:sp>
        <p:sp>
          <p:nvSpPr>
            <p:cNvPr id="1041" name="Value label"/>
            <p:cNvSpPr txBox="1"/>
            <p:nvPr/>
          </p:nvSpPr>
          <p:spPr>
            <a:xfrm>
              <a:off x="9226182" y="2769118"/>
              <a:ext cx="2057629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2.04x</a:t>
              </a:r>
            </a:p>
          </p:txBody>
        </p:sp>
        <p:cxnSp>
          <p:nvCxnSpPr>
            <p:cNvPr id="1042" name="Axis"/>
            <p:cNvCxnSpPr/>
            <p:nvPr/>
          </p:nvCxnSpPr>
          <p:spPr>
            <a:xfrm>
              <a:off x="6318504" y="5519928"/>
              <a:ext cx="5248656" cy="0"/>
            </a:xfrm>
            <a:prstGeom prst="line">
              <a:avLst/>
            </a:prstGeom>
            <a:ln w="12700">
              <a:solidFill>
                <a:srgbClr val="888888"/>
              </a:solidFill>
            </a:ln>
          </p:spPr>
        </p:cxnSp>
        <p:sp>
          <p:nvSpPr>
            <p:cNvPr id="1043" name="Category label"/>
            <p:cNvSpPr txBox="1"/>
            <p:nvPr/>
          </p:nvSpPr>
          <p:spPr>
            <a:xfrm>
              <a:off x="6318504" y="5593080"/>
              <a:ext cx="2624328" cy="4693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โมเดลจริง</a:t>
              </a:r>
            </a:p>
          </p:txBody>
        </p:sp>
        <p:sp>
          <p:nvSpPr>
            <p:cNvPr id="1044" name="Category label"/>
            <p:cNvSpPr txBox="1"/>
            <p:nvPr/>
          </p:nvSpPr>
          <p:spPr>
            <a:xfrm>
              <a:off x="8942832" y="5593080"/>
              <a:ext cx="2624328" cy="4693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ตัวเทียบที่ไม่มีสัญญาณ</a:t>
              </a:r>
            </a:p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(pairing-destroyed null)</a:t>
              </a:r>
            </a:p>
          </p:txBody>
        </p:sp>
        <p:cxnSp>
          <p:nvCxnSpPr>
            <p:cNvPr id="1045" name="Reference line"/>
            <p:cNvCxnSpPr/>
            <p:nvPr/>
          </p:nvCxnSpPr>
          <p:spPr>
            <a:xfrm>
              <a:off x="6318504" y="4294632"/>
              <a:ext cx="5248656" cy="0"/>
            </a:xfrm>
            <a:prstGeom prst="line">
              <a:avLst/>
            </a:prstGeom>
            <a:ln w="15875">
              <a:solidFill>
                <a:srgbClr val="5B6470"/>
              </a:solidFill>
              <a:prstDash val="dash"/>
            </a:ln>
          </p:spPr>
        </p:cxnSp>
        <p:sp>
          <p:nvSpPr>
            <p:cNvPr id="1046" name="Reference label"/>
            <p:cNvSpPr txBox="1"/>
            <p:nvPr/>
          </p:nvSpPr>
          <p:spPr>
            <a:xfrm>
              <a:off x="9509760" y="1874520"/>
              <a:ext cx="2103120" cy="19812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1.0x = เท่ากับความชุก (ไม่มีทักษะ)</a:t>
              </a:r>
            </a:p>
          </p:txBody>
        </p:sp>
        <p:cxnSp>
          <p:nvCxnSpPr>
            <p:cNvPr id="1047" name="Reference key"/>
            <p:cNvCxnSpPr/>
            <p:nvPr/>
          </p:nvCxnSpPr>
          <p:spPr>
            <a:xfrm>
              <a:off x="9144000" y="1973580"/>
              <a:ext cx="292608" cy="0"/>
            </a:xfrm>
            <a:prstGeom prst="line">
              <a:avLst/>
            </a:prstGeom>
            <a:ln w="15875">
              <a:solidFill>
                <a:srgbClr val="5B6470"/>
              </a:solidFill>
              <a:prstDash val="dash"/>
            </a:ln>
          </p:spPr>
        </p:cxn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BalanceSca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กรณีที่ 1  |  ก่อนและหลังแก้นิยามผลลัพธ์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ทั้งก่อนและหลังแก้ โมเดลไม่ชนะคะแนนอ้างอิงที่ไม่ต้องฝึก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หัวข้อ 4.1. ดีไซน์หักทุกสารพร้อมกัน: ผู้ตอบสนอง = อย่างน้อย 6 จาก 11 ตัวชี้วัด 18 ฟีเจอร์ (ตัดสารที่ยังไม่ทราบแหล่งที่มา 3 ตัว). แท่ง = ค่าเฉลี่ย AP ราย fold; gap ใช้การทำนายที่รวมกัน ช่วง 95% bootstrap ระดับผู้ป่วย</a:t>
            </a:r>
            <a:endParaRPr lang="en-US" sz="1000" dirty="0"/>
          </a:p>
        </p:txBody>
      </p:sp>
      <p:grpSp>
        <p:nvGrpSpPr>
          <p:cNvPr id="1051" name="Chart 0 (drawn)"/>
          <p:cNvGrpSpPr/>
          <p:nvPr/>
        </p:nvGrpSpPr>
        <p:grpSpPr>
          <a:xfrm>
            <a:off x="548640" y="1874520"/>
            <a:ext cx="6583680" cy="4114800"/>
            <a:chOff x="548640" y="1874520"/>
            <a:chExt cx="6583680" cy="4114800"/>
          </a:xfrm>
        </p:grpSpPr>
        <p:sp>
          <p:nvSpPr>
            <p:cNvPr id="1026" name="Axis title"/>
            <p:cNvSpPr txBox="1"/>
            <p:nvPr/>
          </p:nvSpPr>
          <p:spPr>
            <a:xfrm>
              <a:off x="548640" y="1874520"/>
              <a:ext cx="6583680" cy="19812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th-TH" sz="12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PR-AUC</a:t>
              </a:r>
            </a:p>
          </p:txBody>
        </p:sp>
        <p:sp>
          <p:nvSpPr>
            <p:cNvPr id="1027" name="Tick label"/>
            <p:cNvSpPr txBox="1"/>
            <p:nvPr/>
          </p:nvSpPr>
          <p:spPr>
            <a:xfrm>
              <a:off x="548640" y="5135118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0.0</a:t>
              </a:r>
            </a:p>
          </p:txBody>
        </p:sp>
        <p:cxnSp>
          <p:nvCxnSpPr>
            <p:cNvPr id="1028" name="Gridline"/>
            <p:cNvCxnSpPr/>
            <p:nvPr/>
          </p:nvCxnSpPr>
          <p:spPr>
            <a:xfrm>
              <a:off x="850392" y="4533614"/>
              <a:ext cx="6236208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29" name="Tick label"/>
            <p:cNvSpPr txBox="1"/>
            <p:nvPr/>
          </p:nvSpPr>
          <p:spPr>
            <a:xfrm>
              <a:off x="548640" y="4442809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0.2</a:t>
              </a:r>
            </a:p>
          </p:txBody>
        </p:sp>
        <p:cxnSp>
          <p:nvCxnSpPr>
            <p:cNvPr id="1030" name="Gridline"/>
            <p:cNvCxnSpPr/>
            <p:nvPr/>
          </p:nvCxnSpPr>
          <p:spPr>
            <a:xfrm>
              <a:off x="850392" y="3841305"/>
              <a:ext cx="6236208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1" name="Tick label"/>
            <p:cNvSpPr txBox="1"/>
            <p:nvPr/>
          </p:nvSpPr>
          <p:spPr>
            <a:xfrm>
              <a:off x="548640" y="3750500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0.4</a:t>
              </a:r>
            </a:p>
          </p:txBody>
        </p:sp>
        <p:cxnSp>
          <p:nvCxnSpPr>
            <p:cNvPr id="1032" name="Gridline"/>
            <p:cNvCxnSpPr/>
            <p:nvPr/>
          </p:nvCxnSpPr>
          <p:spPr>
            <a:xfrm>
              <a:off x="850392" y="3148997"/>
              <a:ext cx="6236208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3" name="Tick label"/>
            <p:cNvSpPr txBox="1"/>
            <p:nvPr/>
          </p:nvSpPr>
          <p:spPr>
            <a:xfrm>
              <a:off x="548640" y="3058192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0.6</a:t>
              </a:r>
            </a:p>
          </p:txBody>
        </p:sp>
        <p:cxnSp>
          <p:nvCxnSpPr>
            <p:cNvPr id="1034" name="Gridline"/>
            <p:cNvCxnSpPr/>
            <p:nvPr/>
          </p:nvCxnSpPr>
          <p:spPr>
            <a:xfrm>
              <a:off x="850392" y="2456688"/>
              <a:ext cx="6236208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5" name="Tick label"/>
            <p:cNvSpPr txBox="1"/>
            <p:nvPr/>
          </p:nvSpPr>
          <p:spPr>
            <a:xfrm>
              <a:off x="548640" y="2365883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0.8</a:t>
              </a:r>
            </a:p>
          </p:txBody>
        </p:sp>
        <p:sp>
          <p:nvSpPr>
            <p:cNvPr id="1036" name="Bar"/>
            <p:cNvSpPr/>
            <p:nvPr/>
          </p:nvSpPr>
          <p:spPr>
            <a:xfrm>
              <a:off x="1300785" y="2861689"/>
              <a:ext cx="1062465" cy="2364234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37" name="Value label"/>
            <p:cNvSpPr txBox="1"/>
            <p:nvPr/>
          </p:nvSpPr>
          <p:spPr>
            <a:xfrm>
              <a:off x="1026465" y="2610483"/>
              <a:ext cx="1611105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0.683</a:t>
              </a:r>
            </a:p>
          </p:txBody>
        </p:sp>
        <p:sp>
          <p:nvSpPr>
            <p:cNvPr id="1038" name="Bar"/>
            <p:cNvSpPr/>
            <p:nvPr/>
          </p:nvSpPr>
          <p:spPr>
            <a:xfrm>
              <a:off x="2455638" y="2771688"/>
              <a:ext cx="1062465" cy="2454235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39" name="Value label"/>
            <p:cNvSpPr txBox="1"/>
            <p:nvPr/>
          </p:nvSpPr>
          <p:spPr>
            <a:xfrm>
              <a:off x="2181318" y="2520482"/>
              <a:ext cx="1611105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0.709</a:t>
              </a:r>
            </a:p>
          </p:txBody>
        </p:sp>
        <p:sp>
          <p:nvSpPr>
            <p:cNvPr id="1040" name="Bar"/>
            <p:cNvSpPr/>
            <p:nvPr/>
          </p:nvSpPr>
          <p:spPr>
            <a:xfrm>
              <a:off x="4418889" y="3308228"/>
              <a:ext cx="1062465" cy="1917695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41" name="Value label"/>
            <p:cNvSpPr txBox="1"/>
            <p:nvPr/>
          </p:nvSpPr>
          <p:spPr>
            <a:xfrm>
              <a:off x="4144569" y="3057022"/>
              <a:ext cx="1611105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0.554</a:t>
              </a:r>
            </a:p>
          </p:txBody>
        </p:sp>
        <p:sp>
          <p:nvSpPr>
            <p:cNvPr id="1042" name="Bar"/>
            <p:cNvSpPr/>
            <p:nvPr/>
          </p:nvSpPr>
          <p:spPr>
            <a:xfrm>
              <a:off x="5573742" y="3187074"/>
              <a:ext cx="1062465" cy="2038849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43" name="Value label"/>
            <p:cNvSpPr txBox="1"/>
            <p:nvPr/>
          </p:nvSpPr>
          <p:spPr>
            <a:xfrm>
              <a:off x="5299422" y="2935868"/>
              <a:ext cx="1611105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0.589</a:t>
              </a:r>
            </a:p>
          </p:txBody>
        </p:sp>
        <p:cxnSp>
          <p:nvCxnSpPr>
            <p:cNvPr id="1044" name="Axis"/>
            <p:cNvCxnSpPr/>
            <p:nvPr/>
          </p:nvCxnSpPr>
          <p:spPr>
            <a:xfrm>
              <a:off x="850392" y="5225923"/>
              <a:ext cx="6236208" cy="0"/>
            </a:xfrm>
            <a:prstGeom prst="line">
              <a:avLst/>
            </a:prstGeom>
            <a:ln w="12700">
              <a:solidFill>
                <a:srgbClr val="888888"/>
              </a:solidFill>
            </a:ln>
          </p:spPr>
        </p:cxnSp>
        <p:sp>
          <p:nvSpPr>
            <p:cNvPr id="1045" name="Category label"/>
            <p:cNvSpPr txBox="1"/>
            <p:nvPr/>
          </p:nvSpPr>
          <p:spPr>
            <a:xfrm>
              <a:off x="850392" y="5299075"/>
              <a:ext cx="3118104" cy="4693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ดีไซน์เดิม</a:t>
              </a:r>
            </a:p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(ความชุก 0.437)</a:t>
              </a:r>
            </a:p>
          </p:txBody>
        </p:sp>
        <p:sp>
          <p:nvSpPr>
            <p:cNvPr id="1046" name="Category label"/>
            <p:cNvSpPr txBox="1"/>
            <p:nvPr/>
          </p:nvSpPr>
          <p:spPr>
            <a:xfrm>
              <a:off x="3968496" y="5299075"/>
              <a:ext cx="3118104" cy="4693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หักทุกสารพร้อมกัน</a:t>
              </a:r>
            </a:p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(ความชุก 0.521)</a:t>
              </a:r>
            </a:p>
          </p:txBody>
        </p:sp>
        <p:sp>
          <p:nvSpPr>
            <p:cNvPr id="1047" name="Legend key"/>
            <p:cNvSpPr/>
            <p:nvPr/>
          </p:nvSpPr>
          <p:spPr>
            <a:xfrm>
              <a:off x="2290572" y="5824029"/>
              <a:ext cx="128016" cy="128016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48" name="Legend label"/>
            <p:cNvSpPr txBox="1"/>
            <p:nvPr/>
          </p:nvSpPr>
          <p:spPr>
            <a:xfrm>
              <a:off x="2546604" y="5786755"/>
              <a:ext cx="1014984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th-TH" sz="11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โมเดลที่ฝึกแล้ว</a:t>
              </a:r>
            </a:p>
          </p:txBody>
        </p:sp>
        <p:sp>
          <p:nvSpPr>
            <p:cNvPr id="1049" name="Legend key"/>
            <p:cNvSpPr/>
            <p:nvPr/>
          </p:nvSpPr>
          <p:spPr>
            <a:xfrm>
              <a:off x="3735324" y="5824029"/>
              <a:ext cx="128016" cy="128016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50" name="Legend label"/>
            <p:cNvSpPr txBox="1"/>
            <p:nvPr/>
          </p:nvSpPr>
          <p:spPr>
            <a:xfrm>
              <a:off x="3991356" y="5786755"/>
              <a:ext cx="1572768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th-TH" sz="11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คะแนนอ้างอิงที่ไม่ต้องฝึก</a:t>
              </a:r>
            </a:p>
          </p:txBody>
        </p:sp>
      </p:grpSp>
      <p:sp>
        <p:nvSpPr>
          <p:cNvPr id="8" name="Point circle"/>
          <p:cNvSpPr/>
          <p:nvPr/>
        </p:nvSpPr>
        <p:spPr>
          <a:xfrm>
            <a:off x="7498080" y="2011680"/>
            <a:ext cx="685800" cy="68580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9" name="Point icon" descr="TimesCirc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2" y="2176272"/>
            <a:ext cx="356616" cy="356616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366760" y="20116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ดีไซน์เดิม: คะแนนอ้างอิง 0.709 ชนะโมเดล 0.683</a:t>
            </a:r>
            <a:endParaRPr lang="en-US" sz="1500" dirty="0"/>
          </a:p>
        </p:txBody>
      </p:sp>
      <p:sp>
        <p:nvSpPr>
          <p:cNvPr id="11" name="Point circle"/>
          <p:cNvSpPr/>
          <p:nvPr/>
        </p:nvSpPr>
        <p:spPr>
          <a:xfrm>
            <a:off x="7498080" y="3108960"/>
            <a:ext cx="685800" cy="68580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2" name="Point icon" descr="Random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3273552"/>
            <a:ext cx="356616" cy="356616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366760" y="31089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หักทุกสารพร้อมกัน: gap -0.037 [-0.111, +0.037]</a:t>
            </a:r>
            <a:endParaRPr lang="en-US" sz="1500" dirty="0"/>
          </a:p>
        </p:txBody>
      </p:sp>
      <p:sp>
        <p:nvSpPr>
          <p:cNvPr id="14" name="Point circle"/>
          <p:cNvSpPr/>
          <p:nvPr/>
        </p:nvSpPr>
        <p:spPr>
          <a:xfrm>
            <a:off x="7498080" y="4206240"/>
            <a:ext cx="685800" cy="685800"/>
          </a:xfrm>
          <a:prstGeom prst="ellipse">
            <a:avLst/>
          </a:prstGeom>
          <a:solidFill>
            <a:srgbClr val="E3E7EC"/>
          </a:solidFill>
          <a:ln w="12700">
            <a:solidFill>
              <a:srgbClr val="E3E7EC"/>
            </a:solidFill>
            <a:prstDash val="solid"/>
          </a:ln>
        </p:spPr>
      </p:sp>
      <p:pic>
        <p:nvPicPr>
          <p:cNvPr id="15" name="Point icon" descr="BalanceScal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4370832"/>
            <a:ext cx="356616" cy="356616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8366760" y="42062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ไม่มีหลักฐานว่าดีกว่า ที่ n = 71 ยังตัดผลดีขึ้นเล็กน้อยออกไม่ได้</a:t>
            </a:r>
            <a:endParaRPr lang="en-US" sz="1500" dirty="0"/>
          </a:p>
        </p:txBody>
      </p:sp>
      <p:sp>
        <p:nvSpPr>
          <p:cNvPr id="17" name="Callout"/>
          <p:cNvSpPr/>
          <p:nvPr/>
        </p:nvSpPr>
        <p:spPr>
          <a:xfrm>
            <a:off x="7498080" y="530352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8" name="Text 10"/>
          <p:cNvSpPr txBox="1"/>
          <p:nvPr/>
        </p:nvSpPr>
        <p:spPr>
          <a:xfrm>
            <a:off x="7680960" y="5303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 gap ไม่ใช่ระดับ เพราะเกณฑ์ ฟีเจอร์ และความชุกต่างกัน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ChartLin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AA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ทำไมถึงเกิด  |  การจำลอง 36,000 ชุด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ข้อมูลมากขึ้น การสลับ label ยิ่งชี้ผิดอย่างมั่นใจขึ้น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หัวข้อ 3.5 และ 4.2. 1,000 ชุดต่อจุด, ไม่มีการตอบสนองที่พยากรณ์ได้ (gamma = 0), r = 0.25, ระดับแฝงของสารสัมพันธ์กัน 0.3. ผลลัพธ์ดิบสลับ label ทั้งชุด กลุ่มที่หักค่าตั้งต้นสลับราย fold, alpha = 0.05</a:t>
            </a:r>
            <a:endParaRPr lang="en-US" sz="1000" dirty="0"/>
          </a:p>
        </p:txBody>
      </p:sp>
      <p:grpSp>
        <p:nvGrpSpPr>
          <p:cNvPr id="1074" name="Chart 0 (drawn)"/>
          <p:cNvGrpSpPr/>
          <p:nvPr/>
        </p:nvGrpSpPr>
        <p:grpSpPr>
          <a:xfrm>
            <a:off x="548640" y="1874520"/>
            <a:ext cx="6949440" cy="4114800"/>
            <a:chOff x="548640" y="1874520"/>
            <a:chExt cx="6949440" cy="4114800"/>
          </a:xfrm>
        </p:grpSpPr>
        <p:sp>
          <p:nvSpPr>
            <p:cNvPr id="1026" name="Axis title"/>
            <p:cNvSpPr txBox="1"/>
            <p:nvPr/>
          </p:nvSpPr>
          <p:spPr>
            <a:xfrm>
              <a:off x="548640" y="1874520"/>
              <a:ext cx="6949440" cy="19812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th-TH" sz="12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อัตราการปฏิเสธ เมื่อไม่มีการตอบสนองที่พยากรณ์ได้</a:t>
              </a:r>
            </a:p>
          </p:txBody>
        </p:sp>
        <p:sp>
          <p:nvSpPr>
            <p:cNvPr id="1027" name="Tick label"/>
            <p:cNvSpPr txBox="1"/>
            <p:nvPr/>
          </p:nvSpPr>
          <p:spPr>
            <a:xfrm>
              <a:off x="548640" y="5130673"/>
              <a:ext cx="402336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0%</a:t>
              </a:r>
            </a:p>
          </p:txBody>
        </p:sp>
        <p:cxnSp>
          <p:nvCxnSpPr>
            <p:cNvPr id="1028" name="Gridline"/>
            <p:cNvCxnSpPr/>
            <p:nvPr/>
          </p:nvCxnSpPr>
          <p:spPr>
            <a:xfrm>
              <a:off x="1024128" y="4628286"/>
              <a:ext cx="6428232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29" name="Tick label"/>
            <p:cNvSpPr txBox="1"/>
            <p:nvPr/>
          </p:nvSpPr>
          <p:spPr>
            <a:xfrm>
              <a:off x="548640" y="4537481"/>
              <a:ext cx="402336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20%</a:t>
              </a:r>
            </a:p>
          </p:txBody>
        </p:sp>
        <p:cxnSp>
          <p:nvCxnSpPr>
            <p:cNvPr id="1030" name="Gridline"/>
            <p:cNvCxnSpPr/>
            <p:nvPr/>
          </p:nvCxnSpPr>
          <p:spPr>
            <a:xfrm>
              <a:off x="1024128" y="4035095"/>
              <a:ext cx="6428232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1" name="Tick label"/>
            <p:cNvSpPr txBox="1"/>
            <p:nvPr/>
          </p:nvSpPr>
          <p:spPr>
            <a:xfrm>
              <a:off x="548640" y="3944290"/>
              <a:ext cx="402336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40%</a:t>
              </a:r>
            </a:p>
          </p:txBody>
        </p:sp>
        <p:cxnSp>
          <p:nvCxnSpPr>
            <p:cNvPr id="1032" name="Gridline"/>
            <p:cNvCxnSpPr/>
            <p:nvPr/>
          </p:nvCxnSpPr>
          <p:spPr>
            <a:xfrm>
              <a:off x="1024128" y="3441903"/>
              <a:ext cx="6428232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3" name="Tick label"/>
            <p:cNvSpPr txBox="1"/>
            <p:nvPr/>
          </p:nvSpPr>
          <p:spPr>
            <a:xfrm>
              <a:off x="548640" y="3351098"/>
              <a:ext cx="402336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60%</a:t>
              </a:r>
            </a:p>
          </p:txBody>
        </p:sp>
        <p:cxnSp>
          <p:nvCxnSpPr>
            <p:cNvPr id="1034" name="Gridline"/>
            <p:cNvCxnSpPr/>
            <p:nvPr/>
          </p:nvCxnSpPr>
          <p:spPr>
            <a:xfrm>
              <a:off x="1024128" y="2848712"/>
              <a:ext cx="6428232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5" name="Tick label"/>
            <p:cNvSpPr txBox="1"/>
            <p:nvPr/>
          </p:nvSpPr>
          <p:spPr>
            <a:xfrm>
              <a:off x="548640" y="2757907"/>
              <a:ext cx="402336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80%</a:t>
              </a:r>
            </a:p>
          </p:txBody>
        </p:sp>
        <p:cxnSp>
          <p:nvCxnSpPr>
            <p:cNvPr id="1036" name="Gridline"/>
            <p:cNvCxnSpPr/>
            <p:nvPr/>
          </p:nvCxnSpPr>
          <p:spPr>
            <a:xfrm>
              <a:off x="1024128" y="2255520"/>
              <a:ext cx="6428232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7" name="Tick label"/>
            <p:cNvSpPr txBox="1"/>
            <p:nvPr/>
          </p:nvSpPr>
          <p:spPr>
            <a:xfrm>
              <a:off x="548640" y="2164715"/>
              <a:ext cx="402336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100%</a:t>
              </a:r>
            </a:p>
          </p:txBody>
        </p:sp>
        <p:sp>
          <p:nvSpPr>
            <p:cNvPr id="1038" name="Series line"/>
            <p:cNvSpPr/>
            <p:nvPr/>
          </p:nvSpPr>
          <p:spPr>
            <a:xfrm>
              <a:off x="1827657" y="2255520"/>
              <a:ext cx="4821174" cy="2191843"/>
            </a:xfrm>
            <a:custGeom>
              <a:avLst/>
              <a:gdLst/>
              <a:ahLst/>
              <a:cxnLst/>
              <a:rect l="0" t="0" r="r" b="b"/>
              <a:pathLst>
                <a:path w="4821174" h="2191843" fill="none">
                  <a:moveTo>
                    <a:pt x="0" y="2191843"/>
                  </a:moveTo>
                  <a:lnTo>
                    <a:pt x="1607058" y="1423660"/>
                  </a:lnTo>
                  <a:lnTo>
                    <a:pt x="3214116" y="219481"/>
                  </a:lnTo>
                  <a:lnTo>
                    <a:pt x="4821174" y="0"/>
                  </a:lnTo>
                </a:path>
              </a:pathLst>
            </a:custGeom>
            <a:noFill/>
            <a:ln w="38100" cap="rnd">
              <a:solidFill>
                <a:srgbClr val="EB6834"/>
              </a:solidFill>
              <a:round/>
            </a:ln>
          </p:spPr>
        </p:sp>
        <p:sp>
          <p:nvSpPr>
            <p:cNvPr id="1039" name="Marker"/>
            <p:cNvSpPr/>
            <p:nvPr/>
          </p:nvSpPr>
          <p:spPr>
            <a:xfrm>
              <a:off x="1777365" y="4397071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0" name="Marker"/>
            <p:cNvSpPr/>
            <p:nvPr/>
          </p:nvSpPr>
          <p:spPr>
            <a:xfrm>
              <a:off x="3384423" y="3628888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1" name="Marker"/>
            <p:cNvSpPr/>
            <p:nvPr/>
          </p:nvSpPr>
          <p:spPr>
            <a:xfrm>
              <a:off x="4991481" y="2424709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2" name="Marker"/>
            <p:cNvSpPr/>
            <p:nvPr/>
          </p:nvSpPr>
          <p:spPr>
            <a:xfrm>
              <a:off x="6598539" y="2205228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3" name="Series line"/>
            <p:cNvSpPr/>
            <p:nvPr/>
          </p:nvSpPr>
          <p:spPr>
            <a:xfrm>
              <a:off x="1827657" y="5093942"/>
              <a:ext cx="4821174" cy="118638"/>
            </a:xfrm>
            <a:custGeom>
              <a:avLst/>
              <a:gdLst/>
              <a:ahLst/>
              <a:cxnLst/>
              <a:rect l="0" t="0" r="r" b="b"/>
              <a:pathLst>
                <a:path w="4821174" h="118638" fill="none">
                  <a:moveTo>
                    <a:pt x="0" y="0"/>
                  </a:moveTo>
                  <a:lnTo>
                    <a:pt x="1607058" y="65251"/>
                  </a:lnTo>
                  <a:lnTo>
                    <a:pt x="3214116" y="106774"/>
                  </a:lnTo>
                  <a:lnTo>
                    <a:pt x="4821174" y="118638"/>
                  </a:lnTo>
                </a:path>
              </a:pathLst>
            </a:custGeom>
            <a:noFill/>
            <a:ln w="38100" cap="rnd">
              <a:solidFill>
                <a:srgbClr val="2A78D6"/>
              </a:solidFill>
              <a:round/>
            </a:ln>
          </p:spPr>
        </p:sp>
        <p:sp>
          <p:nvSpPr>
            <p:cNvPr id="1044" name="Marker"/>
            <p:cNvSpPr/>
            <p:nvPr/>
          </p:nvSpPr>
          <p:spPr>
            <a:xfrm>
              <a:off x="1777365" y="5043650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45" name="Marker"/>
            <p:cNvSpPr/>
            <p:nvPr/>
          </p:nvSpPr>
          <p:spPr>
            <a:xfrm>
              <a:off x="3384423" y="5108901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46" name="Marker"/>
            <p:cNvSpPr/>
            <p:nvPr/>
          </p:nvSpPr>
          <p:spPr>
            <a:xfrm>
              <a:off x="4991481" y="5150424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47" name="Marker"/>
            <p:cNvSpPr/>
            <p:nvPr/>
          </p:nvSpPr>
          <p:spPr>
            <a:xfrm>
              <a:off x="6598539" y="5162288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48" name="Series line"/>
            <p:cNvSpPr/>
            <p:nvPr/>
          </p:nvSpPr>
          <p:spPr>
            <a:xfrm>
              <a:off x="1827657" y="5001997"/>
              <a:ext cx="4821174" cy="44489"/>
            </a:xfrm>
            <a:custGeom>
              <a:avLst/>
              <a:gdLst/>
              <a:ahLst/>
              <a:cxnLst/>
              <a:rect l="0" t="0" r="r" b="b"/>
              <a:pathLst>
                <a:path w="4821174" h="44489" fill="none">
                  <a:moveTo>
                    <a:pt x="0" y="0"/>
                  </a:moveTo>
                  <a:lnTo>
                    <a:pt x="1607058" y="35591"/>
                  </a:lnTo>
                  <a:lnTo>
                    <a:pt x="3214116" y="44489"/>
                  </a:lnTo>
                  <a:lnTo>
                    <a:pt x="4821174" y="32626"/>
                  </a:lnTo>
                </a:path>
              </a:pathLst>
            </a:custGeom>
            <a:noFill/>
            <a:ln w="38100" cap="rnd">
              <a:solidFill>
                <a:srgbClr val="1BAF7A"/>
              </a:solidFill>
              <a:round/>
            </a:ln>
          </p:spPr>
        </p:sp>
        <p:sp>
          <p:nvSpPr>
            <p:cNvPr id="1049" name="Marker"/>
            <p:cNvSpPr/>
            <p:nvPr/>
          </p:nvSpPr>
          <p:spPr>
            <a:xfrm>
              <a:off x="1777365" y="4951705"/>
              <a:ext cx="100584" cy="100584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</a:ln>
          </p:spPr>
        </p:sp>
        <p:sp>
          <p:nvSpPr>
            <p:cNvPr id="1050" name="Marker"/>
            <p:cNvSpPr/>
            <p:nvPr/>
          </p:nvSpPr>
          <p:spPr>
            <a:xfrm>
              <a:off x="3384423" y="4987297"/>
              <a:ext cx="100584" cy="100584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</a:ln>
          </p:spPr>
        </p:sp>
        <p:sp>
          <p:nvSpPr>
            <p:cNvPr id="1051" name="Marker"/>
            <p:cNvSpPr/>
            <p:nvPr/>
          </p:nvSpPr>
          <p:spPr>
            <a:xfrm>
              <a:off x="4991481" y="4996194"/>
              <a:ext cx="100584" cy="100584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</a:ln>
          </p:spPr>
        </p:sp>
        <p:sp>
          <p:nvSpPr>
            <p:cNvPr id="1052" name="Marker"/>
            <p:cNvSpPr/>
            <p:nvPr/>
          </p:nvSpPr>
          <p:spPr>
            <a:xfrm>
              <a:off x="6598539" y="4984331"/>
              <a:ext cx="100584" cy="100584"/>
            </a:xfrm>
            <a:prstGeom prst="ellipse">
              <a:avLst/>
            </a:prstGeom>
            <a:solidFill>
              <a:srgbClr val="1BAF7A"/>
            </a:solidFill>
            <a:ln w="12700">
              <a:solidFill>
                <a:srgbClr val="FFFFFF"/>
              </a:solidFill>
            </a:ln>
          </p:spPr>
        </p:sp>
        <p:sp>
          <p:nvSpPr>
            <p:cNvPr id="1053" name="Series line"/>
            <p:cNvSpPr/>
            <p:nvPr/>
          </p:nvSpPr>
          <p:spPr>
            <a:xfrm>
              <a:off x="1827657" y="4660912"/>
              <a:ext cx="4821174" cy="323289"/>
            </a:xfrm>
            <a:custGeom>
              <a:avLst/>
              <a:gdLst/>
              <a:ahLst/>
              <a:cxnLst/>
              <a:rect l="0" t="0" r="r" b="b"/>
              <a:pathLst>
                <a:path w="4821174" h="323289" fill="none">
                  <a:moveTo>
                    <a:pt x="0" y="323289"/>
                  </a:moveTo>
                  <a:lnTo>
                    <a:pt x="1607058" y="284732"/>
                  </a:lnTo>
                  <a:lnTo>
                    <a:pt x="3214116" y="204651"/>
                  </a:lnTo>
                  <a:lnTo>
                    <a:pt x="4821174" y="0"/>
                  </a:lnTo>
                </a:path>
              </a:pathLst>
            </a:custGeom>
            <a:noFill/>
            <a:ln w="38100" cap="rnd">
              <a:solidFill>
                <a:srgbClr val="4A3AA7"/>
              </a:solidFill>
              <a:round/>
            </a:ln>
          </p:spPr>
        </p:sp>
        <p:sp>
          <p:nvSpPr>
            <p:cNvPr id="1054" name="Marker"/>
            <p:cNvSpPr/>
            <p:nvPr/>
          </p:nvSpPr>
          <p:spPr>
            <a:xfrm>
              <a:off x="1777365" y="4933909"/>
              <a:ext cx="100584" cy="100584"/>
            </a:xfrm>
            <a:prstGeom prst="ellipse">
              <a:avLst/>
            </a:prstGeom>
            <a:solidFill>
              <a:srgbClr val="4A3AA7"/>
            </a:solidFill>
            <a:ln w="12700">
              <a:solidFill>
                <a:srgbClr val="FFFFFF"/>
              </a:solidFill>
            </a:ln>
          </p:spPr>
        </p:sp>
        <p:sp>
          <p:nvSpPr>
            <p:cNvPr id="1055" name="Marker"/>
            <p:cNvSpPr/>
            <p:nvPr/>
          </p:nvSpPr>
          <p:spPr>
            <a:xfrm>
              <a:off x="3384423" y="4895352"/>
              <a:ext cx="100584" cy="100584"/>
            </a:xfrm>
            <a:prstGeom prst="ellipse">
              <a:avLst/>
            </a:prstGeom>
            <a:solidFill>
              <a:srgbClr val="4A3AA7"/>
            </a:solidFill>
            <a:ln w="12700">
              <a:solidFill>
                <a:srgbClr val="FFFFFF"/>
              </a:solidFill>
            </a:ln>
          </p:spPr>
        </p:sp>
        <p:sp>
          <p:nvSpPr>
            <p:cNvPr id="1056" name="Marker"/>
            <p:cNvSpPr/>
            <p:nvPr/>
          </p:nvSpPr>
          <p:spPr>
            <a:xfrm>
              <a:off x="4991481" y="4815271"/>
              <a:ext cx="100584" cy="100584"/>
            </a:xfrm>
            <a:prstGeom prst="ellipse">
              <a:avLst/>
            </a:prstGeom>
            <a:solidFill>
              <a:srgbClr val="4A3AA7"/>
            </a:solidFill>
            <a:ln w="12700">
              <a:solidFill>
                <a:srgbClr val="FFFFFF"/>
              </a:solidFill>
            </a:ln>
          </p:spPr>
        </p:sp>
        <p:sp>
          <p:nvSpPr>
            <p:cNvPr id="1057" name="Marker"/>
            <p:cNvSpPr/>
            <p:nvPr/>
          </p:nvSpPr>
          <p:spPr>
            <a:xfrm>
              <a:off x="6598539" y="4610620"/>
              <a:ext cx="100584" cy="100584"/>
            </a:xfrm>
            <a:prstGeom prst="ellipse">
              <a:avLst/>
            </a:prstGeom>
            <a:solidFill>
              <a:srgbClr val="4A3AA7"/>
            </a:solidFill>
            <a:ln w="12700">
              <a:solidFill>
                <a:srgbClr val="FFFFFF"/>
              </a:solidFill>
            </a:ln>
          </p:spPr>
        </p:sp>
        <p:sp>
          <p:nvSpPr>
            <p:cNvPr id="1058" name="Series line"/>
            <p:cNvSpPr/>
            <p:nvPr/>
          </p:nvSpPr>
          <p:spPr>
            <a:xfrm>
              <a:off x="1827657" y="5073180"/>
              <a:ext cx="4821174" cy="1"/>
            </a:xfrm>
            <a:custGeom>
              <a:avLst/>
              <a:gdLst/>
              <a:ahLst/>
              <a:cxnLst/>
              <a:rect l="0" t="0" r="r" b="b"/>
              <a:pathLst>
                <a:path w="4821174" h="1" fill="none">
                  <a:moveTo>
                    <a:pt x="0" y="0"/>
                  </a:moveTo>
                  <a:lnTo>
                    <a:pt x="1607058" y="0"/>
                  </a:lnTo>
                  <a:lnTo>
                    <a:pt x="3214116" y="0"/>
                  </a:lnTo>
                  <a:lnTo>
                    <a:pt x="4821174" y="0"/>
                  </a:lnTo>
                </a:path>
              </a:pathLst>
            </a:custGeom>
            <a:noFill/>
            <a:ln w="22225" cap="rnd">
              <a:solidFill>
                <a:srgbClr val="9AA3AD"/>
              </a:solidFill>
              <a:prstDash val="dash"/>
              <a:round/>
            </a:ln>
          </p:spPr>
        </p:sp>
        <p:cxnSp>
          <p:nvCxnSpPr>
            <p:cNvPr id="1059" name="Axis"/>
            <p:cNvCxnSpPr/>
            <p:nvPr/>
          </p:nvCxnSpPr>
          <p:spPr>
            <a:xfrm>
              <a:off x="1024128" y="5221478"/>
              <a:ext cx="6428232" cy="0"/>
            </a:xfrm>
            <a:prstGeom prst="line">
              <a:avLst/>
            </a:prstGeom>
            <a:ln w="12700">
              <a:solidFill>
                <a:srgbClr val="888888"/>
              </a:solidFill>
            </a:ln>
          </p:spPr>
        </p:cxnSp>
        <p:sp>
          <p:nvSpPr>
            <p:cNvPr id="1060" name="Category label"/>
            <p:cNvSpPr txBox="1"/>
            <p:nvPr/>
          </p:nvSpPr>
          <p:spPr>
            <a:xfrm>
              <a:off x="1024128" y="5294630"/>
              <a:ext cx="1607058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n = 50</a:t>
              </a:r>
            </a:p>
          </p:txBody>
        </p:sp>
        <p:sp>
          <p:nvSpPr>
            <p:cNvPr id="1061" name="Category label"/>
            <p:cNvSpPr txBox="1"/>
            <p:nvPr/>
          </p:nvSpPr>
          <p:spPr>
            <a:xfrm>
              <a:off x="2631186" y="5294630"/>
              <a:ext cx="1607058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n = 100</a:t>
              </a:r>
            </a:p>
          </p:txBody>
        </p:sp>
        <p:sp>
          <p:nvSpPr>
            <p:cNvPr id="1062" name="Category label"/>
            <p:cNvSpPr txBox="1"/>
            <p:nvPr/>
          </p:nvSpPr>
          <p:spPr>
            <a:xfrm>
              <a:off x="4238244" y="5294630"/>
              <a:ext cx="1607058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n = 200</a:t>
              </a:r>
            </a:p>
          </p:txBody>
        </p:sp>
        <p:sp>
          <p:nvSpPr>
            <p:cNvPr id="1063" name="Category label"/>
            <p:cNvSpPr txBox="1"/>
            <p:nvPr/>
          </p:nvSpPr>
          <p:spPr>
            <a:xfrm>
              <a:off x="5845302" y="5294630"/>
              <a:ext cx="1607058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n = 500</a:t>
              </a:r>
            </a:p>
          </p:txBody>
        </p:sp>
        <p:cxnSp>
          <p:nvCxnSpPr>
            <p:cNvPr id="1064" name="Legend key"/>
            <p:cNvCxnSpPr/>
            <p:nvPr/>
          </p:nvCxnSpPr>
          <p:spPr>
            <a:xfrm>
              <a:off x="918972" y="5685472"/>
              <a:ext cx="219456" cy="0"/>
            </a:xfrm>
            <a:prstGeom prst="line">
              <a:avLst/>
            </a:prstGeom>
            <a:ln w="28575">
              <a:solidFill>
                <a:srgbClr val="EB6834"/>
              </a:solidFill>
            </a:ln>
          </p:spPr>
        </p:cxnSp>
        <p:sp>
          <p:nvSpPr>
            <p:cNvPr id="1065" name="Legend label"/>
            <p:cNvSpPr txBox="1"/>
            <p:nvPr/>
          </p:nvSpPr>
          <p:spPr>
            <a:xfrm>
              <a:off x="1211580" y="5584190"/>
              <a:ext cx="1115568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th-TH" sz="11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สลับ label ทั้งชุด</a:t>
              </a:r>
            </a:p>
          </p:txBody>
        </p:sp>
        <p:cxnSp>
          <p:nvCxnSpPr>
            <p:cNvPr id="1066" name="Legend key"/>
            <p:cNvCxnSpPr/>
            <p:nvPr/>
          </p:nvCxnSpPr>
          <p:spPr>
            <a:xfrm>
              <a:off x="2464308" y="5685472"/>
              <a:ext cx="219456" cy="0"/>
            </a:xfrm>
            <a:prstGeom prst="line">
              <a:avLst/>
            </a:prstGeom>
            <a:ln w="28575">
              <a:solidFill>
                <a:srgbClr val="2A78D6"/>
              </a:solidFill>
            </a:ln>
          </p:spPr>
        </p:cxnSp>
        <p:sp>
          <p:nvSpPr>
            <p:cNvPr id="1067" name="Legend label"/>
            <p:cNvSpPr txBox="1"/>
            <p:nvPr/>
          </p:nvSpPr>
          <p:spPr>
            <a:xfrm>
              <a:off x="2756916" y="5584190"/>
              <a:ext cx="2423160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th-TH" sz="11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สลับคู่ตัวอย่าง (pairing-destroyed null)</a:t>
              </a:r>
            </a:p>
          </p:txBody>
        </p:sp>
        <p:cxnSp>
          <p:nvCxnSpPr>
            <p:cNvPr id="1068" name="Legend key"/>
            <p:cNvCxnSpPr/>
            <p:nvPr/>
          </p:nvCxnSpPr>
          <p:spPr>
            <a:xfrm>
              <a:off x="5317236" y="5685472"/>
              <a:ext cx="219456" cy="0"/>
            </a:xfrm>
            <a:prstGeom prst="line">
              <a:avLst/>
            </a:prstGeom>
            <a:ln w="28575">
              <a:solidFill>
                <a:srgbClr val="1BAF7A"/>
              </a:solidFill>
            </a:ln>
          </p:spPr>
        </p:cxnSp>
        <p:sp>
          <p:nvSpPr>
            <p:cNvPr id="1069" name="Legend label"/>
            <p:cNvSpPr txBox="1"/>
            <p:nvPr/>
          </p:nvSpPr>
          <p:spPr>
            <a:xfrm>
              <a:off x="5609844" y="5584190"/>
              <a:ext cx="1655064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th-TH" sz="11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หักทุกสารพร้อมกัน + สลับ</a:t>
              </a:r>
            </a:p>
          </p:txBody>
        </p:sp>
        <p:cxnSp>
          <p:nvCxnSpPr>
            <p:cNvPr id="1070" name="Legend key"/>
            <p:cNvCxnSpPr/>
            <p:nvPr/>
          </p:nvCxnSpPr>
          <p:spPr>
            <a:xfrm>
              <a:off x="2738628" y="5888038"/>
              <a:ext cx="219456" cy="0"/>
            </a:xfrm>
            <a:prstGeom prst="line">
              <a:avLst/>
            </a:prstGeom>
            <a:ln w="28575">
              <a:solidFill>
                <a:srgbClr val="4A3AA7"/>
              </a:solidFill>
            </a:ln>
          </p:spPr>
        </p:cxnSp>
        <p:sp>
          <p:nvSpPr>
            <p:cNvPr id="1071" name="Legend label"/>
            <p:cNvSpPr txBox="1"/>
            <p:nvPr/>
          </p:nvSpPr>
          <p:spPr>
            <a:xfrm>
              <a:off x="3031236" y="5786755"/>
              <a:ext cx="1225296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th-TH" sz="11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หักทีละสาร + สลับ</a:t>
              </a:r>
            </a:p>
          </p:txBody>
        </p:sp>
        <p:cxnSp>
          <p:nvCxnSpPr>
            <p:cNvPr id="1072" name="Legend key"/>
            <p:cNvCxnSpPr/>
            <p:nvPr/>
          </p:nvCxnSpPr>
          <p:spPr>
            <a:xfrm>
              <a:off x="4393692" y="5888038"/>
              <a:ext cx="219456" cy="0"/>
            </a:xfrm>
            <a:prstGeom prst="line">
              <a:avLst/>
            </a:prstGeom>
            <a:ln w="28575">
              <a:solidFill>
                <a:srgbClr val="9AA3AD"/>
              </a:solidFill>
              <a:prstDash val="dash"/>
            </a:ln>
          </p:spPr>
        </p:cxnSp>
        <p:sp>
          <p:nvSpPr>
            <p:cNvPr id="1073" name="Legend label"/>
            <p:cNvSpPr txBox="1"/>
            <p:nvPr/>
          </p:nvSpPr>
          <p:spPr>
            <a:xfrm>
              <a:off x="4686300" y="5786755"/>
              <a:ext cx="758952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th-TH" sz="11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เกณฑ์ 5%</a:t>
              </a:r>
            </a:p>
          </p:txBody>
        </p:sp>
      </p:grpSp>
      <p:sp>
        <p:nvSpPr>
          <p:cNvPr id="8" name="Point circle"/>
          <p:cNvSpPr/>
          <p:nvPr/>
        </p:nvSpPr>
        <p:spPr>
          <a:xfrm>
            <a:off x="7818120" y="2011680"/>
            <a:ext cx="731520" cy="73152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9" name="Point icon" descr="TimesCirc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685" y="2187245"/>
            <a:ext cx="380390" cy="38039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686800" y="2011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26% ถึง 100%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การสลับ label ทั้งชุดปฏิเสธ เมื่อ n เพิ่มจาก 50 เป็น 500</a:t>
            </a:r>
            <a:endParaRPr lang="en-US" sz="1600" dirty="0"/>
          </a:p>
        </p:txBody>
      </p:sp>
      <p:sp>
        <p:nvSpPr>
          <p:cNvPr id="11" name="Point circle"/>
          <p:cNvSpPr/>
          <p:nvPr/>
        </p:nvSpPr>
        <p:spPr>
          <a:xfrm>
            <a:off x="7818120" y="3291840"/>
            <a:ext cx="731520" cy="731520"/>
          </a:xfrm>
          <a:prstGeom prst="ellipse">
            <a:avLst/>
          </a:prstGeom>
          <a:solidFill>
            <a:srgbClr val="E3E7EC"/>
          </a:solidFill>
          <a:ln w="12700">
            <a:solidFill>
              <a:srgbClr val="E3E7EC"/>
            </a:solidFill>
            <a:prstDash val="solid"/>
          </a:ln>
        </p:spPr>
      </p:sp>
      <p:pic>
        <p:nvPicPr>
          <p:cNvPr id="12" name="Point icon" descr="ExclamationTriang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3685" y="3467405"/>
            <a:ext cx="380390" cy="38039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686800" y="3291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หักทีละสาร ยังไม่พอ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 ถึง 19% ที่นี่ (สูงสุด 29% ในการจำลองทั้งหมด)</a:t>
            </a:r>
            <a:endParaRPr lang="en-US" sz="1600" dirty="0"/>
          </a:p>
        </p:txBody>
      </p:sp>
      <p:sp>
        <p:nvSpPr>
          <p:cNvPr id="14" name="Point circle"/>
          <p:cNvSpPr/>
          <p:nvPr/>
        </p:nvSpPr>
        <p:spPr>
          <a:xfrm>
            <a:off x="7818120" y="4572000"/>
            <a:ext cx="731520" cy="73152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15" name="Point icon" descr="CheckCircl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3685" y="4747565"/>
            <a:ext cx="380390" cy="38039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8686800" y="4572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หักทุกสารพร้อมกัน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ถึง 8% สูงกว่าเกณฑ์ 5% เล็กน้อย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Heartbea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ทำซ้ำ  |  MTBLS881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ข้อมูลผ่าตัดหัวใจ เห็นรูปแบบเดียวกัน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หัวข้อ 4.3. MTBLS881 ผู้ป่วยผ่าตัดหัวใจ 47 คน เก็บเลือด 2 ตำแหน่ง (เอเทรียมซ้ายเป็นหลัก), -1 ชม. เทียบ 20 ชม., ผลลัพธ์ดิบ = อย่างน้อย 10 จาก 11 ตัวชี้วัด, เขียนแผนไว้ก่อนฝึกโมเดล. แท่ง = ค่าเฉลี่ย AP ราย fold; gap จากการทำนายที่รวมกัน bootstrap ระดับผู้ป่วย</a:t>
            </a:r>
            <a:endParaRPr lang="en-US" sz="1000" dirty="0"/>
          </a:p>
        </p:txBody>
      </p:sp>
      <p:grpSp>
        <p:nvGrpSpPr>
          <p:cNvPr id="1053" name="Chart 0 (drawn)"/>
          <p:cNvGrpSpPr/>
          <p:nvPr/>
        </p:nvGrpSpPr>
        <p:grpSpPr>
          <a:xfrm>
            <a:off x="548640" y="1874520"/>
            <a:ext cx="6035040" cy="4114800"/>
            <a:chOff x="548640" y="1874520"/>
            <a:chExt cx="6035040" cy="4114800"/>
          </a:xfrm>
        </p:grpSpPr>
        <p:sp>
          <p:nvSpPr>
            <p:cNvPr id="1026" name="Axis title"/>
            <p:cNvSpPr txBox="1"/>
            <p:nvPr/>
          </p:nvSpPr>
          <p:spPr>
            <a:xfrm>
              <a:off x="548640" y="1874520"/>
              <a:ext cx="6035040" cy="19812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th-TH" sz="12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PR-AUC (ผลลัพธ์แบบ raw change)</a:t>
              </a:r>
            </a:p>
          </p:txBody>
        </p:sp>
        <p:sp>
          <p:nvSpPr>
            <p:cNvPr id="1027" name="Tick label"/>
            <p:cNvSpPr txBox="1"/>
            <p:nvPr/>
          </p:nvSpPr>
          <p:spPr>
            <a:xfrm>
              <a:off x="548640" y="5135118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0.0</a:t>
              </a:r>
            </a:p>
          </p:txBody>
        </p:sp>
        <p:cxnSp>
          <p:nvCxnSpPr>
            <p:cNvPr id="1028" name="Gridline"/>
            <p:cNvCxnSpPr/>
            <p:nvPr/>
          </p:nvCxnSpPr>
          <p:spPr>
            <a:xfrm>
              <a:off x="850392" y="4672076"/>
              <a:ext cx="5687568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29" name="Tick label"/>
            <p:cNvSpPr txBox="1"/>
            <p:nvPr/>
          </p:nvSpPr>
          <p:spPr>
            <a:xfrm>
              <a:off x="548640" y="4581271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0.2</a:t>
              </a:r>
            </a:p>
          </p:txBody>
        </p:sp>
        <p:cxnSp>
          <p:nvCxnSpPr>
            <p:cNvPr id="1030" name="Gridline"/>
            <p:cNvCxnSpPr/>
            <p:nvPr/>
          </p:nvCxnSpPr>
          <p:spPr>
            <a:xfrm>
              <a:off x="850392" y="4118229"/>
              <a:ext cx="5687568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1" name="Tick label"/>
            <p:cNvSpPr txBox="1"/>
            <p:nvPr/>
          </p:nvSpPr>
          <p:spPr>
            <a:xfrm>
              <a:off x="548640" y="4027424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0.4</a:t>
              </a:r>
            </a:p>
          </p:txBody>
        </p:sp>
        <p:cxnSp>
          <p:nvCxnSpPr>
            <p:cNvPr id="1032" name="Gridline"/>
            <p:cNvCxnSpPr/>
            <p:nvPr/>
          </p:nvCxnSpPr>
          <p:spPr>
            <a:xfrm>
              <a:off x="850392" y="3564382"/>
              <a:ext cx="5687568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3" name="Tick label"/>
            <p:cNvSpPr txBox="1"/>
            <p:nvPr/>
          </p:nvSpPr>
          <p:spPr>
            <a:xfrm>
              <a:off x="548640" y="3473577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0.6</a:t>
              </a:r>
            </a:p>
          </p:txBody>
        </p:sp>
        <p:cxnSp>
          <p:nvCxnSpPr>
            <p:cNvPr id="1034" name="Gridline"/>
            <p:cNvCxnSpPr/>
            <p:nvPr/>
          </p:nvCxnSpPr>
          <p:spPr>
            <a:xfrm>
              <a:off x="850392" y="3010535"/>
              <a:ext cx="5687568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5" name="Tick label"/>
            <p:cNvSpPr txBox="1"/>
            <p:nvPr/>
          </p:nvSpPr>
          <p:spPr>
            <a:xfrm>
              <a:off x="548640" y="2919730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0.8</a:t>
              </a:r>
            </a:p>
          </p:txBody>
        </p:sp>
        <p:cxnSp>
          <p:nvCxnSpPr>
            <p:cNvPr id="1036" name="Gridline"/>
            <p:cNvCxnSpPr/>
            <p:nvPr/>
          </p:nvCxnSpPr>
          <p:spPr>
            <a:xfrm>
              <a:off x="850392" y="2456688"/>
              <a:ext cx="5687568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7" name="Tick label"/>
            <p:cNvSpPr txBox="1"/>
            <p:nvPr/>
          </p:nvSpPr>
          <p:spPr>
            <a:xfrm>
              <a:off x="548640" y="2365883"/>
              <a:ext cx="22860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1.0</a:t>
              </a:r>
            </a:p>
          </p:txBody>
        </p:sp>
        <p:sp>
          <p:nvSpPr>
            <p:cNvPr id="1038" name="Bar"/>
            <p:cNvSpPr/>
            <p:nvPr/>
          </p:nvSpPr>
          <p:spPr>
            <a:xfrm>
              <a:off x="1261161" y="3475766"/>
              <a:ext cx="968993" cy="1750157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39" name="Value label"/>
            <p:cNvSpPr txBox="1"/>
            <p:nvPr/>
          </p:nvSpPr>
          <p:spPr>
            <a:xfrm>
              <a:off x="986841" y="3224560"/>
              <a:ext cx="1517633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0.632</a:t>
              </a:r>
            </a:p>
          </p:txBody>
        </p:sp>
        <p:sp>
          <p:nvSpPr>
            <p:cNvPr id="1040" name="Bar"/>
            <p:cNvSpPr/>
            <p:nvPr/>
          </p:nvSpPr>
          <p:spPr>
            <a:xfrm>
              <a:off x="2314414" y="3301305"/>
              <a:ext cx="968993" cy="1924618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41" name="Value label"/>
            <p:cNvSpPr txBox="1"/>
            <p:nvPr/>
          </p:nvSpPr>
          <p:spPr>
            <a:xfrm>
              <a:off x="2040094" y="3050099"/>
              <a:ext cx="1517633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0.695</a:t>
              </a:r>
            </a:p>
          </p:txBody>
        </p:sp>
        <p:sp>
          <p:nvSpPr>
            <p:cNvPr id="1042" name="Bar"/>
            <p:cNvSpPr/>
            <p:nvPr/>
          </p:nvSpPr>
          <p:spPr>
            <a:xfrm>
              <a:off x="4104945" y="3129612"/>
              <a:ext cx="968993" cy="2096311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43" name="Value label"/>
            <p:cNvSpPr txBox="1"/>
            <p:nvPr/>
          </p:nvSpPr>
          <p:spPr>
            <a:xfrm>
              <a:off x="3830625" y="2878406"/>
              <a:ext cx="1517633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0.757</a:t>
              </a:r>
            </a:p>
          </p:txBody>
        </p:sp>
        <p:sp>
          <p:nvSpPr>
            <p:cNvPr id="1044" name="Bar"/>
            <p:cNvSpPr/>
            <p:nvPr/>
          </p:nvSpPr>
          <p:spPr>
            <a:xfrm>
              <a:off x="5158198" y="3223766"/>
              <a:ext cx="968993" cy="2002157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45" name="Value label"/>
            <p:cNvSpPr txBox="1"/>
            <p:nvPr/>
          </p:nvSpPr>
          <p:spPr>
            <a:xfrm>
              <a:off x="4883878" y="2972560"/>
              <a:ext cx="1517633" cy="214630"/>
            </a:xfrm>
            <a:prstGeom prst="rect">
              <a:avLst/>
            </a:prstGeom>
            <a:noFill/>
          </p:spPr>
          <p:txBody>
            <a:bodyPr wrap="none" lIns="0" tIns="0" rIns="0" bIns="0" rtlCol="0" anchor="b">
              <a:noAutofit/>
            </a:bodyPr>
            <a:lstStyle/>
            <a:p>
              <a:pPr algn="ctr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0.723</a:t>
              </a:r>
            </a:p>
          </p:txBody>
        </p:sp>
        <p:cxnSp>
          <p:nvCxnSpPr>
            <p:cNvPr id="1046" name="Axis"/>
            <p:cNvCxnSpPr/>
            <p:nvPr/>
          </p:nvCxnSpPr>
          <p:spPr>
            <a:xfrm>
              <a:off x="850392" y="5225923"/>
              <a:ext cx="5687568" cy="0"/>
            </a:xfrm>
            <a:prstGeom prst="line">
              <a:avLst/>
            </a:prstGeom>
            <a:ln w="12700">
              <a:solidFill>
                <a:srgbClr val="888888"/>
              </a:solidFill>
            </a:ln>
          </p:spPr>
        </p:cxnSp>
        <p:sp>
          <p:nvSpPr>
            <p:cNvPr id="1047" name="Category label"/>
            <p:cNvSpPr txBox="1"/>
            <p:nvPr/>
          </p:nvSpPr>
          <p:spPr>
            <a:xfrm>
              <a:off x="850392" y="5299075"/>
              <a:ext cx="2843784" cy="4693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เอเทรียมซ้าย</a:t>
              </a:r>
            </a:p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(ตำแหน่งหลัก)</a:t>
              </a:r>
            </a:p>
          </p:txBody>
        </p:sp>
        <p:sp>
          <p:nvSpPr>
            <p:cNvPr id="1048" name="Category label"/>
            <p:cNvSpPr txBox="1"/>
            <p:nvPr/>
          </p:nvSpPr>
          <p:spPr>
            <a:xfrm>
              <a:off x="3694176" y="5299075"/>
              <a:ext cx="2843784" cy="4693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หลอดเลือดแดงปอด</a:t>
              </a:r>
            </a:p>
          </p:txBody>
        </p:sp>
        <p:sp>
          <p:nvSpPr>
            <p:cNvPr id="1049" name="Legend key"/>
            <p:cNvSpPr/>
            <p:nvPr/>
          </p:nvSpPr>
          <p:spPr>
            <a:xfrm>
              <a:off x="2016252" y="5824029"/>
              <a:ext cx="128016" cy="128016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50" name="Legend label"/>
            <p:cNvSpPr txBox="1"/>
            <p:nvPr/>
          </p:nvSpPr>
          <p:spPr>
            <a:xfrm>
              <a:off x="2272284" y="5786755"/>
              <a:ext cx="1014984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th-TH" sz="11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โมเดลที่ฝึกแล้ว</a:t>
              </a:r>
            </a:p>
          </p:txBody>
        </p:sp>
        <p:sp>
          <p:nvSpPr>
            <p:cNvPr id="1051" name="Legend key"/>
            <p:cNvSpPr/>
            <p:nvPr/>
          </p:nvSpPr>
          <p:spPr>
            <a:xfrm>
              <a:off x="3461004" y="5824029"/>
              <a:ext cx="128016" cy="128016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52" name="Legend label"/>
            <p:cNvSpPr txBox="1"/>
            <p:nvPr/>
          </p:nvSpPr>
          <p:spPr>
            <a:xfrm>
              <a:off x="3717036" y="5786755"/>
              <a:ext cx="1572768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th-TH" sz="11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คะแนนอ้างอิงที่ไม่ต้องฝึก</a:t>
              </a:r>
            </a:p>
          </p:txBody>
        </p:sp>
      </p:grpSp>
      <p:sp>
        <p:nvSpPr>
          <p:cNvPr id="8" name="Point circle"/>
          <p:cNvSpPr/>
          <p:nvPr/>
        </p:nvSpPr>
        <p:spPr>
          <a:xfrm>
            <a:off x="6903720" y="2011680"/>
            <a:ext cx="731520" cy="73152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9" name="Point icon" descr="CheckCirc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285" y="2187245"/>
            <a:ext cx="380390" cy="38039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772400" y="20116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 raw change เหมือนเดิม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 label ได้ p = 0.007 ทั้งสองตำแหน่ง แต่ไม่มีตำแหน่งไหนชนะคะแนนอ้างอิงที่ไม่ต้องฝึก</a:t>
            </a:r>
            <a:endParaRPr lang="en-US" sz="1600" dirty="0"/>
          </a:p>
        </p:txBody>
      </p:sp>
      <p:sp>
        <p:nvSpPr>
          <p:cNvPr id="11" name="Point circle"/>
          <p:cNvSpPr/>
          <p:nvPr/>
        </p:nvSpPr>
        <p:spPr>
          <a:xfrm>
            <a:off x="6903720" y="3337560"/>
            <a:ext cx="731520" cy="731520"/>
          </a:xfrm>
          <a:prstGeom prst="ellipse">
            <a:avLst/>
          </a:prstGeom>
          <a:solidFill>
            <a:srgbClr val="E3E7EC"/>
          </a:solidFill>
          <a:ln w="12700">
            <a:solidFill>
              <a:srgbClr val="E3E7EC"/>
            </a:solidFill>
            <a:prstDash val="solid"/>
          </a:ln>
        </p:spPr>
      </p:sp>
      <p:pic>
        <p:nvPicPr>
          <p:cNvPr id="12" name="Point icon" descr="QuestionCirc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285" y="3513125"/>
            <a:ext cx="380390" cy="38039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772400" y="3337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ช่วงของ gap คร่อมศูนย์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เอเทรียมซ้าย -0.037 [-0.231, +0.118] / หลอดเลือดแดงปอด +0.013 [-0.111, +0.154]</a:t>
            </a:r>
            <a:endParaRPr lang="en-US" sz="1600" dirty="0"/>
          </a:p>
        </p:txBody>
      </p:sp>
      <p:sp>
        <p:nvSpPr>
          <p:cNvPr id="14" name="Point circle"/>
          <p:cNvSpPr/>
          <p:nvPr/>
        </p:nvSpPr>
        <p:spPr>
          <a:xfrm>
            <a:off x="6903720" y="4663440"/>
            <a:ext cx="731520" cy="73152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15" name="Point icon" descr="Capsule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285" y="4839005"/>
            <a:ext cx="380390" cy="38039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7772400" y="46634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สองตำแหน่ง ผู้ป่วยชุดเดียวกัน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เป็นข้อมูลที่สัมพันธ์กัน ไม่ใช่การทำซ้ำสองครั้ง หลังหักพร้อมกัน 47 คนยังบอกไม่ได้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Flas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กรณีที่ 2  |  สารที่ยังไม่ทราบแหล่งที่มา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ROAR เห็นว่าฟีเจอร์ "สำคัญ" แต่ไม่รู้ว่ามาจากไหน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หัวข้อ 4.4. recursive ROAR (เชิงสำรวจ), CV แบ่งตามผู้ป่วย (10 x 5), สุ่มตัด 500 ชุดต่อ k. ต่างกัน 0.0056 เทียบ SD ระหว่าง fold ราว 0.03 ไม่ได้ทดสอบความเท่ากัน. อันดับ SHAP คำนวณจากทั้ง 177 ตัวอย่าง จึงมี selection bias</a:t>
            </a:r>
            <a:endParaRPr lang="en-US" sz="1000" dirty="0"/>
          </a:p>
        </p:txBody>
      </p:sp>
      <p:grpSp>
        <p:nvGrpSpPr>
          <p:cNvPr id="1082" name="Chart 0 (drawn)"/>
          <p:cNvGrpSpPr/>
          <p:nvPr/>
        </p:nvGrpSpPr>
        <p:grpSpPr>
          <a:xfrm>
            <a:off x="548640" y="1874520"/>
            <a:ext cx="6949440" cy="4114800"/>
            <a:chOff x="548640" y="1874520"/>
            <a:chExt cx="6949440" cy="4114800"/>
          </a:xfrm>
        </p:grpSpPr>
        <p:sp>
          <p:nvSpPr>
            <p:cNvPr id="1026" name="Axis title"/>
            <p:cNvSpPr txBox="1"/>
            <p:nvPr/>
          </p:nvSpPr>
          <p:spPr>
            <a:xfrm>
              <a:off x="548640" y="1874520"/>
              <a:ext cx="6949440" cy="19812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th-TH" sz="12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PR-AUC หลังฝึกใหม่</a:t>
              </a:r>
            </a:p>
          </p:txBody>
        </p:sp>
        <p:sp>
          <p:nvSpPr>
            <p:cNvPr id="1027" name="Tick label"/>
            <p:cNvSpPr txBox="1"/>
            <p:nvPr/>
          </p:nvSpPr>
          <p:spPr>
            <a:xfrm>
              <a:off x="548640" y="5080254"/>
              <a:ext cx="310896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0.78</a:t>
              </a:r>
            </a:p>
          </p:txBody>
        </p:sp>
        <p:cxnSp>
          <p:nvCxnSpPr>
            <p:cNvPr id="1028" name="Gridline"/>
            <p:cNvCxnSpPr/>
            <p:nvPr/>
          </p:nvCxnSpPr>
          <p:spPr>
            <a:xfrm>
              <a:off x="932688" y="4640961"/>
              <a:ext cx="6519672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29" name="Tick label"/>
            <p:cNvSpPr txBox="1"/>
            <p:nvPr/>
          </p:nvSpPr>
          <p:spPr>
            <a:xfrm>
              <a:off x="548640" y="4550156"/>
              <a:ext cx="310896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0.82</a:t>
              </a:r>
            </a:p>
          </p:txBody>
        </p:sp>
        <p:cxnSp>
          <p:nvCxnSpPr>
            <p:cNvPr id="1030" name="Gridline"/>
            <p:cNvCxnSpPr/>
            <p:nvPr/>
          </p:nvCxnSpPr>
          <p:spPr>
            <a:xfrm>
              <a:off x="932688" y="4110863"/>
              <a:ext cx="6519672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1" name="Tick label"/>
            <p:cNvSpPr txBox="1"/>
            <p:nvPr/>
          </p:nvSpPr>
          <p:spPr>
            <a:xfrm>
              <a:off x="548640" y="4020058"/>
              <a:ext cx="310896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0.86</a:t>
              </a:r>
            </a:p>
          </p:txBody>
        </p:sp>
        <p:cxnSp>
          <p:nvCxnSpPr>
            <p:cNvPr id="1032" name="Gridline"/>
            <p:cNvCxnSpPr/>
            <p:nvPr/>
          </p:nvCxnSpPr>
          <p:spPr>
            <a:xfrm>
              <a:off x="932688" y="3580765"/>
              <a:ext cx="6519672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3" name="Tick label"/>
            <p:cNvSpPr txBox="1"/>
            <p:nvPr/>
          </p:nvSpPr>
          <p:spPr>
            <a:xfrm>
              <a:off x="548640" y="3489960"/>
              <a:ext cx="310896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0.90</a:t>
              </a:r>
            </a:p>
          </p:txBody>
        </p:sp>
        <p:cxnSp>
          <p:nvCxnSpPr>
            <p:cNvPr id="1034" name="Gridline"/>
            <p:cNvCxnSpPr/>
            <p:nvPr/>
          </p:nvCxnSpPr>
          <p:spPr>
            <a:xfrm>
              <a:off x="932688" y="3050667"/>
              <a:ext cx="6519672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5" name="Tick label"/>
            <p:cNvSpPr txBox="1"/>
            <p:nvPr/>
          </p:nvSpPr>
          <p:spPr>
            <a:xfrm>
              <a:off x="548640" y="2959862"/>
              <a:ext cx="310896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0.94</a:t>
              </a:r>
            </a:p>
          </p:txBody>
        </p:sp>
        <p:cxnSp>
          <p:nvCxnSpPr>
            <p:cNvPr id="1036" name="Gridline"/>
            <p:cNvCxnSpPr/>
            <p:nvPr/>
          </p:nvCxnSpPr>
          <p:spPr>
            <a:xfrm>
              <a:off x="932688" y="2520569"/>
              <a:ext cx="6519672" cy="0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7" name="Tick label"/>
            <p:cNvSpPr txBox="1"/>
            <p:nvPr/>
          </p:nvSpPr>
          <p:spPr>
            <a:xfrm>
              <a:off x="548640" y="2429764"/>
              <a:ext cx="310896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0.98</a:t>
              </a:r>
            </a:p>
          </p:txBody>
        </p:sp>
        <p:sp>
          <p:nvSpPr>
            <p:cNvPr id="1038" name="Series line"/>
            <p:cNvSpPr/>
            <p:nvPr/>
          </p:nvSpPr>
          <p:spPr>
            <a:xfrm>
              <a:off x="1229037" y="2719356"/>
              <a:ext cx="5926975" cy="2160149"/>
            </a:xfrm>
            <a:custGeom>
              <a:avLst/>
              <a:gdLst/>
              <a:ahLst/>
              <a:cxnLst/>
              <a:rect l="0" t="0" r="r" b="b"/>
              <a:pathLst>
                <a:path w="5926975" h="2160149" fill="none">
                  <a:moveTo>
                    <a:pt x="0" y="0"/>
                  </a:moveTo>
                  <a:lnTo>
                    <a:pt x="592697" y="0"/>
                  </a:lnTo>
                  <a:lnTo>
                    <a:pt x="1185395" y="145777"/>
                  </a:lnTo>
                  <a:lnTo>
                    <a:pt x="1778092" y="265049"/>
                  </a:lnTo>
                  <a:lnTo>
                    <a:pt x="2370790" y="490341"/>
                  </a:lnTo>
                  <a:lnTo>
                    <a:pt x="2963487" y="728885"/>
                  </a:lnTo>
                  <a:lnTo>
                    <a:pt x="3556185" y="1060196"/>
                  </a:lnTo>
                  <a:lnTo>
                    <a:pt x="4148882" y="1365002"/>
                  </a:lnTo>
                  <a:lnTo>
                    <a:pt x="4741580" y="1550537"/>
                  </a:lnTo>
                  <a:lnTo>
                    <a:pt x="5334277" y="1855343"/>
                  </a:lnTo>
                  <a:lnTo>
                    <a:pt x="5926975" y="2160149"/>
                  </a:lnTo>
                </a:path>
              </a:pathLst>
            </a:custGeom>
            <a:noFill/>
            <a:ln w="38100" cap="rnd">
              <a:solidFill>
                <a:srgbClr val="EB6834"/>
              </a:solidFill>
              <a:round/>
            </a:ln>
          </p:spPr>
        </p:sp>
        <p:sp>
          <p:nvSpPr>
            <p:cNvPr id="1039" name="Marker"/>
            <p:cNvSpPr/>
            <p:nvPr/>
          </p:nvSpPr>
          <p:spPr>
            <a:xfrm>
              <a:off x="1178745" y="2669064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0" name="Marker"/>
            <p:cNvSpPr/>
            <p:nvPr/>
          </p:nvSpPr>
          <p:spPr>
            <a:xfrm>
              <a:off x="1771442" y="2669064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1" name="Marker"/>
            <p:cNvSpPr/>
            <p:nvPr/>
          </p:nvSpPr>
          <p:spPr>
            <a:xfrm>
              <a:off x="2364140" y="2814841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2" name="Marker"/>
            <p:cNvSpPr/>
            <p:nvPr/>
          </p:nvSpPr>
          <p:spPr>
            <a:xfrm>
              <a:off x="2956837" y="2934113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3" name="Marker"/>
            <p:cNvSpPr/>
            <p:nvPr/>
          </p:nvSpPr>
          <p:spPr>
            <a:xfrm>
              <a:off x="3549535" y="3159404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4" name="Marker"/>
            <p:cNvSpPr/>
            <p:nvPr/>
          </p:nvSpPr>
          <p:spPr>
            <a:xfrm>
              <a:off x="4142232" y="3397948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5" name="Marker"/>
            <p:cNvSpPr/>
            <p:nvPr/>
          </p:nvSpPr>
          <p:spPr>
            <a:xfrm>
              <a:off x="4734929" y="3729260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6" name="Marker"/>
            <p:cNvSpPr/>
            <p:nvPr/>
          </p:nvSpPr>
          <p:spPr>
            <a:xfrm>
              <a:off x="5327627" y="4034066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7" name="Marker"/>
            <p:cNvSpPr/>
            <p:nvPr/>
          </p:nvSpPr>
          <p:spPr>
            <a:xfrm>
              <a:off x="5920324" y="4219600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8" name="Marker"/>
            <p:cNvSpPr/>
            <p:nvPr/>
          </p:nvSpPr>
          <p:spPr>
            <a:xfrm>
              <a:off x="6513022" y="4524407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49" name="Marker"/>
            <p:cNvSpPr/>
            <p:nvPr/>
          </p:nvSpPr>
          <p:spPr>
            <a:xfrm>
              <a:off x="7105719" y="4829213"/>
              <a:ext cx="100584" cy="100584"/>
            </a:xfrm>
            <a:prstGeom prst="ellipse">
              <a:avLst/>
            </a:prstGeom>
            <a:solidFill>
              <a:srgbClr val="EB6834"/>
            </a:solidFill>
            <a:ln w="12700">
              <a:solidFill>
                <a:srgbClr val="FFFFFF"/>
              </a:solidFill>
            </a:ln>
          </p:spPr>
        </p:sp>
        <p:sp>
          <p:nvSpPr>
            <p:cNvPr id="1050" name="Series line"/>
            <p:cNvSpPr/>
            <p:nvPr/>
          </p:nvSpPr>
          <p:spPr>
            <a:xfrm>
              <a:off x="1229037" y="2626589"/>
              <a:ext cx="5926975" cy="304806"/>
            </a:xfrm>
            <a:custGeom>
              <a:avLst/>
              <a:gdLst/>
              <a:ahLst/>
              <a:cxnLst/>
              <a:rect l="0" t="0" r="r" b="b"/>
              <a:pathLst>
                <a:path w="5926975" h="304806" fill="none">
                  <a:moveTo>
                    <a:pt x="0" y="0"/>
                  </a:moveTo>
                  <a:lnTo>
                    <a:pt x="592697" y="13252"/>
                  </a:lnTo>
                  <a:lnTo>
                    <a:pt x="1185395" y="26505"/>
                  </a:lnTo>
                  <a:lnTo>
                    <a:pt x="1778092" y="53010"/>
                  </a:lnTo>
                  <a:lnTo>
                    <a:pt x="2370790" y="66262"/>
                  </a:lnTo>
                  <a:lnTo>
                    <a:pt x="2963487" y="92767"/>
                  </a:lnTo>
                  <a:lnTo>
                    <a:pt x="3556185" y="119272"/>
                  </a:lnTo>
                  <a:lnTo>
                    <a:pt x="4148882" y="145777"/>
                  </a:lnTo>
                  <a:lnTo>
                    <a:pt x="4741580" y="185534"/>
                  </a:lnTo>
                  <a:lnTo>
                    <a:pt x="5334277" y="225292"/>
                  </a:lnTo>
                  <a:lnTo>
                    <a:pt x="5926975" y="304806"/>
                  </a:lnTo>
                </a:path>
              </a:pathLst>
            </a:custGeom>
            <a:noFill/>
            <a:ln w="38100" cap="rnd">
              <a:solidFill>
                <a:srgbClr val="2A78D6"/>
              </a:solidFill>
              <a:round/>
            </a:ln>
          </p:spPr>
        </p:sp>
        <p:sp>
          <p:nvSpPr>
            <p:cNvPr id="1051" name="Marker"/>
            <p:cNvSpPr/>
            <p:nvPr/>
          </p:nvSpPr>
          <p:spPr>
            <a:xfrm>
              <a:off x="1178745" y="2576297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52" name="Marker"/>
            <p:cNvSpPr/>
            <p:nvPr/>
          </p:nvSpPr>
          <p:spPr>
            <a:xfrm>
              <a:off x="1771442" y="2589549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53" name="Marker"/>
            <p:cNvSpPr/>
            <p:nvPr/>
          </p:nvSpPr>
          <p:spPr>
            <a:xfrm>
              <a:off x="2364140" y="2602802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54" name="Marker"/>
            <p:cNvSpPr/>
            <p:nvPr/>
          </p:nvSpPr>
          <p:spPr>
            <a:xfrm>
              <a:off x="2956837" y="2629306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55" name="Marker"/>
            <p:cNvSpPr/>
            <p:nvPr/>
          </p:nvSpPr>
          <p:spPr>
            <a:xfrm>
              <a:off x="3549535" y="2642559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56" name="Marker"/>
            <p:cNvSpPr/>
            <p:nvPr/>
          </p:nvSpPr>
          <p:spPr>
            <a:xfrm>
              <a:off x="4142232" y="2669064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57" name="Marker"/>
            <p:cNvSpPr/>
            <p:nvPr/>
          </p:nvSpPr>
          <p:spPr>
            <a:xfrm>
              <a:off x="4734929" y="2695569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58" name="Marker"/>
            <p:cNvSpPr/>
            <p:nvPr/>
          </p:nvSpPr>
          <p:spPr>
            <a:xfrm>
              <a:off x="5327627" y="2722074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59" name="Marker"/>
            <p:cNvSpPr/>
            <p:nvPr/>
          </p:nvSpPr>
          <p:spPr>
            <a:xfrm>
              <a:off x="5920324" y="2761831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60" name="Marker"/>
            <p:cNvSpPr/>
            <p:nvPr/>
          </p:nvSpPr>
          <p:spPr>
            <a:xfrm>
              <a:off x="6513022" y="2801588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61" name="Marker"/>
            <p:cNvSpPr/>
            <p:nvPr/>
          </p:nvSpPr>
          <p:spPr>
            <a:xfrm>
              <a:off x="7105719" y="2881103"/>
              <a:ext cx="100584" cy="100584"/>
            </a:xfrm>
            <a:prstGeom prst="ellipse">
              <a:avLst/>
            </a:prstGeom>
            <a:solidFill>
              <a:srgbClr val="2A78D6"/>
            </a:solidFill>
            <a:ln w="12700">
              <a:solidFill>
                <a:srgbClr val="FFFFFF"/>
              </a:solidFill>
            </a:ln>
          </p:spPr>
        </p:sp>
        <p:sp>
          <p:nvSpPr>
            <p:cNvPr id="1062" name="Series line"/>
            <p:cNvSpPr/>
            <p:nvPr/>
          </p:nvSpPr>
          <p:spPr>
            <a:xfrm>
              <a:off x="1229037" y="2692851"/>
              <a:ext cx="5926975" cy="848157"/>
            </a:xfrm>
            <a:custGeom>
              <a:avLst/>
              <a:gdLst/>
              <a:ahLst/>
              <a:cxnLst/>
              <a:rect l="0" t="0" r="r" b="b"/>
              <a:pathLst>
                <a:path w="5926975" h="848157" fill="none">
                  <a:moveTo>
                    <a:pt x="0" y="0"/>
                  </a:moveTo>
                  <a:lnTo>
                    <a:pt x="592697" y="53010"/>
                  </a:lnTo>
                  <a:lnTo>
                    <a:pt x="1185395" y="79515"/>
                  </a:lnTo>
                  <a:lnTo>
                    <a:pt x="1778092" y="145777"/>
                  </a:lnTo>
                  <a:lnTo>
                    <a:pt x="2370790" y="185534"/>
                  </a:lnTo>
                  <a:lnTo>
                    <a:pt x="2963487" y="278301"/>
                  </a:lnTo>
                  <a:lnTo>
                    <a:pt x="3556185" y="304806"/>
                  </a:lnTo>
                  <a:lnTo>
                    <a:pt x="4148882" y="437331"/>
                  </a:lnTo>
                  <a:lnTo>
                    <a:pt x="4741580" y="556603"/>
                  </a:lnTo>
                  <a:lnTo>
                    <a:pt x="5334277" y="662622"/>
                  </a:lnTo>
                  <a:lnTo>
                    <a:pt x="5926975" y="848157"/>
                  </a:lnTo>
                </a:path>
              </a:pathLst>
            </a:custGeom>
            <a:noFill/>
            <a:ln w="22225" cap="rnd">
              <a:solidFill>
                <a:srgbClr val="9AA3AD"/>
              </a:solidFill>
              <a:prstDash val="dash"/>
              <a:round/>
            </a:ln>
          </p:spPr>
        </p:sp>
        <p:cxnSp>
          <p:nvCxnSpPr>
            <p:cNvPr id="1063" name="Axis"/>
            <p:cNvCxnSpPr/>
            <p:nvPr/>
          </p:nvCxnSpPr>
          <p:spPr>
            <a:xfrm>
              <a:off x="932688" y="5171059"/>
              <a:ext cx="6519672" cy="0"/>
            </a:xfrm>
            <a:prstGeom prst="line">
              <a:avLst/>
            </a:prstGeom>
            <a:ln w="12700">
              <a:solidFill>
                <a:srgbClr val="888888"/>
              </a:solidFill>
            </a:ln>
          </p:spPr>
        </p:cxnSp>
        <p:sp>
          <p:nvSpPr>
            <p:cNvPr id="1064" name="Category label"/>
            <p:cNvSpPr txBox="1"/>
            <p:nvPr/>
          </p:nvSpPr>
          <p:spPr>
            <a:xfrm>
              <a:off x="932688" y="5244211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1</a:t>
              </a:r>
            </a:p>
          </p:txBody>
        </p:sp>
        <p:sp>
          <p:nvSpPr>
            <p:cNvPr id="1065" name="Category label"/>
            <p:cNvSpPr txBox="1"/>
            <p:nvPr/>
          </p:nvSpPr>
          <p:spPr>
            <a:xfrm>
              <a:off x="1525385" y="5244211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2</a:t>
              </a:r>
            </a:p>
          </p:txBody>
        </p:sp>
        <p:sp>
          <p:nvSpPr>
            <p:cNvPr id="1066" name="Category label"/>
            <p:cNvSpPr txBox="1"/>
            <p:nvPr/>
          </p:nvSpPr>
          <p:spPr>
            <a:xfrm>
              <a:off x="2118083" y="5244211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3</a:t>
              </a:r>
            </a:p>
          </p:txBody>
        </p:sp>
        <p:sp>
          <p:nvSpPr>
            <p:cNvPr id="1067" name="Category label"/>
            <p:cNvSpPr txBox="1"/>
            <p:nvPr/>
          </p:nvSpPr>
          <p:spPr>
            <a:xfrm>
              <a:off x="2710780" y="5244211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4</a:t>
              </a:r>
            </a:p>
          </p:txBody>
        </p:sp>
        <p:sp>
          <p:nvSpPr>
            <p:cNvPr id="1068" name="Category label"/>
            <p:cNvSpPr txBox="1"/>
            <p:nvPr/>
          </p:nvSpPr>
          <p:spPr>
            <a:xfrm>
              <a:off x="3303478" y="5244211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5</a:t>
              </a:r>
            </a:p>
          </p:txBody>
        </p:sp>
        <p:sp>
          <p:nvSpPr>
            <p:cNvPr id="1069" name="Category label"/>
            <p:cNvSpPr txBox="1"/>
            <p:nvPr/>
          </p:nvSpPr>
          <p:spPr>
            <a:xfrm>
              <a:off x="3896175" y="5244211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6</a:t>
              </a:r>
            </a:p>
          </p:txBody>
        </p:sp>
        <p:sp>
          <p:nvSpPr>
            <p:cNvPr id="1070" name="Category label"/>
            <p:cNvSpPr txBox="1"/>
            <p:nvPr/>
          </p:nvSpPr>
          <p:spPr>
            <a:xfrm>
              <a:off x="4488873" y="5244211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7</a:t>
              </a:r>
            </a:p>
          </p:txBody>
        </p:sp>
        <p:sp>
          <p:nvSpPr>
            <p:cNvPr id="1071" name="Category label"/>
            <p:cNvSpPr txBox="1"/>
            <p:nvPr/>
          </p:nvSpPr>
          <p:spPr>
            <a:xfrm>
              <a:off x="5081570" y="5244211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8</a:t>
              </a:r>
            </a:p>
          </p:txBody>
        </p:sp>
        <p:sp>
          <p:nvSpPr>
            <p:cNvPr id="1072" name="Category label"/>
            <p:cNvSpPr txBox="1"/>
            <p:nvPr/>
          </p:nvSpPr>
          <p:spPr>
            <a:xfrm>
              <a:off x="5674268" y="5244211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9</a:t>
              </a:r>
            </a:p>
          </p:txBody>
        </p:sp>
        <p:sp>
          <p:nvSpPr>
            <p:cNvPr id="1073" name="Category label"/>
            <p:cNvSpPr txBox="1"/>
            <p:nvPr/>
          </p:nvSpPr>
          <p:spPr>
            <a:xfrm>
              <a:off x="6266965" y="5244211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10</a:t>
              </a:r>
            </a:p>
          </p:txBody>
        </p:sp>
        <p:sp>
          <p:nvSpPr>
            <p:cNvPr id="1074" name="Category label"/>
            <p:cNvSpPr txBox="1"/>
            <p:nvPr/>
          </p:nvSpPr>
          <p:spPr>
            <a:xfrm>
              <a:off x="6859663" y="5244211"/>
              <a:ext cx="592697" cy="2712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11</a:t>
              </a:r>
            </a:p>
          </p:txBody>
        </p:sp>
        <p:sp>
          <p:nvSpPr>
            <p:cNvPr id="1075" name="Axis title"/>
            <p:cNvSpPr txBox="1"/>
            <p:nvPr/>
          </p:nvSpPr>
          <p:spPr>
            <a:xfrm>
              <a:off x="548640" y="5497195"/>
              <a:ext cx="6949440" cy="19812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จำนวนฟีเจอร์ที่ตัดออก (k)</a:t>
              </a:r>
            </a:p>
          </p:txBody>
        </p:sp>
        <p:cxnSp>
          <p:nvCxnSpPr>
            <p:cNvPr id="1076" name="Legend key"/>
            <p:cNvCxnSpPr/>
            <p:nvPr/>
          </p:nvCxnSpPr>
          <p:spPr>
            <a:xfrm>
              <a:off x="745236" y="5888038"/>
              <a:ext cx="219456" cy="0"/>
            </a:xfrm>
            <a:prstGeom prst="line">
              <a:avLst/>
            </a:prstGeom>
            <a:ln w="28575">
              <a:solidFill>
                <a:srgbClr val="EB6834"/>
              </a:solidFill>
            </a:ln>
          </p:spPr>
        </p:cxnSp>
        <p:sp>
          <p:nvSpPr>
            <p:cNvPr id="1077" name="Legend label"/>
            <p:cNvSpPr txBox="1"/>
            <p:nvPr/>
          </p:nvSpPr>
          <p:spPr>
            <a:xfrm>
              <a:off x="1037844" y="5786755"/>
              <a:ext cx="2304288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th-TH" sz="11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ตัดตามความสำคัญ (recursive ROAR)</a:t>
              </a:r>
            </a:p>
          </p:txBody>
        </p:sp>
        <p:cxnSp>
          <p:nvCxnSpPr>
            <p:cNvPr id="1078" name="Legend key"/>
            <p:cNvCxnSpPr/>
            <p:nvPr/>
          </p:nvCxnSpPr>
          <p:spPr>
            <a:xfrm>
              <a:off x="3479292" y="5888038"/>
              <a:ext cx="219456" cy="0"/>
            </a:xfrm>
            <a:prstGeom prst="line">
              <a:avLst/>
            </a:prstGeom>
            <a:ln w="28575">
              <a:solidFill>
                <a:srgbClr val="2A78D6"/>
              </a:solidFill>
            </a:ln>
          </p:spPr>
        </p:cxnSp>
        <p:sp>
          <p:nvSpPr>
            <p:cNvPr id="1079" name="Legend label"/>
            <p:cNvSpPr txBox="1"/>
            <p:nvPr/>
          </p:nvSpPr>
          <p:spPr>
            <a:xfrm>
              <a:off x="3771900" y="5786755"/>
              <a:ext cx="1344168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th-TH" sz="11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ตัดแบบสุ่ม (ค่าเฉลี่ย)</a:t>
              </a:r>
            </a:p>
          </p:txBody>
        </p:sp>
        <p:cxnSp>
          <p:nvCxnSpPr>
            <p:cNvPr id="1080" name="Legend key"/>
            <p:cNvCxnSpPr/>
            <p:nvPr/>
          </p:nvCxnSpPr>
          <p:spPr>
            <a:xfrm>
              <a:off x="5253228" y="5888038"/>
              <a:ext cx="219456" cy="0"/>
            </a:xfrm>
            <a:prstGeom prst="line">
              <a:avLst/>
            </a:prstGeom>
            <a:ln w="28575">
              <a:solidFill>
                <a:srgbClr val="9AA3AD"/>
              </a:solidFill>
              <a:prstDash val="dash"/>
            </a:ln>
          </p:spPr>
        </p:cxnSp>
        <p:sp>
          <p:nvSpPr>
            <p:cNvPr id="1081" name="Legend label"/>
            <p:cNvSpPr txBox="1"/>
            <p:nvPr/>
          </p:nvSpPr>
          <p:spPr>
            <a:xfrm>
              <a:off x="5545836" y="5786755"/>
              <a:ext cx="1892808" cy="20256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th-TH" sz="11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ตัดแบบสุ่ม (เปอร์เซ็นไทล์ 2.5)</a:t>
              </a:r>
            </a:p>
          </p:txBody>
        </p:sp>
      </p:grpSp>
      <p:sp>
        <p:nvSpPr>
          <p:cNvPr id="8" name="Callout"/>
          <p:cNvSpPr/>
          <p:nvPr/>
        </p:nvSpPr>
        <p:spPr>
          <a:xfrm>
            <a:off x="7863840" y="2011680"/>
            <a:ext cx="3749040" cy="1783080"/>
          </a:xfrm>
          <a:prstGeom prst="roundRect">
            <a:avLst>
              <a:gd name="adj" fmla="val 410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9" name="Callout circle"/>
          <p:cNvSpPr/>
          <p:nvPr/>
        </p:nvSpPr>
        <p:spPr>
          <a:xfrm>
            <a:off x="8046720" y="2194560"/>
            <a:ext cx="640080" cy="64008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10" name="Callout icon" descr="Flas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339" y="2348179"/>
            <a:ext cx="332842" cy="33284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823960" y="21945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ตัดสารที่ไม่ทราบแหล่งที่มา 3 ตัว</a:t>
            </a:r>
            <a:endParaRPr lang="en-US" sz="1400" dirty="0"/>
          </a:p>
        </p:txBody>
      </p:sp>
      <p:sp>
        <p:nvSpPr>
          <p:cNvPr id="12" name="Text 6"/>
          <p:cNvSpPr txBox="1"/>
          <p:nvPr/>
        </p:nvSpPr>
        <p:spPr>
          <a:xfrm>
            <a:off x="8046720" y="2880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0.954</a:t>
            </a:r>
            <a:endParaRPr lang="en-US" sz="3200" dirty="0"/>
          </a:p>
        </p:txBody>
      </p:sp>
      <p:sp>
        <p:nvSpPr>
          <p:cNvPr id="13" name="Text 7"/>
          <p:cNvSpPr txBox="1"/>
          <p:nvPr/>
        </p:nvSpPr>
        <p:spPr>
          <a:xfrm>
            <a:off x="9464040" y="28803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dimethyl sulfone, isopropanol, methanol</a:t>
            </a:r>
            <a:endParaRPr lang="en-US" sz="1100" dirty="0"/>
          </a:p>
        </p:txBody>
      </p:sp>
      <p:sp>
        <p:nvSpPr>
          <p:cNvPr id="14" name="Callout"/>
          <p:cNvSpPr/>
          <p:nvPr/>
        </p:nvSpPr>
        <p:spPr>
          <a:xfrm>
            <a:off x="7863840" y="3977640"/>
            <a:ext cx="3749040" cy="1783080"/>
          </a:xfrm>
          <a:prstGeom prst="roundRect">
            <a:avLst>
              <a:gd name="adj" fmla="val 410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5" name="Callout circle"/>
          <p:cNvSpPr/>
          <p:nvPr/>
        </p:nvSpPr>
        <p:spPr>
          <a:xfrm>
            <a:off x="8046720" y="4160520"/>
            <a:ext cx="640080" cy="64008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6" name="Callout icon" descr="Stethoscop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339" y="4314139"/>
            <a:ext cx="332842" cy="33284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823960" y="41605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ตัดเมแทบอไลต์ที่รู้จักดี 3 ตัว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8046720" y="4846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0.959</a:t>
            </a:r>
            <a:endParaRPr lang="en-US" sz="3200" dirty="0"/>
          </a:p>
        </p:txBody>
      </p:sp>
      <p:sp>
        <p:nvSpPr>
          <p:cNvPr id="19" name="Text 12"/>
          <p:cNvSpPr txBox="1"/>
          <p:nvPr/>
        </p:nvSpPr>
        <p:spPr>
          <a:xfrm>
            <a:off x="9464040" y="48463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lipoproteins, L-valine, L-tyrosine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Bu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กรณีที่ 2  |  ฟีเจอร์สังเคราะห์ที่รู้คำตอบ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ฟีเจอร์ที่ไม่มีชีววิทยาเลย ขึ้นเป็นอันดับหนึ่งได้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หัวข้อ 3.3 และ 4.4, 10 ครั้งต่อ d. ฟีเจอร์สังเคราะห์ = d * label + N(0,1) ไม่มีชีววิทยา. อันดับ SHAP มัธยฐานจาก 22 ฟีเจอร์ (21 จริง + 1 สังเคราะห์)</a:t>
            </a:r>
            <a:endParaRPr lang="en-US" sz="1000" dirty="0"/>
          </a:p>
        </p:txBody>
      </p:sp>
      <p:sp>
        <p:nvSpPr>
          <p:cNvPr id="7" name="Spike card"/>
          <p:cNvSpPr/>
          <p:nvPr/>
        </p:nvSpPr>
        <p:spPr>
          <a:xfrm>
            <a:off x="548640" y="192024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8" name="Spike circle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9" name="Spike icon" descr="Bu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00200" y="210312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สัญญาณ d = 0.75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822960" y="283464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อันดับ SHAP </a:t>
            </a:r>
            <a:r>
              <a:rPr lang="en-US" sz="5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822960" y="379476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สัญญาณอ่อน ปนอยู่กับสารจริง</a:t>
            </a:r>
            <a:endParaRPr lang="en-US" sz="1400" dirty="0"/>
          </a:p>
        </p:txBody>
      </p:sp>
      <p:sp>
        <p:nvSpPr>
          <p:cNvPr id="13" name="Spike card"/>
          <p:cNvSpPr/>
          <p:nvPr/>
        </p:nvSpPr>
        <p:spPr>
          <a:xfrm>
            <a:off x="4337304" y="192024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Spike circle"/>
          <p:cNvSpPr/>
          <p:nvPr/>
        </p:nvSpPr>
        <p:spPr>
          <a:xfrm>
            <a:off x="4611624" y="2103120"/>
            <a:ext cx="640080" cy="64008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15" name="Spike icon" descr="Bug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243" y="2256739"/>
            <a:ext cx="332842" cy="33284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388864" y="210312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สัญญาณ d = 1.25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4611624" y="283464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อันดับ SHAP </a:t>
            </a:r>
            <a:r>
              <a:rPr lang="en-US" sz="5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4611624" y="379476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สัญญาณกลาง แซงสารจริงเกือบทั้งหมด</a:t>
            </a:r>
            <a:endParaRPr lang="en-US" sz="1400" dirty="0"/>
          </a:p>
        </p:txBody>
      </p:sp>
      <p:sp>
        <p:nvSpPr>
          <p:cNvPr id="19" name="Spike card"/>
          <p:cNvSpPr/>
          <p:nvPr/>
        </p:nvSpPr>
        <p:spPr>
          <a:xfrm>
            <a:off x="8125968" y="192024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0" name="Spike circle"/>
          <p:cNvSpPr/>
          <p:nvPr/>
        </p:nvSpPr>
        <p:spPr>
          <a:xfrm>
            <a:off x="8400288" y="2103120"/>
            <a:ext cx="640080" cy="64008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21" name="Spike icon" descr="Bug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3907" y="2256739"/>
            <a:ext cx="332842" cy="33284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177528" y="210312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สัญญาณ d = 1.75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8400288" y="283464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อันดับ SHAP </a:t>
            </a:r>
            <a:r>
              <a:rPr lang="en-US" sz="54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8400288" y="379476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สัญญาณแรง เป็นฟีเจอร์ที่สำคัญที่สุด</a:t>
            </a:r>
            <a:endParaRPr lang="en-US" sz="1400" dirty="0"/>
          </a:p>
        </p:txBody>
      </p:sp>
      <p:sp>
        <p:nvSpPr>
          <p:cNvPr id="25" name="Callout"/>
          <p:cNvSpPr/>
          <p:nvPr/>
        </p:nvSpPr>
        <p:spPr>
          <a:xfrm>
            <a:off x="548640" y="480060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6" name="Insight circle"/>
          <p:cNvSpPr/>
          <p:nvPr/>
        </p:nvSpPr>
        <p:spPr>
          <a:xfrm>
            <a:off x="777240" y="4983480"/>
            <a:ext cx="731520" cy="73152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27" name="Insight icon" descr="Lightbulb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5159045"/>
            <a:ext cx="380390" cy="38039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737360" y="484632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 d = 1.75 (แรงพอ ๆ กับ dimethyl sulfone) SHAP จัดเป็นอันดับหนึ่ง 6 จาก 10 ครั้ง และการตัดออกทำให้ PR-AUC ลด 0.0127 มากกว่าสารจริงทุกตัว (มากสุด 0.0073) ROAR วัดว่าฟีเจอร์ "พกสัญญาณ" แค่ไหน ไม่ได้วัดว่ามาจากไหน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Barcod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กรณีที่ 3  |  โปรโตคอลการเก็บตัวอย่างตรงกับ label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prefix ชื่อตัวอย่างอย่างเดียว ก็ทำนายเบาหวานได้สมบูรณ์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หัวข้อ 4.5. 132 ตัวอย่าง (84 ควบคุม, 48 เบาหวาน), CV แบ่งตามบุคคลที่อนุมาน, 20 seed (ช่วง 0.845 ถึง 0.975); CV ไม่แบ่งกลุ่มได้ 0.969. ไม่มีคอลัมน์ metadata ที่บันทึกวันที่ batch หรือลำดับการรัน</a:t>
            </a:r>
            <a:endParaRPr lang="en-US" sz="1000" dirty="0"/>
          </a:p>
        </p:txBody>
      </p:sp>
      <p:grpSp>
        <p:nvGrpSpPr>
          <p:cNvPr id="1054" name="Chart 0 (drawn)"/>
          <p:cNvGrpSpPr/>
          <p:nvPr/>
        </p:nvGrpSpPr>
        <p:grpSpPr>
          <a:xfrm>
            <a:off x="548640" y="1874520"/>
            <a:ext cx="6766560" cy="4114800"/>
            <a:chOff x="548640" y="1874520"/>
            <a:chExt cx="6766560" cy="4114800"/>
          </a:xfrm>
        </p:grpSpPr>
        <p:sp>
          <p:nvSpPr>
            <p:cNvPr id="1026" name="Tick label"/>
            <p:cNvSpPr txBox="1"/>
            <p:nvPr/>
          </p:nvSpPr>
          <p:spPr>
            <a:xfrm>
              <a:off x="2267712" y="5536438"/>
              <a:ext cx="73152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0.0</a:t>
              </a:r>
            </a:p>
          </p:txBody>
        </p:sp>
        <p:cxnSp>
          <p:nvCxnSpPr>
            <p:cNvPr id="1027" name="Gridline"/>
            <p:cNvCxnSpPr/>
            <p:nvPr/>
          </p:nvCxnSpPr>
          <p:spPr>
            <a:xfrm>
              <a:off x="3432658" y="1874520"/>
              <a:ext cx="0" cy="3607054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28" name="Tick label"/>
            <p:cNvSpPr txBox="1"/>
            <p:nvPr/>
          </p:nvSpPr>
          <p:spPr>
            <a:xfrm>
              <a:off x="3066898" y="5536438"/>
              <a:ext cx="73152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0.2</a:t>
              </a:r>
            </a:p>
          </p:txBody>
        </p:sp>
        <p:cxnSp>
          <p:nvCxnSpPr>
            <p:cNvPr id="1029" name="Gridline"/>
            <p:cNvCxnSpPr/>
            <p:nvPr/>
          </p:nvCxnSpPr>
          <p:spPr>
            <a:xfrm>
              <a:off x="4231843" y="1874520"/>
              <a:ext cx="0" cy="3607054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0" name="Tick label"/>
            <p:cNvSpPr txBox="1"/>
            <p:nvPr/>
          </p:nvSpPr>
          <p:spPr>
            <a:xfrm>
              <a:off x="3866083" y="5536438"/>
              <a:ext cx="73152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0.4</a:t>
              </a:r>
            </a:p>
          </p:txBody>
        </p:sp>
        <p:cxnSp>
          <p:nvCxnSpPr>
            <p:cNvPr id="1031" name="Gridline"/>
            <p:cNvCxnSpPr/>
            <p:nvPr/>
          </p:nvCxnSpPr>
          <p:spPr>
            <a:xfrm>
              <a:off x="5031029" y="1874520"/>
              <a:ext cx="0" cy="3607054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2" name="Tick label"/>
            <p:cNvSpPr txBox="1"/>
            <p:nvPr/>
          </p:nvSpPr>
          <p:spPr>
            <a:xfrm>
              <a:off x="4665269" y="5536438"/>
              <a:ext cx="73152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0.6</a:t>
              </a:r>
            </a:p>
          </p:txBody>
        </p:sp>
        <p:cxnSp>
          <p:nvCxnSpPr>
            <p:cNvPr id="1033" name="Gridline"/>
            <p:cNvCxnSpPr/>
            <p:nvPr/>
          </p:nvCxnSpPr>
          <p:spPr>
            <a:xfrm>
              <a:off x="5830214" y="1874520"/>
              <a:ext cx="0" cy="3607054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4" name="Tick label"/>
            <p:cNvSpPr txBox="1"/>
            <p:nvPr/>
          </p:nvSpPr>
          <p:spPr>
            <a:xfrm>
              <a:off x="5464454" y="5536438"/>
              <a:ext cx="73152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0.8</a:t>
              </a:r>
            </a:p>
          </p:txBody>
        </p:sp>
        <p:cxnSp>
          <p:nvCxnSpPr>
            <p:cNvPr id="1035" name="Gridline"/>
            <p:cNvCxnSpPr/>
            <p:nvPr/>
          </p:nvCxnSpPr>
          <p:spPr>
            <a:xfrm>
              <a:off x="6629400" y="1874520"/>
              <a:ext cx="0" cy="3607054"/>
            </a:xfrm>
            <a:prstGeom prst="line">
              <a:avLst/>
            </a:prstGeom>
            <a:ln w="9525">
              <a:solidFill>
                <a:srgbClr val="D9DEE3"/>
              </a:solidFill>
            </a:ln>
          </p:spPr>
        </p:cxnSp>
        <p:sp>
          <p:nvSpPr>
            <p:cNvPr id="1036" name="Tick label"/>
            <p:cNvSpPr txBox="1"/>
            <p:nvPr/>
          </p:nvSpPr>
          <p:spPr>
            <a:xfrm>
              <a:off x="6263640" y="5536438"/>
              <a:ext cx="731520" cy="1816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th-TH" sz="11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1.0</a:t>
              </a:r>
            </a:p>
          </p:txBody>
        </p:sp>
        <p:sp>
          <p:nvSpPr>
            <p:cNvPr id="1037" name="Axis title"/>
            <p:cNvSpPr txBox="1"/>
            <p:nvPr/>
          </p:nvSpPr>
          <p:spPr>
            <a:xfrm>
              <a:off x="2633472" y="5754624"/>
              <a:ext cx="3995928" cy="19812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th-TH" sz="1200" dirty="0">
                  <a:solidFill>
                    <a:srgbClr val="5B6470"/>
                  </a:solidFill>
                  <a:latin typeface="Tahoma"/>
                  <a:ea typeface="Tahoma"/>
                  <a:cs typeface="Tahoma"/>
                </a:rPr>
                <a:t>PR-AUC (CV แบ่งตามผู้ป่วย)</a:t>
              </a:r>
            </a:p>
          </p:txBody>
        </p:sp>
        <p:sp>
          <p:nvSpPr>
            <p:cNvPr id="1038" name="Bar"/>
            <p:cNvSpPr/>
            <p:nvPr/>
          </p:nvSpPr>
          <p:spPr>
            <a:xfrm>
              <a:off x="2633472" y="1977579"/>
              <a:ext cx="3995928" cy="515293"/>
            </a:xfrm>
            <a:prstGeom prst="rect">
              <a:avLst/>
            </a:prstGeom>
            <a:solidFill>
              <a:srgbClr val="EB6834"/>
            </a:solidFill>
            <a:ln>
              <a:noFill/>
            </a:ln>
          </p:spPr>
        </p:sp>
        <p:sp>
          <p:nvSpPr>
            <p:cNvPr id="1039" name="Value label"/>
            <p:cNvSpPr txBox="1"/>
            <p:nvPr/>
          </p:nvSpPr>
          <p:spPr>
            <a:xfrm>
              <a:off x="6702552" y="1977579"/>
              <a:ext cx="914400" cy="51529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1.000</a:t>
              </a:r>
            </a:p>
          </p:txBody>
        </p:sp>
        <p:sp>
          <p:nvSpPr>
            <p:cNvPr id="1040" name="Category label"/>
            <p:cNvSpPr txBox="1"/>
            <p:nvPr/>
          </p:nvSpPr>
          <p:spPr>
            <a:xfrm>
              <a:off x="548640" y="1874520"/>
              <a:ext cx="1975104" cy="7214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ใช้ prefix ชื่อตัวอย่างอย่างเดียว</a:t>
              </a:r>
            </a:p>
          </p:txBody>
        </p:sp>
        <p:sp>
          <p:nvSpPr>
            <p:cNvPr id="1041" name="Bar"/>
            <p:cNvSpPr/>
            <p:nvPr/>
          </p:nvSpPr>
          <p:spPr>
            <a:xfrm>
              <a:off x="2633472" y="2698989"/>
              <a:ext cx="3900026" cy="515293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42" name="Value label"/>
            <p:cNvSpPr txBox="1"/>
            <p:nvPr/>
          </p:nvSpPr>
          <p:spPr>
            <a:xfrm>
              <a:off x="6606650" y="2698989"/>
              <a:ext cx="914400" cy="51529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0.976</a:t>
              </a:r>
            </a:p>
          </p:txBody>
        </p:sp>
        <p:sp>
          <p:nvSpPr>
            <p:cNvPr id="1043" name="Category label"/>
            <p:cNvSpPr txBox="1"/>
            <p:nvPr/>
          </p:nvSpPr>
          <p:spPr>
            <a:xfrm>
              <a:off x="548640" y="2595931"/>
              <a:ext cx="1975104" cy="7214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โมเดล NMR (seed 42)</a:t>
              </a:r>
            </a:p>
          </p:txBody>
        </p:sp>
        <p:sp>
          <p:nvSpPr>
            <p:cNvPr id="1044" name="Bar"/>
            <p:cNvSpPr/>
            <p:nvPr/>
          </p:nvSpPr>
          <p:spPr>
            <a:xfrm>
              <a:off x="2633472" y="3420400"/>
              <a:ext cx="3640290" cy="515293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</p:spPr>
        </p:sp>
        <p:sp>
          <p:nvSpPr>
            <p:cNvPr id="1045" name="Value label"/>
            <p:cNvSpPr txBox="1"/>
            <p:nvPr/>
          </p:nvSpPr>
          <p:spPr>
            <a:xfrm>
              <a:off x="6346914" y="3420400"/>
              <a:ext cx="914400" cy="51529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0.911</a:t>
              </a:r>
            </a:p>
          </p:txBody>
        </p:sp>
        <p:sp>
          <p:nvSpPr>
            <p:cNvPr id="1046" name="Category label"/>
            <p:cNvSpPr txBox="1"/>
            <p:nvPr/>
          </p:nvSpPr>
          <p:spPr>
            <a:xfrm>
              <a:off x="548640" y="3317342"/>
              <a:ext cx="1975104" cy="7214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โมเดล NMR (เฉลี่ย 20 seed)</a:t>
              </a:r>
            </a:p>
          </p:txBody>
        </p:sp>
        <p:sp>
          <p:nvSpPr>
            <p:cNvPr id="1047" name="Bar"/>
            <p:cNvSpPr/>
            <p:nvPr/>
          </p:nvSpPr>
          <p:spPr>
            <a:xfrm>
              <a:off x="2633472" y="4141811"/>
              <a:ext cx="1997964" cy="515293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48" name="Value label"/>
            <p:cNvSpPr txBox="1"/>
            <p:nvPr/>
          </p:nvSpPr>
          <p:spPr>
            <a:xfrm>
              <a:off x="4704588" y="4141811"/>
              <a:ext cx="914400" cy="51529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0.500</a:t>
              </a:r>
            </a:p>
          </p:txBody>
        </p:sp>
        <p:sp>
          <p:nvSpPr>
            <p:cNvPr id="1049" name="Category label"/>
            <p:cNvSpPr txBox="1"/>
            <p:nvPr/>
          </p:nvSpPr>
          <p:spPr>
            <a:xfrm>
              <a:off x="548640" y="4038752"/>
              <a:ext cx="1975104" cy="7214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ใช้เพศอย่างเดียว</a:t>
              </a:r>
            </a:p>
          </p:txBody>
        </p:sp>
        <p:sp>
          <p:nvSpPr>
            <p:cNvPr id="1050" name="Bar"/>
            <p:cNvSpPr/>
            <p:nvPr/>
          </p:nvSpPr>
          <p:spPr>
            <a:xfrm>
              <a:off x="2633472" y="4863222"/>
              <a:ext cx="1454518" cy="515293"/>
            </a:xfrm>
            <a:prstGeom prst="rect">
              <a:avLst/>
            </a:prstGeom>
            <a:solidFill>
              <a:srgbClr val="9AA3AD"/>
            </a:solidFill>
            <a:ln>
              <a:noFill/>
            </a:ln>
          </p:spPr>
        </p:sp>
        <p:sp>
          <p:nvSpPr>
            <p:cNvPr id="1051" name="Value label"/>
            <p:cNvSpPr txBox="1"/>
            <p:nvPr/>
          </p:nvSpPr>
          <p:spPr>
            <a:xfrm>
              <a:off x="4161142" y="4863222"/>
              <a:ext cx="914400" cy="51529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algn="l"/>
              <a:r>
                <a:rPr lang="th-TH" sz="1300" b="1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0.364</a:t>
              </a:r>
            </a:p>
          </p:txBody>
        </p:sp>
        <p:sp>
          <p:nvSpPr>
            <p:cNvPr id="1052" name="Category label"/>
            <p:cNvSpPr txBox="1"/>
            <p:nvPr/>
          </p:nvSpPr>
          <p:spPr>
            <a:xfrm>
              <a:off x="548640" y="4760163"/>
              <a:ext cx="1975104" cy="7214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r"/>
              <a:r>
                <a:rPr lang="th-TH" sz="1200" dirty="0">
                  <a:solidFill>
                    <a:srgbClr val="1B2430"/>
                  </a:solidFill>
                  <a:latin typeface="Tahoma"/>
                  <a:ea typeface="Tahoma"/>
                  <a:cs typeface="Tahoma"/>
                </a:rPr>
                <a:t>ค่าสุ่ม (ความชุก)</a:t>
              </a:r>
            </a:p>
          </p:txBody>
        </p:sp>
        <p:cxnSp>
          <p:nvCxnSpPr>
            <p:cNvPr id="1053" name="Axis"/>
            <p:cNvCxnSpPr/>
            <p:nvPr/>
          </p:nvCxnSpPr>
          <p:spPr>
            <a:xfrm>
              <a:off x="2633472" y="1874520"/>
              <a:ext cx="0" cy="3607054"/>
            </a:xfrm>
            <a:prstGeom prst="line">
              <a:avLst/>
            </a:prstGeom>
            <a:ln w="12700">
              <a:solidFill>
                <a:srgbClr val="888888"/>
              </a:solidFill>
            </a:ln>
          </p:spPr>
        </p:cxnSp>
      </p:grpSp>
      <p:sp>
        <p:nvSpPr>
          <p:cNvPr id="8" name="Text 3"/>
          <p:cNvSpPr txBox="1"/>
          <p:nvPr/>
        </p:nvSpPr>
        <p:spPr>
          <a:xfrm>
            <a:off x="7680960" y="2011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จำนวนตัวอย่างตาม label และ prefix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2468880"/>
          <a:ext cx="3931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ADG19007u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ADG10003u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ควบคุม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84</a:t>
                      </a:r>
                      <a:endParaRPr lang="en-US" sz="1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5B647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</a:t>
                      </a:r>
                      <a:endParaRPr lang="en-US" sz="1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เบาหวาน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5B647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</a:t>
                      </a:r>
                      <a:endParaRPr lang="en-US" sz="1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48</a:t>
                      </a:r>
                      <a:endParaRPr lang="en-US" sz="1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Point circle"/>
          <p:cNvSpPr/>
          <p:nvPr/>
        </p:nvSpPr>
        <p:spPr>
          <a:xfrm>
            <a:off x="7680960" y="4114800"/>
            <a:ext cx="640080" cy="64008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11" name="Point icon" descr="TimesCirc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579" y="4268419"/>
            <a:ext cx="332842" cy="33284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503920" y="4069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แต่ละคลาสมาจากโปรโตคอลของตัวเอง จึงแยกโรคออกจากโปรโตคอลการเก็บตัวอย่างไม่ได้</a:t>
            </a:r>
            <a:endParaRPr lang="en-US" sz="1400" dirty="0"/>
          </a:p>
        </p:txBody>
      </p:sp>
      <p:sp>
        <p:nvSpPr>
          <p:cNvPr id="13" name="Point circle"/>
          <p:cNvSpPr/>
          <p:nvPr/>
        </p:nvSpPr>
        <p:spPr>
          <a:xfrm>
            <a:off x="7680960" y="5029200"/>
            <a:ext cx="640080" cy="64008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4" name="Point icon" descr="User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4579" y="5182819"/>
            <a:ext cx="332842" cy="332842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8503920" y="4983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0.976 มาจาก seed เดียว เฉลี่ย 20 seed ได้ 0.911 ช่วงอายุและ BMI ก็ต่างกัน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Tag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กรณีที่ 4  |  ชื่อ label ไม่ตรงความหมาย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"โรคอ้วน vs ไม่อ้วน" จริง ๆ คือ ก่อน vs หลังผ่าตัด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หัวข้อ 4.6. งานเดิม ROC-AUC 0.973 คือ AUC ของเส้น ROC เฉลี่ยจากการแบ่ง 5 fold ครั้งเดียว (รันซ้ำได้ 0.974). ทำซ้ำ: CV 10 x 5 ค่าเฉลี่ย ROC-AUC ราย fold. ไม่มีการบันทึก BMI จึงตรวจไม่ได้ว่าผู้ป่วยหลัง 12 เดือนไม่อ้วนแล้วหรือไม่</a:t>
            </a:r>
            <a:endParaRPr lang="en-US" sz="1000" dirty="0"/>
          </a:p>
        </p:txBody>
      </p:sp>
      <p:sp>
        <p:nvSpPr>
          <p:cNvPr id="7" name="Preop set"/>
          <p:cNvSpPr/>
          <p:nvPr/>
        </p:nvSpPr>
        <p:spPr>
          <a:xfrm>
            <a:off x="731520" y="2103120"/>
            <a:ext cx="4572000" cy="3291840"/>
          </a:xfrm>
          <a:prstGeom prst="ellipse">
            <a:avLst/>
          </a:prstGeom>
          <a:solidFill>
            <a:srgbClr val="2A78D6">
              <a:alpha val="22000"/>
            </a:srgbClr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8" name="12-month set"/>
          <p:cNvSpPr/>
          <p:nvPr/>
        </p:nvSpPr>
        <p:spPr>
          <a:xfrm>
            <a:off x="2651760" y="2926080"/>
            <a:ext cx="2286000" cy="1737360"/>
          </a:xfrm>
          <a:prstGeom prst="ellipse">
            <a:avLst/>
          </a:prstGeom>
          <a:solidFill>
            <a:srgbClr val="EB6834">
              <a:alpha val="30000"/>
            </a:srgbClr>
          </a:solidFill>
          <a:ln w="19050">
            <a:solidFill>
              <a:srgbClr val="EB683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51560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106 คน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ก่อนผ่าตัด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2743200" y="30175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71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ถูกวัดซ้ำที่ 12 เดือนด้วย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486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label 1 = ก่อนผ่าตัด (106) / label 0 = หลังผ่าตัด 12 เดือน (71) ผู้ป่วย 71 คนอยู่ทั้งสองคลาส และให้ตัวอย่าง 80% ของทั้งหมด</a:t>
            </a:r>
            <a:endParaRPr lang="en-US" sz="1200" dirty="0"/>
          </a:p>
        </p:txBody>
      </p:sp>
      <p:sp>
        <p:nvSpPr>
          <p:cNvPr id="12" name="Point circle"/>
          <p:cNvSpPr/>
          <p:nvPr/>
        </p:nvSpPr>
        <p:spPr>
          <a:xfrm>
            <a:off x="6309360" y="2103120"/>
            <a:ext cx="822960" cy="82296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3" name="Point icon" descr="BalanceSca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870" y="2300630"/>
            <a:ext cx="427939" cy="42793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0" y="210312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แบ่ง CV ตามผู้ป่วย ROC-AUC 0.965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CV ธรรมดาก็ได้ 0.965 แม้ 65% ของตัวอย่างทดสอบมีอีกครั้งของผู้ป่วยคนเดียวกันในชุดฝึก ปัญหาจึงอยู่ที่ความหมายของ label</a:t>
            </a:r>
            <a:endParaRPr lang="en-US" sz="1700" dirty="0"/>
          </a:p>
        </p:txBody>
      </p:sp>
      <p:sp>
        <p:nvSpPr>
          <p:cNvPr id="15" name="Point circle"/>
          <p:cNvSpPr/>
          <p:nvPr/>
        </p:nvSpPr>
        <p:spPr>
          <a:xfrm>
            <a:off x="6309360" y="3931920"/>
            <a:ext cx="822960" cy="82296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16" name="Point icon" descr="Capsule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870" y="4129430"/>
            <a:ext cx="427939" cy="42793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15200" y="393192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โมเดลเรียนรู้ทุกอย่างที่เปลี่ยนหลังผ่าตัด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น้ำหนักที่ลดลง แต่อาจรวมอาหาร อาหารเสริม ยา และการเก็บตัวอย่างต่างกัน 1 ปี จึงยกให้เป็นผลของโรคอ้วนไม่ได้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Shield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คำถามหกข้อ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 6 ข้อ ก่อนเชื่อผลจากข้อมูลเมแทบอโลมิกส์ขนาดเล็ก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5.2 แนวทางในอนาคต ของบทความ</a:t>
            </a:r>
            <a:endParaRPr lang="en-US" sz="1000" dirty="0"/>
          </a:p>
        </p:txBody>
      </p:sp>
      <p:sp>
        <p:nvSpPr>
          <p:cNvPr id="7" name="Check card"/>
          <p:cNvSpPr/>
          <p:nvPr/>
        </p:nvSpPr>
        <p:spPr>
          <a:xfrm>
            <a:off x="548640" y="187452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8" name="Check circle"/>
          <p:cNvSpPr/>
          <p:nvPr/>
        </p:nvSpPr>
        <p:spPr>
          <a:xfrm>
            <a:off x="777240" y="2148840"/>
            <a:ext cx="640080" cy="64008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9" name="Check icon" descr="SyncAl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" y="2302459"/>
            <a:ext cx="332842" cy="3328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00200" y="1947672"/>
            <a:ext cx="41285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ผลลัพธ์คำนวณจากฟีเจอร์?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การสลับ label ไม่ใช่หลักฐานของการพยากรณ์ หักค่าตั้งต้นทุกตัวในแต่ละ fold และรายงาน pairing-destroyed null</a:t>
            </a:r>
            <a:endParaRPr lang="en-US" sz="1600" dirty="0"/>
          </a:p>
        </p:txBody>
      </p:sp>
      <p:sp>
        <p:nvSpPr>
          <p:cNvPr id="11" name="Check card"/>
          <p:cNvSpPr/>
          <p:nvPr/>
        </p:nvSpPr>
        <p:spPr>
          <a:xfrm>
            <a:off x="6277356" y="187452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Check circle"/>
          <p:cNvSpPr/>
          <p:nvPr/>
        </p:nvSpPr>
        <p:spPr>
          <a:xfrm>
            <a:off x="6505956" y="2148840"/>
            <a:ext cx="640080" cy="64008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13" name="Check icon" descr="Random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575" y="2302459"/>
            <a:ext cx="332842" cy="33284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328916" y="1947672"/>
            <a:ext cx="41285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ฝึกใหม่ทุกรอบการสลับ และระบุวิธีสลับ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ถ้าค่าที่สังเกตได้ต่ำกว่า null ทั้งหมด ให้ตรวจขั้นตอนก่อนอ่านค่า p</a:t>
            </a:r>
            <a:endParaRPr lang="en-US" sz="1600" dirty="0"/>
          </a:p>
        </p:txBody>
      </p:sp>
      <p:sp>
        <p:nvSpPr>
          <p:cNvPr id="15" name="Check card"/>
          <p:cNvSpPr/>
          <p:nvPr/>
        </p:nvSpPr>
        <p:spPr>
          <a:xfrm>
            <a:off x="548640" y="320040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Check circle"/>
          <p:cNvSpPr/>
          <p:nvPr/>
        </p:nvSpPr>
        <p:spPr>
          <a:xfrm>
            <a:off x="777240" y="3474720"/>
            <a:ext cx="640080" cy="64008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17" name="Check icon" descr="BalanceSca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3628339"/>
            <a:ext cx="332842" cy="33284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00200" y="3273552"/>
            <a:ext cx="41285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ชนะคะแนนอ้างอิงที่ไม่ต้องฝึกไหม?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รายงานผลต่างพร้อมช่วงความเชื่อมั่นที่สุ่มซ้ำระดับบุคคล</a:t>
            </a:r>
            <a:endParaRPr lang="en-US" sz="1600" dirty="0"/>
          </a:p>
        </p:txBody>
      </p:sp>
      <p:sp>
        <p:nvSpPr>
          <p:cNvPr id="19" name="Check card"/>
          <p:cNvSpPr/>
          <p:nvPr/>
        </p:nvSpPr>
        <p:spPr>
          <a:xfrm>
            <a:off x="6277356" y="320040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0" name="Check circle"/>
          <p:cNvSpPr/>
          <p:nvPr/>
        </p:nvSpPr>
        <p:spPr>
          <a:xfrm>
            <a:off x="6505956" y="3474720"/>
            <a:ext cx="640080" cy="64008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21" name="Check icon" descr="Flas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575" y="3628339"/>
            <a:ext cx="332842" cy="33284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328916" y="3273552"/>
            <a:ext cx="41285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มีสารจากการจัดการตัวอย่างหรือยาไหม?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รายงานทั้งแบบมีและไม่มี และลองฟีเจอร์ที่ไม่มีชีววิทยาผ่านขั้นตอนอธิบายฟีเจอร์</a:t>
            </a:r>
            <a:endParaRPr lang="en-US" sz="1600" dirty="0"/>
          </a:p>
        </p:txBody>
      </p:sp>
      <p:sp>
        <p:nvSpPr>
          <p:cNvPr id="23" name="Check card"/>
          <p:cNvSpPr/>
          <p:nvPr/>
        </p:nvSpPr>
        <p:spPr>
          <a:xfrm>
            <a:off x="548640" y="452628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4" name="Check circle"/>
          <p:cNvSpPr/>
          <p:nvPr/>
        </p:nvSpPr>
        <p:spPr>
          <a:xfrm>
            <a:off x="777240" y="4800600"/>
            <a:ext cx="640080" cy="64008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25" name="Check icon" descr="Tabl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59" y="4954219"/>
            <a:ext cx="332842" cy="33284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600200" y="4599432"/>
            <a:ext cx="41285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metadata หรือโปรโตคอลตรงกับ label?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ไขว้ label กับทุกคอลัมน์ และอ่านว่าแต่ละคลาสเก็บตัวอย่างอย่างไร</a:t>
            </a:r>
            <a:endParaRPr lang="en-US" sz="1600" dirty="0"/>
          </a:p>
        </p:txBody>
      </p:sp>
      <p:sp>
        <p:nvSpPr>
          <p:cNvPr id="27" name="Check card"/>
          <p:cNvSpPr/>
          <p:nvPr/>
        </p:nvSpPr>
        <p:spPr>
          <a:xfrm>
            <a:off x="6277356" y="452628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8" name="Check circle"/>
          <p:cNvSpPr/>
          <p:nvPr/>
        </p:nvSpPr>
        <p:spPr>
          <a:xfrm>
            <a:off x="6505956" y="4800600"/>
            <a:ext cx="640080" cy="64008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29" name="Check icon" descr="Tags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9575" y="4954219"/>
            <a:ext cx="332842" cy="33284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328916" y="4599432"/>
            <a:ext cx="41285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อะไรแยกสองคลาสออกจากกัน?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เขียนเป็นประโยคเดียว ถ้าต่างจากชื่อเรื่อง ให้เปลี่ยนชื่อเรื่อง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Lightbulb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ผ่านการตรวจ ไม่ได้แปลว่าการตีความถูกต้อง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ข้อมูล: MTBLS242, MTBLS1 และ MTBLS881 เผยแพร่สาธารณะบน MetaboLights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874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สิ่งที่ควรจำ</a:t>
            </a:r>
            <a:endParaRPr lang="en-US" sz="1600" dirty="0"/>
          </a:p>
        </p:txBody>
      </p:sp>
      <p:sp>
        <p:nvSpPr>
          <p:cNvPr id="8" name="Takeaway circle"/>
          <p:cNvSpPr/>
          <p:nvPr/>
        </p:nvSpPr>
        <p:spPr>
          <a:xfrm>
            <a:off x="548640" y="2331720"/>
            <a:ext cx="640080" cy="64008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9" name="Takeaway icon" descr="CheckCirc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2485339"/>
            <a:ext cx="332842" cy="3328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71600" y="23317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ระบุคำอธิบายทางเลือกก่อน แล้วเลือกการทดสอบให้ตรงแต่ละข้อ</a:t>
            </a:r>
            <a:endParaRPr lang="en-US" sz="1500" dirty="0"/>
          </a:p>
        </p:txBody>
      </p:sp>
      <p:sp>
        <p:nvSpPr>
          <p:cNvPr id="11" name="Takeaway circle"/>
          <p:cNvSpPr/>
          <p:nvPr/>
        </p:nvSpPr>
        <p:spPr>
          <a:xfrm>
            <a:off x="548640" y="3246120"/>
            <a:ext cx="640080" cy="64008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12" name="Takeaway icon" descr="ChartLin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3399739"/>
            <a:ext cx="332842" cy="33284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32461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ข้อมูลมากขึ้น อาจทำให้การปฏิเสธที่ไม่ได้บอกอะไร ดูมั่นใจขึ้น</a:t>
            </a:r>
            <a:endParaRPr lang="en-US" sz="1500" dirty="0"/>
          </a:p>
        </p:txBody>
      </p:sp>
      <p:sp>
        <p:nvSpPr>
          <p:cNvPr id="14" name="Takeaway circle"/>
          <p:cNvSpPr/>
          <p:nvPr/>
        </p:nvSpPr>
        <p:spPr>
          <a:xfrm>
            <a:off x="548640" y="4160520"/>
            <a:ext cx="640080" cy="64008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15" name="Takeaway icon" descr="ShieldAl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4314139"/>
            <a:ext cx="332842" cy="33284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71600" y="41605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 label ด้วย ไม่ใช่ตรวจแค่โมเดล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640080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ข้อจำกัด</a:t>
            </a:r>
            <a:endParaRPr lang="en-US" sz="1600" dirty="0"/>
          </a:p>
        </p:txBody>
      </p:sp>
      <p:sp>
        <p:nvSpPr>
          <p:cNvPr id="18" name="Limit circle"/>
          <p:cNvSpPr/>
          <p:nvPr/>
        </p:nvSpPr>
        <p:spPr>
          <a:xfrm>
            <a:off x="6400800" y="2331720"/>
            <a:ext cx="640080" cy="64008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19" name="Limit icon" descr="Databas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4419" y="2485339"/>
            <a:ext cx="332842" cy="33284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223760" y="23317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ทบทวนงานของเราเองบนข้อมูลสาธารณะเล็กสามชุด ไม่ได้อ้างว่าพบบ่อยแค่ไหน</a:t>
            </a:r>
            <a:endParaRPr lang="en-US" sz="1400" dirty="0"/>
          </a:p>
        </p:txBody>
      </p:sp>
      <p:sp>
        <p:nvSpPr>
          <p:cNvPr id="21" name="Limit circle"/>
          <p:cNvSpPr/>
          <p:nvPr/>
        </p:nvSpPr>
        <p:spPr>
          <a:xfrm>
            <a:off x="6400800" y="3246120"/>
            <a:ext cx="640080" cy="64008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22" name="Limit icon" descr="Calculator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4419" y="3399739"/>
            <a:ext cx="332842" cy="33284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223760" y="32461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ผลเป็นเรื่องวิธีตรวจ ไม่ใช่ชีววิทยาของโรคอ้วน การผ่าตัด หรือเบาหวาน</a:t>
            </a:r>
            <a:endParaRPr lang="en-US" sz="1400" dirty="0"/>
          </a:p>
        </p:txBody>
      </p:sp>
      <p:sp>
        <p:nvSpPr>
          <p:cNvPr id="24" name="Limit circle"/>
          <p:cNvSpPr/>
          <p:nvPr/>
        </p:nvSpPr>
        <p:spPr>
          <a:xfrm>
            <a:off x="6400800" y="4160520"/>
            <a:ext cx="640080" cy="64008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25" name="Limit icon" descr="Heartbeat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4419" y="4314139"/>
            <a:ext cx="332842" cy="332842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223760" y="41605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 p กรณีที่ 1 ยังไม่ได้ตรวจการสอบเทียบ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การจำลองเป็นแบบเกาส์เซียนและเชิงเส้น</a:t>
            </a:r>
            <a:endParaRPr lang="en-US" sz="1400" dirty="0"/>
          </a:p>
        </p:txBody>
      </p:sp>
      <p:sp>
        <p:nvSpPr>
          <p:cNvPr id="27" name="Repo callout"/>
          <p:cNvSpPr/>
          <p:nvPr/>
        </p:nvSpPr>
        <p:spPr>
          <a:xfrm>
            <a:off x="548640" y="516636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9" name="Text 18"/>
          <p:cNvSpPr txBox="1"/>
          <p:nvPr/>
        </p:nvSpPr>
        <p:spPr>
          <a:xfrm>
            <a:off x="822960" y="51663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โค้ด การจำลอง และตัวเลขทุกค่า: </a:t>
            </a:r>
            <a:r>
              <a:rPr lang="en-US" sz="18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ขอได้จากผู้วิจัย</a:t>
            </a:r>
            <a:endParaRPr lang="en-US" sz="18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Calculato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การออกแบบการจำลอง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หัวข้อ 3.5 ของบทความ. ค่าตั้งต้นที่วัดได้สัมพันธ์กัน 0.3r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92024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สารแต่ละตัวมีระดับแฝงถาวรของผู้ป่วยแต่ละคน (11 ตัวชี้วัด สัมพันธ์กัน 0.3 + 10 ฟีเจอร์เสริม)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sqrt(r) * mu + sqrt(1 - r) * e0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x12 = sqrt(r) * (mu + gamma * g * s) + sqrt(1 - r) * e12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r: ความเที่ยงของการวัด (สัดส่วนความแปรปรวนที่คงอยู่) / gamma: การตอบสนองรายบุคคลที่พยากรณ์ได้ (0 = ไม่มี) / g: แนวโน้มตอบสนองจากฟีเจอร์เสริม / s: ทิศทางที่คาดไว้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ผลลัพธ์: อย่างน้อย 6 จาก 11 ตัวชี้วัดเปลี่ยนไปในทิศที่คาด / โมเดล: ridge regression (lambda = 10), CV 5 fold, วัดด้วย average precision</a:t>
            </a:r>
            <a:endParaRPr lang="en-US" sz="1500" dirty="0"/>
          </a:p>
        </p:txBody>
      </p:sp>
      <p:sp>
        <p:nvSpPr>
          <p:cNvPr id="8" name="Grid card"/>
          <p:cNvSpPr/>
          <p:nvPr/>
        </p:nvSpPr>
        <p:spPr>
          <a:xfrm>
            <a:off x="7040880" y="1920240"/>
            <a:ext cx="4572000" cy="3931920"/>
          </a:xfrm>
          <a:prstGeom prst="roundRect">
            <a:avLst>
              <a:gd name="adj" fmla="val 186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269480" y="20574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ตารางที่จำลอง (1,000 ชุดต่อช่อง)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n: 50, 100, 200, 500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r: 0.25, 0.5, 0.75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gamma: 0, 0.25, 0.5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 36,000 ชุด</a:t>
            </a:r>
            <a:r>
              <a:rPr lang="en-US" sz="8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ทดสอบสี่แบบต่อชุด alpha = 0.05, null 200 รอบ ฝึกโมเดลใหม่ทุกรอบ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 label ทั้งชุด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สลับคู่ตัวอย่าง (pairing-destroyed null)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หักทีละสาร (สลับราย fold)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หักทุกสารพร้อมกัน (สลับราย fold)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Tab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ตัวเลขกรณีที่ 1 ทั้งหมด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หัวข้อ 4.1. PR-AUC = ค่าเฉลี่ย AP ราย fold. gap ใช้การทำนายที่รวมกัน ช่วง 95% bootstrap ระดับผู้ป่วย 71 คน จึงไม่เท่ากับผลต่างของค่าเฉลี่ยพอดี. "—" = บทความไม่ได้รายงาน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000500"/>
                <a:gridCol w="407365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ตัวชี้วัด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ดีไซน์เดิม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หักทุกสารพร้อมกัน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เกณฑ์ผู้ตอบสนอง; ฟีเจอร์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อย่างน้อย 9 จาก 11; 21 ตัว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อย่างน้อย 6 จาก 11; 18 ตัว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ความชุก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0.437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0.521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PR-AUC ของโมเดล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0.683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0.554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PR-AUC ของคะแนนอ้างอิง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0.709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0.589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Gap และช่วง 95%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-0.037 [-0.111, +0.037]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 จากการสลับ label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0.001 (ยังไม่ได้ตรวจการสอบเทียบ)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lift ของ pairing-destroyed null (มัธยฐาน)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2.04 คะแนนอ้างอิง, 1.99 ฝึกใหม่; สังเกตได้ 1.57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 White TH">
  <a:themeElements>
    <a:clrScheme name="Academic White TH">
      <a:dk1>
        <a:srgbClr val="1B2430"/>
      </a:dk1>
      <a:lt1>
        <a:srgbClr val="FFFFFF"/>
      </a:lt1>
      <a:dk2>
        <a:srgbClr val="5B6470"/>
      </a:dk2>
      <a:lt2>
        <a:srgbClr val="F3F5F7"/>
      </a:lt2>
      <a:accent1>
        <a:srgbClr val="2A78D6"/>
      </a:accent1>
      <a:accent2>
        <a:srgbClr val="EB6834"/>
      </a:accent2>
      <a:accent3>
        <a:srgbClr val="1BAF7A"/>
      </a:accent3>
      <a:accent4>
        <a:srgbClr val="4A3AA7"/>
      </a:accent4>
      <a:accent5>
        <a:srgbClr val="EDA100"/>
      </a:accent5>
      <a:accent6>
        <a:srgbClr val="E34948"/>
      </a:accent6>
      <a:hlink>
        <a:srgbClr val="2A78D6"/>
      </a:hlink>
      <a:folHlink>
        <a:srgbClr val="4A3AA7"/>
      </a:folHlink>
    </a:clrScheme>
    <a:fontScheme name="Academic White TH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ผ่านการตรวจแล้ว แต่ผิด (Validated, yet Wrong)</dc:title>
  <dc:subject>Lessons from four metabolomics validation audits</dc:subject>
  <dc:creator>Kanin Calvin Shomwiwat, Chaiyaporn Orrudee</dc:creator>
  <cp:lastModifiedBy>Chaiyaporn Orrudee, Kanin Calvin Shomwiwat</cp:lastModifiedBy>
  <cp:revision>1</cp:revision>
  <dcterms:created xsi:type="dcterms:W3CDTF">2026-10-21T11:07:32Z</dcterms:created>
  <dcterms:modified xsi:type="dcterms:W3CDTF">2026-10-21T11:07:32Z</dcterms:modified>
</cp:coreProperties>
</file>