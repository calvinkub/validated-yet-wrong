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วัดครั้งที่ 1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วัดครั้งที่ 2 (ไม่มีอะไรเปลี่ยนจริง)</c:v>
                </c:pt>
              </c:strCache>
            </c:strRef>
          </c:tx>
          <c:spPr>
            <a:solidFill>
              <a:srgbClr val="9AA3A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6.5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3.5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470"/>
                    </a:solidFill>
                    <a:latin typeface="Arial"/>
                  </a:rPr>
                  <a:t>ผู้ป่วย 5 คน (ข้อมูลสมมติ)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D9DE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Lift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&quot;x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โมเดลจริง</c:v>
                  </c:pt>
                  <c:pt idx="1">
                    <c:v>ตัวเทียบที่ไม่มีสัญญาณ
(pairing-destroyed null)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1.57</c:v>
                </c:pt>
                <c:pt idx="1">
                  <c:v>2.04</c:v>
                </c:pt>
              </c:numCache>
            </c:numRef>
          </c:val>
        </c:ser>
        <c:dLbls>
          <c:numFmt formatCode="0.00&quot;x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l"/>
        <c:majorGridlines>
          <c:spPr>
            <a:ln w="9525" cap="flat">
              <a:solidFill>
                <a:srgbClr val="D9DE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470"/>
                    </a:solidFill>
                    <a:latin typeface="Arial"/>
                  </a:rPr>
                  <a:t>Lift = average precision / ความชุก</a:t>
                </a:r>
              </a:p>
            </c:rich>
          </c:tx>
          <c:layout/>
          <c:overlay val="0"/>
        </c:title>
        <c:numFmt formatCode="0.0&quot;x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โมเดลที่ฝึกแล้ว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หักทีละสาร
(ความชุก 0.437)</c:v>
                  </c:pt>
                  <c:pt idx="1">
                    <c:v>หักทุกสารพร้อมกัน
(ความชุก 0.521)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0.483</c:v>
                </c:pt>
                <c:pt idx="1">
                  <c:v>0.554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ตัวเทียบที่ไม่เรียนรู้อะไร</c:v>
                </c:pt>
              </c:strCache>
            </c:strRef>
          </c:tx>
          <c:spPr>
            <a:solidFill>
              <a:srgbClr val="9AA3A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หักทีละสาร
(ความชุก 0.437)</c:v>
                  </c:pt>
                  <c:pt idx="1">
                    <c:v>หักทุกสารพร้อมกัน
(ความชุก 0.521)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0.522</c:v>
                </c:pt>
                <c:pt idx="1">
                  <c:v>0.589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9525" cap="flat">
              <a:solidFill>
                <a:srgbClr val="D9DE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470"/>
                    </a:solidFill>
                    <a:latin typeface="Arial"/>
                  </a:rPr>
                  <a:t>PR-AUC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สลับ label</c:v>
                </c:pt>
              </c:strCache>
            </c:strRef>
          </c:tx>
          <c:spPr>
            <a:solidFill>
              <a:srgbClr val="EB6834"/>
            </a:solidFill>
            <a:ln w="38100" cap="flat">
              <a:solidFill>
                <a:srgbClr val="EB6834"/>
              </a:solidFill>
              <a:prstDash val="solid,solid,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n = 50</c:v>
                  </c:pt>
                  <c:pt idx="1">
                    <c:v>n = 100</c:v>
                  </c:pt>
                  <c:pt idx="2">
                    <c:v>n = 200</c:v>
                  </c:pt>
                  <c:pt idx="3">
                    <c:v>n = 500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26.1</c:v>
                </c:pt>
                <c:pt idx="1">
                  <c:v>52</c:v>
                </c:pt>
                <c:pt idx="2">
                  <c:v>92.6</c:v>
                </c:pt>
                <c:pt idx="3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สลับคู่ตัวอย่าง (pairing-destroyed null)</c:v>
                </c:pt>
              </c:strCache>
            </c:strRef>
          </c:tx>
          <c:spPr>
            <a:solidFill>
              <a:srgbClr val="2A78D6"/>
            </a:solidFill>
            <a:ln w="38100" cap="flat">
              <a:solidFill>
                <a:srgbClr val="2A78D6"/>
              </a:solidFill>
              <a:prstDash val="solid,solid,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n = 50</c:v>
                  </c:pt>
                  <c:pt idx="1">
                    <c:v>n = 100</c:v>
                  </c:pt>
                  <c:pt idx="2">
                    <c:v>n = 200</c:v>
                  </c:pt>
                  <c:pt idx="3">
                    <c:v>n = 500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4.3</c:v>
                </c:pt>
                <c:pt idx="1">
                  <c:v>2.1</c:v>
                </c:pt>
                <c:pt idx="2">
                  <c:v>0.7</c:v>
                </c:pt>
                <c:pt idx="3">
                  <c:v>0.3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หักทุกสารพร้อมกัน + สลับ</c:v>
                </c:pt>
              </c:strCache>
            </c:strRef>
          </c:tx>
          <c:spPr>
            <a:solidFill>
              <a:srgbClr val="1BAF7A"/>
            </a:solidFill>
            <a:ln w="38100" cap="flat">
              <a:solidFill>
                <a:srgbClr val="1BAF7A"/>
              </a:solidFill>
              <a:prstDash val="solid,solid,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n = 50</c:v>
                  </c:pt>
                  <c:pt idx="1">
                    <c:v>n = 100</c:v>
                  </c:pt>
                  <c:pt idx="2">
                    <c:v>n = 200</c:v>
                  </c:pt>
                  <c:pt idx="3">
                    <c:v>n = 500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7.4</c:v>
                </c:pt>
                <c:pt idx="1">
                  <c:v>6.2</c:v>
                </c:pt>
                <c:pt idx="2">
                  <c:v>5.9</c:v>
                </c:pt>
                <c:pt idx="3">
                  <c:v>6.3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หักทีละสาร + สลับ</c:v>
                </c:pt>
              </c:strCache>
            </c:strRef>
          </c:tx>
          <c:spPr>
            <a:solidFill>
              <a:srgbClr val="4A3AA7"/>
            </a:solidFill>
            <a:ln w="38100" cap="flat">
              <a:solidFill>
                <a:srgbClr val="4A3AA7"/>
              </a:solidFill>
              <a:prstDash val="solid,solid,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4A3AA7"/>
              </a:solidFill>
              <a:ln w="9525" cap="flat">
                <a:solidFill>
                  <a:srgbClr val="4A3A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n = 50</c:v>
                  </c:pt>
                  <c:pt idx="1">
                    <c:v>n = 100</c:v>
                  </c:pt>
                  <c:pt idx="2">
                    <c:v>n = 200</c:v>
                  </c:pt>
                  <c:pt idx="3">
                    <c:v>n = 500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8</c:v>
                </c:pt>
                <c:pt idx="1">
                  <c:v>9.3</c:v>
                </c:pt>
                <c:pt idx="2">
                  <c:v>12</c:v>
                </c:pt>
                <c:pt idx="3">
                  <c:v>18.9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เกณฑ์ 5%</c:v>
                </c:pt>
              </c:strCache>
            </c:strRef>
          </c:tx>
          <c:spPr>
            <a:solidFill>
              <a:srgbClr val="9AA3AD"/>
            </a:solidFill>
            <a:ln w="38100" cap="flat">
              <a:solidFill>
                <a:srgbClr val="9AA3AD"/>
              </a:solidFill>
              <a:prstDash val="solid,solid,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n = 50</c:v>
                  </c:pt>
                  <c:pt idx="1">
                    <c:v>n = 100</c:v>
                  </c:pt>
                  <c:pt idx="2">
                    <c:v>n = 200</c:v>
                  </c:pt>
                  <c:pt idx="3">
                    <c:v>n = 500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9DE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470"/>
                    </a:solidFill>
                    <a:latin typeface="Arial"/>
                  </a:rPr>
                  <a:t>อัตราบอกว่ามีสัญญาณ ทั้งที่ไม่มีจริง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lift ของโมเดลจริง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&quot;x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เอเทรียมซ้าย
(ตำแหน่งหลัก)</c:v>
                  </c:pt>
                  <c:pt idx="1">
                    <c:v>หลอดเลือดแดงปอด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1.29</c:v>
                </c:pt>
                <c:pt idx="1">
                  <c:v>1.19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lift ของตัวเทียบที่ไม่มีสัญญาณ (median)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&quot;x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เอเทรียมซ้าย
(ตำแหน่งหลัก)</c:v>
                  </c:pt>
                  <c:pt idx="1">
                    <c:v>หลอดเลือดแดงปอด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1.49</c:v>
                </c:pt>
                <c:pt idx="1">
                  <c:v>1.4</c:v>
                </c:pt>
              </c:numCache>
            </c:numRef>
          </c:val>
        </c:ser>
        <c:dLbls>
          <c:numFmt formatCode="0.00&quot;x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9525" cap="flat">
              <a:solidFill>
                <a:srgbClr val="D9DE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470"/>
                    </a:solidFill>
                    <a:latin typeface="Arial"/>
                  </a:rPr>
                  <a:t>Lift (ผลลัพธ์แบบ raw change)</a:t>
                </a:r>
              </a:p>
            </c:rich>
          </c:tx>
          <c:layout/>
          <c:overlay val="0"/>
        </c:title>
        <c:numFmt formatCode="0.0&quot;x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ตัดตามความสำคัญ (recursive ROAR)</c:v>
                </c:pt>
              </c:strCache>
            </c:strRef>
          </c:tx>
          <c:spPr>
            <a:solidFill>
              <a:srgbClr val="EB6834"/>
            </a:solidFill>
            <a:ln w="38100" cap="flat">
              <a:solidFill>
                <a:srgbClr val="EB6834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0.965</c:v>
                </c:pt>
                <c:pt idx="1">
                  <c:v>0.965</c:v>
                </c:pt>
                <c:pt idx="2">
                  <c:v>0.954</c:v>
                </c:pt>
                <c:pt idx="3">
                  <c:v>0.945</c:v>
                </c:pt>
                <c:pt idx="4">
                  <c:v>0.928</c:v>
                </c:pt>
                <c:pt idx="5">
                  <c:v>0.91</c:v>
                </c:pt>
                <c:pt idx="6">
                  <c:v>0.885</c:v>
                </c:pt>
                <c:pt idx="7">
                  <c:v>0.862</c:v>
                </c:pt>
                <c:pt idx="8">
                  <c:v>0.848</c:v>
                </c:pt>
                <c:pt idx="9">
                  <c:v>0.825</c:v>
                </c:pt>
                <c:pt idx="10">
                  <c:v>0.802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ตัดแบบสุ่ม (ค่าเฉลี่ย)</c:v>
                </c:pt>
              </c:strCache>
            </c:strRef>
          </c:tx>
          <c:spPr>
            <a:solidFill>
              <a:srgbClr val="2A78D6"/>
            </a:solidFill>
            <a:ln w="38100" cap="flat">
              <a:solidFill>
                <a:srgbClr val="2A78D6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0.972</c:v>
                </c:pt>
                <c:pt idx="1">
                  <c:v>0.971</c:v>
                </c:pt>
                <c:pt idx="2">
                  <c:v>0.97</c:v>
                </c:pt>
                <c:pt idx="3">
                  <c:v>0.968</c:v>
                </c:pt>
                <c:pt idx="4">
                  <c:v>0.967</c:v>
                </c:pt>
                <c:pt idx="5">
                  <c:v>0.965</c:v>
                </c:pt>
                <c:pt idx="6">
                  <c:v>0.963</c:v>
                </c:pt>
                <c:pt idx="7">
                  <c:v>0.961</c:v>
                </c:pt>
                <c:pt idx="8">
                  <c:v>0.958</c:v>
                </c:pt>
                <c:pt idx="9">
                  <c:v>0.955</c:v>
                </c:pt>
                <c:pt idx="10">
                  <c:v>0.949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ตัดแบบสุ่ม (เปอร์เซ็นไทล์ 2.5)</c:v>
                </c:pt>
              </c:strCache>
            </c:strRef>
          </c:tx>
          <c:spPr>
            <a:solidFill>
              <a:srgbClr val="9AA3AD"/>
            </a:solidFill>
            <a:ln w="38100" cap="flat">
              <a:solidFill>
                <a:srgbClr val="9AA3AD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0.967</c:v>
                </c:pt>
                <c:pt idx="1">
                  <c:v>0.963</c:v>
                </c:pt>
                <c:pt idx="2">
                  <c:v>0.961</c:v>
                </c:pt>
                <c:pt idx="3">
                  <c:v>0.956</c:v>
                </c:pt>
                <c:pt idx="4">
                  <c:v>0.953</c:v>
                </c:pt>
                <c:pt idx="5">
                  <c:v>0.946</c:v>
                </c:pt>
                <c:pt idx="6">
                  <c:v>0.944</c:v>
                </c:pt>
                <c:pt idx="7">
                  <c:v>0.934</c:v>
                </c:pt>
                <c:pt idx="8">
                  <c:v>0.925</c:v>
                </c:pt>
                <c:pt idx="9">
                  <c:v>0.917</c:v>
                </c:pt>
                <c:pt idx="10">
                  <c:v>0.903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470"/>
                    </a:solidFill>
                    <a:latin typeface="Arial"/>
                  </a:rPr>
                  <a:t>จำนวนฟีเจอร์ที่ตัดออก (k)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8"/>
        </c:scaling>
        <c:delete val="0"/>
        <c:axPos val="l"/>
        <c:majorGridlines>
          <c:spPr>
            <a:ln w="9525" cap="flat">
              <a:solidFill>
                <a:srgbClr val="D9DE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470"/>
                    </a:solidFill>
                    <a:latin typeface="Arial"/>
                  </a:rPr>
                  <a:t>PR-AUC หลังฝึกใหม่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3A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3A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ใช้ prefix ชื่อไฟล์อย่างเดียว</c:v>
                  </c:pt>
                  <c:pt idx="1">
                    <c:v>โมเดล NMR (seed 42)</c:v>
                  </c:pt>
                  <c:pt idx="2">
                    <c:v>โมเดล NMR (เฉลี่ย 20 seed)</c:v>
                  </c:pt>
                  <c:pt idx="3">
                    <c:v>ใช้เพศอย่างเดียว</c:v>
                  </c:pt>
                  <c:pt idx="4">
                    <c:v>ค่าสุ่ม (ความชุก)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0.976</c:v>
                </c:pt>
                <c:pt idx="2">
                  <c:v>0.911</c:v>
                </c:pt>
                <c:pt idx="3">
                  <c:v>0.5</c:v>
                </c:pt>
                <c:pt idx="4">
                  <c:v>0.364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b"/>
        <c:majorGridlines>
          <c:spPr>
            <a:ln w="9525" cap="flat">
              <a:solidFill>
                <a:srgbClr val="D9DE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47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470"/>
                    </a:solidFill>
                    <a:latin typeface="Arial"/>
                  </a:rPr>
                  <a:t>PR-AUC (CV แบ่งตามผู้ป่วย)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สวัสดีครับ/ค่ะ วันนี้นำเสนอโครงงานเรื่อง "ผ่านการตรวจแล้ว แต่ผิด" (Validated, yet Wrong) งานนี้ว่าด้วยกรณีที่โมเดลแมชชีนเลิร์นนิงบนข้อมูลเมตาโบโลมิกส์ขนาดเล็ก ผ่านการตรวจสอบมาตรฐานครบทุกอย่าง แต่ผลลัพธ์ยังผิดอยู่ดี เราจะเล่าก่อนว่าเราทำอะไร แล้วดูทีละกรณี (~0:20)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พื้นฐานก่อน: นักวิจัยเก็บตัวอย่างเลือดหรือปัสสาวะ วัดด้วยเครื่อง NMR ได้ตัวเลขของสารเมตาโบไลต์หลายสิบตัว แล้วใช้โมเดลแมชชีนเลิร์นนิงทำนายโรคหรือผลการรักษา จากนั้นรายงานผลหลังผ่านการตรวจสอบมาตรฐาน งานของเราคือย้อนกลับไปตรวจงานของเราเองสี่เรื่อง ว่าผลที่ผ่านการตรวจนั้นเชื่อได้จริงไหม (~0:35)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เมตาโบไลต์ (metabolite) คือสารโมเลกุลเล็กที่เกิดจากการเผาผลาญ อยู่ในเลือดหรือปัสสาวะ มาจากอาหาร ยา และกระบวนการในร่างกาย ปริมาณของมันจึงเปลี่ยนไปตามสุขภาพ เช่น กรดอะมิโน valine, glycine, กรดแลกติก และไขมันในเลือด (lipoproteins) แต่ตัวอย่างยังรับสารจากภายนอกได้ด้วย เช่น น้ำยาทำความสะอาดผิวก่อนเจาะเลือด (isopropanol) สารกลุ่มนี้จะกลายเป็นตัวละครสำคัญในกรณีที่ 2 (~0:40)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เครื่อง NMR วัดสารแต่ละตัวเป็นยอด (peak) ความสูงของยอดบอกปริมาณ ภาพซ้ายเป็นภาพประกอบ ไม่ใช่ข้อมูลจริง ส่วนตารางขวาเป็นตัวเลขจริงจากไฟล์ MTBLS242 ของผู้ป่วยสองคน คนละสองตัวอย่าง คือก่อนผ่าตัดและหลังผ่าตัด 12 เดือน โมเดลเห็นเพียงตารางนี้: หนึ่งแถวคือหนึ่งตัวอย่าง หนึ่งคอลัมน์คือสารหนึ่งชนิด และมีอีกคอลัมน์ที่บอกว่าตัวอย่างนั้นก่อนหรือหลังผ่าตัด ซึ่งก็คือ label ที่โมเดลต้องทำนาย (~0:40)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เราใช้ข้อมูลสาธารณะสามชุดจาก MetaboLights ชุดแรก MTBLS242 คือผู้ป่วยผ่าตัดกระเพาะ วัดก่อนผ่าตัด 106 คน และหลังผ่าตัด 12 เดือน 71 คน ใช้ในกรณีที่ 1, 2 และ 4 ชุดที่สอง MTBLS1 คือปัสสาวะผู้ป่วยเบาหวานเทียบกับคนปกติ 132 ตัวอย่าง ใช้ในกรณีที่ 3 ชุดที่สาม MTBLS881 คือผู้ป่วยผ่าตัดหัวใจ 47 คน ใช้ทำซ้ำกรณีที่ 1 (~0:30)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การตรวจมาตรฐานสามอย่าง: cross-validation ถามว่าโมเดลใช้กับตัวอย่างใหม่ที่เก็บแบบเดิมได้ไหม, permutation test ถามว่าฟีเจอร์กับ label มีความสัมพันธ์อะไรสักอย่างไหม, ROAR ถามว่าโมเดลพึ่งฟีเจอร์นั้นไหม แต่ไม่มีอันไหนถามว่า label วัดสิ่งที่มันอ้างจริงหรือเปล่า หรือสัญญาณนั้นเป็นชีววิทยาหรือไม่ (~0:35)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นี่คือแผนที่ของทั้งงาน อ่านจากซ้ายไปขวา: ปัญหาที่ซ่อนอยู่ ซึ่งการตรวจมาตรฐานผ่านหมด และวิธีตรวจเฉพาะที่จับได้ หนึ่ง ผลลัพธ์ที่ถูกสร้างจากฟีเจอร์ตัวเอง จับด้วยการสลับคู่ตัวอย่าง สอง สารปนเปื้อนที่ ROAR นับเป็นชีววิทยา จับด้วยฟีเจอร์ปลอมที่เรารู้คำตอบ สาม ล็อตการวัดตรงกับ label ทุกตัวอย่าง จับด้วยการตรวจ metadata สี่ label ที่ชื่อไม่ตรงความหมาย จับด้วยการเขียน label ลงในหนึ่งประโยค (~0:40)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ก่อนเข้ากรณีที่ 1 ขออธิบายปรากฏการณ์ regression to the mean ภาพนี้เป็นข้อมูลสมมติเพื่อประกอบ: คนที่วัดได้สูงที่สุดในครั้งแรก มักวัดได้ต่ำลงในครั้งที่สอง และคนที่ต่ำที่สุดมักสูงขึ้น ทั้งที่ไม่มีอะไรเปลี่ยนจริง เพราะการวัดมีความคลาดเคลื่อน ถ้า label ของเราคือ "การเปลี่ยนแปลง" และฟีเจอร์คือ "ค่าครั้งแรก" ฟีเจอร์จะทำนาย label ได้เองโดยไม่มีชีววิทยาเลย (~0:35)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กรณีแรก: ผู้ป่วยผ่าตัดกระเพาะ 71 คน ทำนายว่าใครจะ "ตอบสนองดี" หลังหนึ่งปี โดย label ถูกคำนวณจากการเปลี่ยนแปลงของสารชุดเดียวกับที่ใช้เป็นฟีเจอร์ ค่าเริ่มต้นที่สูงจะลดลงเข้าหาค่าเฉลี่ยเอง (regression to the mean) การสลับ label ให้ p = 0.002 ดูมีนัยสำคัญ แต่เมื่อเราสลับว่าตัวอย่างหลังหนึ่งปีเป็นของใคร แล้วสร้าง label ใหม่ ซึ่งไม่เหลือสัญญาณรายบุคคลเลย ผลกลับได้ lift 2.04 เท่า สูงกว่าโมเดลจริงที่ 1.57 เท่า (~0:50)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พอแก้นิยามผลลัพธ์ (หักผลของค่าเริ่มต้นออกภายในแต่ละ fold) โมเดลก็ไม่ดีกว่าตัวให้คะแนนที่ไม่ได้เรียนรู้อะไรเลย (ผลรวมค่า z-score ของค่าเริ่มต้นที่ไม่มีการ fit) ทั้งสองดีไซน์ ช่วงความเชื่อมั่นระดับผู้ป่วยคร่อมศูนย์ ดังนั้นพูดได้ว่า "ไม่ดีกว่า" ไม่ใช่ "แย่กว่า" ความชุกต่างกันระหว่างสองดีไซน์ ให้เทียบ gap ไม่ใช่ระดับ PR-AUC (~0:30)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เพื่อดูว่าปัญหานี้เกิดเมื่อไร เราจำลอง 36,000 ชุดข้อมูล เมื่อไม่มีผลรายบุคคลเลย การสลับ label ปฏิเสธสมมติฐานว่างผิด ๆ ตั้งแต่ 26% ที่ 50 ตัวอย่าง ไปจนถึง 100% ที่ 500 ตัวอย่าง ยิ่งข้อมูลมาก ยิ่งผิดมาก เพราะข้อมูลมากแค่ทำให้ประมาณ artefact ได้แม่นขึ้น วิธีแก้ที่นิยมคือหักค่าเริ่มต้นทีละสาร ยังผิด 8-19% เพราะสารสัมพันธ์กัน ถ้าหักด้วยค่าเริ่มต้นของทุกสารพร้อมกัน อัตราผิดลงมาที่ราว 5-7% ส่วน pairing-destroyed null ไม่เคยผิดเกิน 4.3% แต่ตรวจจับผลจริงได้อ่อน (~0:45)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เราทำซ้ำบนข้อมูลชุดที่สอง คือผู้ป่วยผ่าตัดหัวใจ 47 คน โดยกำหนดวิธีวิเคราะห์ไว้ก่อนรันโมเดล ผลแบบ raw change ซ้ำได้ที่ทั้งสองตำแหน่งเก็บเลือด: การสลับ label ปฏิเสธ (p = 0.007) แต่ตัวเทียบที่ไม่มีสัญญาณได้ lift สูงกว่าโมเดล ส่วนผลหลังหักค่าเริ่มต้นซ้ำได้เพียงบางส่วน และ 47 คนไม่พอตัดสิน ข้อสังเกต: ยาที่ให้ระหว่างผ่าตัด (propofol, heparin) ทำให้เกิดสัญญาณที่ดูมีนัยสำคัญ (~0:25)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กรณีที่สองคือ ROAR ซึ่งตัดฟีเจอร์ที่ SHAP จัดว่าสำคัญแล้วฝึกโมเดลใหม่ ในข้อมูลผ่าตัดกระเพาะ สามสารแรกที่ถูกจัดว่าสำคัญคือ dimethyl sulfone, isopropanol และ methanol ซึ่งน่าจะเป็นสารจากภายนอก isopropanol เป็นน้ำยาทำความสะอาดผิวก่อนผ่าตัด ตัดสามสารนี้ คะแนนตกเหลือ 0.954 ส่วนตัดสามสารชีววิทยาจริงเหลือ 0.959 ต่างกันน้อยกว่าความผันผวนของ fold (~0.03) มาก ROAR แยกสองกลุ่มนี้ไม่ได้ (~0:45)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เพื่อยืนยัน เราใส่ฟีเจอร์สังเคราะห์ที่ขึ้นกับ label อย่างเดียว ไม่มีชีววิทยาเลย (d คูณ label บวกสัญญาณรบกวน) เมื่อสัญญาณแรงพอ (d = 1.75) ROAR จัดให้เป็นอันดับหนึ่ง และการตัดมันทำให้คะแนนตกมากกว่าการตัดสารจริงตัวใดก็ตาม (0.0127 เทียบกับ 0.0073 ของ dimethyl sulfone) ROAR วัดว่าฟีเจอร์ พกสัญญาณ มากแค่ไหน ไม่ได้วัดว่ามันมาจากไหน (~0:30)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กรณีที่สามคือข้อมูลปัสสาวะผู้ป่วยเบาหวาน ชื่อตัวอย่างของกลุ่มควบคุมทุกตัวขึ้นต้นด้วย ADG19007u และของผู้ป่วยทุกตัวขึ้นต้นด้วย ADG10003u เมื่อใช้เฉพาะ prefix นี้ทำนาย ได้ PR-AUC เท่ากับ 1.000 หมายความว่าความต่างระหว่างกลุ่มแยกจากล็อตการวัดไม่ได้ ค่า 0.976 ที่เคยรายงานก็ขึ้นกับ random seed เมื่อรัน 20 seed ค่าเฉลี่ยเหลือ 0.911 (~0:30)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กรณีที่สี่ งานเดิมเรียกว่า "ทำนายโรคอ้วน" แต่ label จริงคือ "ก่อนผ่าตัดเทียบกับหลังผ่าตัดหนึ่งปี" และ 71 จาก 106 คนปรากฏทั้งสองฝั่ง (80% ของตัวอย่างมาจากผู้ป่วยเหล่านี้) การแบ่ง CV ตามผู้ป่วยให้ ROC-AUC 0.960 ส่วน CV ธรรมดา 0.959 ไม่ต่างกัน ปัญหาจึงไม่ใช่ leakage แต่คือความหมายของ label โมเดลจึงเรียนรู้ทุกอย่างที่เปลี่ยนไปหลังผ่าตัด ไม่ใช่เฉพาะภาวะอ้วน (~0:30)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ข้อเสนอของเราคือเช็กลิสต์หกข้อ หนึ่ง ถ้าผลลัพธ์คำนวณจากฟีเจอร์ อย่าพึ่งการสลับ label ให้หักด้วยค่าเริ่มต้นของทุกสารพร้อมกันภายในแต่ละ fold และรายงาน pairing-destroyed null เป็นตัวช่วย สอง ฝึกโมเดลใหม่ในทุกรอบของ permutation สาม เทียบกับตัวให้คะแนนที่ไม่เรียนรู้อะไรเสมอ สี่ ตรวจหาสารจากภายนอก และรายงานผลทั้งแบบมีและไม่มี ห้า ทำตารางไขว้ระหว่าง label กับ metadata ทุกคอลัมน์ เช่น ล็อตการวัด ลำดับการรัน และเพศ หก เขียนให้ได้ในหนึ่งประโยคว่า label แยกอะไรออกจากอะไรจริง ๆ (~0:35)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ข้อสรุปคือ การตรวจสอบมาตรฐานจำเป็น แต่ไม่พอ ถ้าเราตรวจให้ครบทั้งสี่จุดนี้ ก็จะจับข้อผิดพลาดได้ก่อนตีพิมพ์ ข้อจำกัดที่ควรรู้: เราใช้ข้อมูลสาธารณะขนาดเล็กสามชุด ผลที่ได้เป็นเรื่องวิธีตรวจสอบ ไม่ได้บอกอะไรเกี่ยวกับชีววิทยาของโรคอ้วนหรือเบาหวาน การจำลองใช้ข้อมูลแบบเกาส์เซียนและโมเดลเชิงเส้น และกรณีทำซ้ำมีตัวอย่างน้อย ขอบคุณครับ/ค่ะ (~0:25)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สำรองสำหรับตอบคำถาม: ใช้ r = 0.25 เพื่อให้ได้ค่าสหสัมพันธ์ baseline-change เฉลี่ย -0.62 ที่เห็นใน MTBLS242 การทดสอบแต่ละแบบฝึกโมเดลใหม่ในทุก null replicate (200 ครั้ง) และเราทดสอบความถูกต้องกับข้อมูลสัญญาณรบกวนล้วนก่อน: อัตราปฏิเสธ 5.3% เมื่อฝึกใหม่ทุกครั้ง แต่ 9.7% เมื่อใช้คะแนน out-of-fold คงที่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สำรองสำหรับตอบคำถามเรื่องตัวเลขของกรณีที่ 1 ตัวเลข PR-AUC เดิมที่รายงานไว้ 0.671 ไม่ซ้ำเป๊ะเมื่อรันใหม่ (ได้ 0.683) ซึ่งตรงกับที่ repository เดิมบันทึกไว้ ความชุกของผู้ตอบสนองต่างกันเพราะเกณฑ์ 6 จาก 11 ให้จำนวนผู้ตอบสนองต่างกันในสองดีไซน์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Validated, yet Wrong  |  KMITL, Artificial Intelligence Technology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/ppt/charts/chart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image" Target="../media/image-10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image" Target="../media/image-11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image" Target="../media/image-12-3.png"/><Relationship Id="rId5" Type="http://schemas.openxmlformats.org/officeDocument/2006/relationships/image" Target="../media/image-12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3-1.png"/><Relationship Id="rId3" Type="http://schemas.openxmlformats.org/officeDocument/2006/relationships/image" Target="../media/image-13-2.png"/><Relationship Id="rId4" Type="http://schemas.openxmlformats.org/officeDocument/2006/relationships/image" Target="../media/image-13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15-1.png"/><Relationship Id="rId3" Type="http://schemas.openxmlformats.org/officeDocument/2006/relationships/image" Target="../media/image-15-2.png"/><Relationship Id="rId4" Type="http://schemas.openxmlformats.org/officeDocument/2006/relationships/image" Target="../media/image-15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สอบโครงงาน  |  ตุลาคม 2569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ผ่านการตรวจแล้ว แต่ผิด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Validated, yet Wrong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สี่วิธีที่โมเดลแมชชีนเลิร์นนิงบนข้อมูลเมตาโบโลมิกส์ขนาดเล็ก ผ่านการตรวจสอบมาตรฐานแต่ผลยังผิด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ชัยพร ออฤดี (67070217)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คณิณ แคลวิณ ชมวิวัฒน์ (67070015)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อาจารย์ที่ปรึกษา: ผศ.ดร. นนท์ คนึงสุขเกษม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สาขาเทคโนโลยีปัญญาประดิษฐ์ คณะเทคโนโลยีสารสนเทศ สจล.</a:t>
            </a:r>
            <a:endParaRPr lang="en-US" sz="1500" dirty="0"/>
          </a:p>
        </p:txBody>
      </p:sp>
      <p:sp>
        <p:nvSpPr>
          <p:cNvPr id="7" name="Check row"/>
          <p:cNvSpPr/>
          <p:nvPr/>
        </p:nvSpPr>
        <p:spPr>
          <a:xfrm>
            <a:off x="7589520" y="13258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8" name="Check badge"/>
          <p:cNvSpPr/>
          <p:nvPr/>
        </p:nvSpPr>
        <p:spPr>
          <a:xfrm>
            <a:off x="7790688" y="1481328"/>
            <a:ext cx="457200" cy="45720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9" name="Check icon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55448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412480" y="1325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ทดสอบข้ามชุดข้อมูล (cross-validation)</a:t>
            </a:r>
            <a:endParaRPr lang="en-US" sz="1400" dirty="0"/>
          </a:p>
        </p:txBody>
      </p:sp>
      <p:sp>
        <p:nvSpPr>
          <p:cNvPr id="11" name="Check row"/>
          <p:cNvSpPr/>
          <p:nvPr/>
        </p:nvSpPr>
        <p:spPr>
          <a:xfrm>
            <a:off x="7589520" y="22860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2" name="Check badge"/>
          <p:cNvSpPr/>
          <p:nvPr/>
        </p:nvSpPr>
        <p:spPr>
          <a:xfrm>
            <a:off x="7790688" y="2441448"/>
            <a:ext cx="457200" cy="45720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3" name="Check icon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51460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41248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 label (permutation test)</a:t>
            </a:r>
            <a:endParaRPr lang="en-US" sz="1400" dirty="0"/>
          </a:p>
        </p:txBody>
      </p:sp>
      <p:sp>
        <p:nvSpPr>
          <p:cNvPr id="15" name="Check row"/>
          <p:cNvSpPr/>
          <p:nvPr/>
        </p:nvSpPr>
        <p:spPr>
          <a:xfrm>
            <a:off x="7589520" y="324612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Check badge"/>
          <p:cNvSpPr/>
          <p:nvPr/>
        </p:nvSpPr>
        <p:spPr>
          <a:xfrm>
            <a:off x="7790688" y="3401568"/>
            <a:ext cx="457200" cy="45720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7" name="Check icon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47472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12480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ตัดฟีเจอร์แล้วฝึกใหม่ (ROAR)</a:t>
            </a:r>
            <a:endParaRPr lang="en-US" sz="1400" dirty="0"/>
          </a:p>
        </p:txBody>
      </p:sp>
      <p:sp>
        <p:nvSpPr>
          <p:cNvPr id="19" name="Verdict row"/>
          <p:cNvSpPr/>
          <p:nvPr/>
        </p:nvSpPr>
        <p:spPr>
          <a:xfrm>
            <a:off x="7589520" y="425196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20" name="Verdict icon" descr="wro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526280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21040" y="4251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ผลลัพธ์ยังผิดอยู่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ProjectDiagra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เราทำอะไร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ตรวจว่า ผลโมเดลที่ "ผ่านการตรวจ" เชื่อได้จริงไหม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NMR = nuclear magnetic resonance spectroscopy. งานทั้งสี่เรื่องเป็นงานเก่าของผู้เขียนเอง ใช้ข้อมูลสาธารณะจาก MetaboLights</a:t>
            </a:r>
            <a:endParaRPr lang="en-US" sz="1000" dirty="0"/>
          </a:p>
        </p:txBody>
      </p:sp>
      <p:sp>
        <p:nvSpPr>
          <p:cNvPr id="7" name="Step circle"/>
          <p:cNvSpPr/>
          <p:nvPr/>
        </p:nvSpPr>
        <p:spPr>
          <a:xfrm>
            <a:off x="1120140" y="1965960"/>
            <a:ext cx="1188720" cy="118872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8" name="Step icon" descr="Via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433" y="2251253"/>
            <a:ext cx="618134" cy="61813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เก็บตัวอย่าง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37033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เลือดหรือปัสสาวะของผู้ป่วย</a:t>
            </a:r>
            <a:endParaRPr lang="en-US" sz="1400" dirty="0"/>
          </a:p>
        </p:txBody>
      </p:sp>
      <p:pic>
        <p:nvPicPr>
          <p:cNvPr id="11" name="Arrow" descr="arro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376" y="2395728"/>
            <a:ext cx="329184" cy="329184"/>
          </a:xfrm>
          <a:prstGeom prst="rect">
            <a:avLst/>
          </a:prstGeom>
        </p:spPr>
      </p:pic>
      <p:sp>
        <p:nvSpPr>
          <p:cNvPr id="12" name="Step circle"/>
          <p:cNvSpPr/>
          <p:nvPr/>
        </p:nvSpPr>
        <p:spPr>
          <a:xfrm>
            <a:off x="4037076" y="1965960"/>
            <a:ext cx="1188720" cy="118872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3" name="Step icon" descr="Microscop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369" y="2251253"/>
            <a:ext cx="618134" cy="61813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3465576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วัดด้วยเครื่อง NMR</a:t>
            </a:r>
            <a:endParaRPr lang="en-US" sz="1800" dirty="0"/>
          </a:p>
        </p:txBody>
      </p:sp>
      <p:sp>
        <p:nvSpPr>
          <p:cNvPr id="15" name="Text 8"/>
          <p:cNvSpPr txBox="1"/>
          <p:nvPr/>
        </p:nvSpPr>
        <p:spPr>
          <a:xfrm>
            <a:off x="3465576" y="37033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ได้ปริมาณสารเมตาโบไลต์หลายสิบตัว</a:t>
            </a:r>
            <a:endParaRPr lang="en-US" sz="1400" dirty="0"/>
          </a:p>
        </p:txBody>
      </p:sp>
      <p:pic>
        <p:nvPicPr>
          <p:cNvPr id="16" name="Arrow" descr="arro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2" y="2395728"/>
            <a:ext cx="329184" cy="329184"/>
          </a:xfrm>
          <a:prstGeom prst="rect">
            <a:avLst/>
          </a:prstGeom>
        </p:spPr>
      </p:pic>
      <p:sp>
        <p:nvSpPr>
          <p:cNvPr id="17" name="Step circle"/>
          <p:cNvSpPr/>
          <p:nvPr/>
        </p:nvSpPr>
        <p:spPr>
          <a:xfrm>
            <a:off x="6954012" y="1965960"/>
            <a:ext cx="1188720" cy="118872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8" name="Step icon" descr="Robo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305" y="2251253"/>
            <a:ext cx="618134" cy="618134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6382512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 ML ทำนาย</a:t>
            </a:r>
            <a:endParaRPr lang="en-US" sz="1800" dirty="0"/>
          </a:p>
        </p:txBody>
      </p:sp>
      <p:sp>
        <p:nvSpPr>
          <p:cNvPr id="20" name="Text 11"/>
          <p:cNvSpPr txBox="1"/>
          <p:nvPr/>
        </p:nvSpPr>
        <p:spPr>
          <a:xfrm>
            <a:off x="6382512" y="37033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โรค หรือผลการรักษา</a:t>
            </a:r>
            <a:endParaRPr lang="en-US" sz="1400" dirty="0"/>
          </a:p>
        </p:txBody>
      </p:sp>
      <p:pic>
        <p:nvPicPr>
          <p:cNvPr id="21" name="Arrow" descr="arrow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2248" y="2395728"/>
            <a:ext cx="329184" cy="329184"/>
          </a:xfrm>
          <a:prstGeom prst="rect">
            <a:avLst/>
          </a:prstGeom>
        </p:spPr>
      </p:pic>
      <p:sp>
        <p:nvSpPr>
          <p:cNvPr id="22" name="Step circle"/>
          <p:cNvSpPr/>
          <p:nvPr/>
        </p:nvSpPr>
        <p:spPr>
          <a:xfrm>
            <a:off x="9870948" y="1965960"/>
            <a:ext cx="1188720" cy="118872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23" name="Step icon" descr="ShieldAlt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6241" y="2251253"/>
            <a:ext cx="618134" cy="618134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9299448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ตรวจสอบมาตรฐาน</a:t>
            </a:r>
            <a:endParaRPr lang="en-US" sz="1800" dirty="0"/>
          </a:p>
        </p:txBody>
      </p:sp>
      <p:sp>
        <p:nvSpPr>
          <p:cNvPr id="25" name="Text 14"/>
          <p:cNvSpPr txBox="1"/>
          <p:nvPr/>
        </p:nvSpPr>
        <p:spPr>
          <a:xfrm>
            <a:off x="9299448" y="37033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ผ่านทุกข้อ แล้วรายงานผล</a:t>
            </a:r>
            <a:endParaRPr lang="en-US" sz="1400" dirty="0"/>
          </a:p>
        </p:txBody>
      </p:sp>
      <p:sp>
        <p:nvSpPr>
          <p:cNvPr id="26" name="Question card"/>
          <p:cNvSpPr/>
          <p:nvPr/>
        </p:nvSpPr>
        <p:spPr>
          <a:xfrm>
            <a:off x="548640" y="461772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7" name="Question circle"/>
          <p:cNvSpPr/>
          <p:nvPr/>
        </p:nvSpPr>
        <p:spPr>
          <a:xfrm>
            <a:off x="822960" y="4846320"/>
            <a:ext cx="777240" cy="77724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28" name="Question icon" descr="QuestionCircle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498" y="5032858"/>
            <a:ext cx="404165" cy="404165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1828800" y="4663440"/>
            <a:ext cx="9537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คำถามของเรา: ถ้าผ่านทุกการตรวจแล้ว ผลนั้นถูกต้องจริงหรือเปล่า? เราพบว่า ในสี่กรณี คำตอบคือ "ไม่"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Tin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พื้นฐาน  |  metabolite คืออะไร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Metabolite คือสารเล็ก ๆ ในเลือดที่เปลี่ยนไปตามสุขภาพ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ตัวอย่างสารทั้งหมดมาจากตาราง MTBLS242 (21 ตัว). ที่มาของ dimethyl sulfone: อาหาร แบคทีเรียในลำไส้ หรือการเผาผลาญเอง (Engelke 2005) จึงเรียกว่า "น่าจะมาจากภายนอก" ไม่ใช่ยืนยันแล้ว</a:t>
            </a:r>
            <a:endParaRPr lang="en-US" sz="1000" dirty="0"/>
          </a:p>
        </p:txBody>
      </p:sp>
      <p:sp>
        <p:nvSpPr>
          <p:cNvPr id="7" name="Source circle"/>
          <p:cNvSpPr/>
          <p:nvPr/>
        </p:nvSpPr>
        <p:spPr>
          <a:xfrm>
            <a:off x="548640" y="1874520"/>
            <a:ext cx="640080" cy="64008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8" name="Source icon" descr="AppleAl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2028139"/>
            <a:ext cx="332842" cy="33284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2588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อาหาร</a:t>
            </a:r>
            <a:endParaRPr lang="en-US" sz="1500" dirty="0"/>
          </a:p>
        </p:txBody>
      </p:sp>
      <p:pic>
        <p:nvPicPr>
          <p:cNvPr id="10" name="Arrow" descr="arro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029968"/>
            <a:ext cx="329184" cy="329184"/>
          </a:xfrm>
          <a:prstGeom prst="rect">
            <a:avLst/>
          </a:prstGeom>
        </p:spPr>
      </p:pic>
      <p:sp>
        <p:nvSpPr>
          <p:cNvPr id="11" name="Source circle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2" name="Source icon" descr="Capsule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2896819"/>
            <a:ext cx="332842" cy="332842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325880" y="2743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ยา</a:t>
            </a:r>
            <a:endParaRPr lang="en-US" sz="1500" dirty="0"/>
          </a:p>
        </p:txBody>
      </p:sp>
      <p:pic>
        <p:nvPicPr>
          <p:cNvPr id="14" name="Arrow" descr="arro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2898648"/>
            <a:ext cx="329184" cy="329184"/>
          </a:xfrm>
          <a:prstGeom prst="rect">
            <a:avLst/>
          </a:prstGeom>
        </p:spPr>
      </p:pic>
      <p:sp>
        <p:nvSpPr>
          <p:cNvPr id="15" name="Source circle"/>
          <p:cNvSpPr/>
          <p:nvPr/>
        </p:nvSpPr>
        <p:spPr>
          <a:xfrm>
            <a:off x="548640" y="3611880"/>
            <a:ext cx="640080" cy="64008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6" name="Source icon" descr="Heartbea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59" y="3765499"/>
            <a:ext cx="332842" cy="332842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325880" y="3611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การเผาผลาญในร่างกาย</a:t>
            </a:r>
            <a:endParaRPr lang="en-US" sz="1500" dirty="0"/>
          </a:p>
        </p:txBody>
      </p:sp>
      <p:pic>
        <p:nvPicPr>
          <p:cNvPr id="18" name="Arrow" descr="arrow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200" y="3767328"/>
            <a:ext cx="329184" cy="329184"/>
          </a:xfrm>
          <a:prstGeom prst="rect">
            <a:avLst/>
          </a:prstGeom>
        </p:spPr>
      </p:pic>
      <p:sp>
        <p:nvSpPr>
          <p:cNvPr id="19" name="Source circle"/>
          <p:cNvSpPr/>
          <p:nvPr/>
        </p:nvSpPr>
        <p:spPr>
          <a:xfrm>
            <a:off x="548640" y="4480560"/>
            <a:ext cx="640080" cy="64008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20" name="Source icon" descr="Flask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259" y="4634179"/>
            <a:ext cx="332842" cy="332842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1325880" y="4480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สิ่งปนเข้ามาตอนเก็บตัวอย่าง</a:t>
            </a:r>
            <a:endParaRPr lang="en-US" sz="1500" dirty="0"/>
          </a:p>
        </p:txBody>
      </p:sp>
      <p:pic>
        <p:nvPicPr>
          <p:cNvPr id="22" name="Arrow" descr="arrow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200" y="4636008"/>
            <a:ext cx="329184" cy="329184"/>
          </a:xfrm>
          <a:prstGeom prst="rect">
            <a:avLst/>
          </a:prstGeom>
        </p:spPr>
      </p:pic>
      <p:sp>
        <p:nvSpPr>
          <p:cNvPr id="23" name="Blood circle"/>
          <p:cNvSpPr/>
          <p:nvPr/>
        </p:nvSpPr>
        <p:spPr>
          <a:xfrm>
            <a:off x="4343400" y="2240280"/>
            <a:ext cx="2103120" cy="2103120"/>
          </a:xfrm>
          <a:prstGeom prst="ellipse">
            <a:avLst/>
          </a:prstGeom>
          <a:solidFill>
            <a:srgbClr val="DCE9F9"/>
          </a:solidFill>
          <a:ln w="19050">
            <a:solidFill>
              <a:srgbClr val="2A78D6"/>
            </a:solidFill>
            <a:prstDash val="solid"/>
          </a:ln>
        </p:spPr>
      </p:sp>
      <p:pic>
        <p:nvPicPr>
          <p:cNvPr id="24" name="Blood icon" descr="blood drop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2514600"/>
            <a:ext cx="822960" cy="822960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4343400" y="3429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เลือด / ปัสสาวะ</a:t>
            </a:r>
            <a:endParaRPr lang="en-US" sz="1500" dirty="0"/>
          </a:p>
        </p:txBody>
      </p:sp>
      <p:pic>
        <p:nvPicPr>
          <p:cNvPr id="26" name="Arrow" descr="arrow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9400" y="3108960"/>
            <a:ext cx="365760" cy="365760"/>
          </a:xfrm>
          <a:prstGeom prst="rect">
            <a:avLst/>
          </a:prstGeom>
        </p:spPr>
      </p:pic>
      <p:sp>
        <p:nvSpPr>
          <p:cNvPr id="27" name="Metabolite card"/>
          <p:cNvSpPr/>
          <p:nvPr/>
        </p:nvSpPr>
        <p:spPr>
          <a:xfrm>
            <a:off x="7223760" y="1874520"/>
            <a:ext cx="4389120" cy="3337560"/>
          </a:xfrm>
          <a:prstGeom prst="roundRect">
            <a:avLst>
              <a:gd name="adj" fmla="val 219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8" name="Text 14"/>
          <p:cNvSpPr txBox="1"/>
          <p:nvPr/>
        </p:nvSpPr>
        <p:spPr>
          <a:xfrm>
            <a:off x="745236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สารที่วัดได้ในข้อมูลของเรา (21 ตัว)</a:t>
            </a:r>
            <a:endParaRPr lang="en-US" sz="1400" dirty="0"/>
          </a:p>
        </p:txBody>
      </p:sp>
      <p:sp>
        <p:nvSpPr>
          <p:cNvPr id="29" name="Text 15"/>
          <p:cNvSpPr txBox="1"/>
          <p:nvPr/>
        </p:nvSpPr>
        <p:spPr>
          <a:xfrm>
            <a:off x="7452360" y="2468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สารในร่างกาย</a:t>
            </a:r>
            <a:endParaRPr lang="en-US" sz="1200" dirty="0"/>
          </a:p>
        </p:txBody>
      </p:sp>
      <p:sp>
        <p:nvSpPr>
          <p:cNvPr id="30" name="Chip"/>
          <p:cNvSpPr/>
          <p:nvPr/>
        </p:nvSpPr>
        <p:spPr>
          <a:xfrm>
            <a:off x="7452360" y="278892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sp>
        <p:nvSpPr>
          <p:cNvPr id="31" name="Text 17"/>
          <p:cNvSpPr txBox="1"/>
          <p:nvPr/>
        </p:nvSpPr>
        <p:spPr>
          <a:xfrm>
            <a:off x="7452360" y="2788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L-valine</a:t>
            </a:r>
            <a:endParaRPr lang="en-US" sz="1200" dirty="0"/>
          </a:p>
        </p:txBody>
      </p:sp>
      <p:sp>
        <p:nvSpPr>
          <p:cNvPr id="32" name="Chip"/>
          <p:cNvSpPr/>
          <p:nvPr/>
        </p:nvSpPr>
        <p:spPr>
          <a:xfrm>
            <a:off x="8567928" y="278892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sp>
        <p:nvSpPr>
          <p:cNvPr id="33" name="Text 19"/>
          <p:cNvSpPr txBox="1"/>
          <p:nvPr/>
        </p:nvSpPr>
        <p:spPr>
          <a:xfrm>
            <a:off x="8567928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glycine</a:t>
            </a:r>
            <a:endParaRPr lang="en-US" sz="1200" dirty="0"/>
          </a:p>
        </p:txBody>
      </p:sp>
      <p:sp>
        <p:nvSpPr>
          <p:cNvPr id="34" name="Chip"/>
          <p:cNvSpPr/>
          <p:nvPr/>
        </p:nvSpPr>
        <p:spPr>
          <a:xfrm>
            <a:off x="9592056" y="27889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sp>
        <p:nvSpPr>
          <p:cNvPr id="35" name="Text 21"/>
          <p:cNvSpPr txBox="1"/>
          <p:nvPr/>
        </p:nvSpPr>
        <p:spPr>
          <a:xfrm>
            <a:off x="9592056" y="2788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lactic acid</a:t>
            </a:r>
            <a:endParaRPr lang="en-US" sz="1200" dirty="0"/>
          </a:p>
        </p:txBody>
      </p:sp>
      <p:sp>
        <p:nvSpPr>
          <p:cNvPr id="36" name="Chip"/>
          <p:cNvSpPr/>
          <p:nvPr/>
        </p:nvSpPr>
        <p:spPr>
          <a:xfrm>
            <a:off x="7452360" y="324612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sp>
        <p:nvSpPr>
          <p:cNvPr id="37" name="Text 23"/>
          <p:cNvSpPr txBox="1"/>
          <p:nvPr/>
        </p:nvSpPr>
        <p:spPr>
          <a:xfrm>
            <a:off x="7452360" y="3246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lipoproteins</a:t>
            </a:r>
            <a:endParaRPr lang="en-US" sz="1200" dirty="0"/>
          </a:p>
        </p:txBody>
      </p:sp>
      <p:sp>
        <p:nvSpPr>
          <p:cNvPr id="38" name="Chip"/>
          <p:cNvSpPr/>
          <p:nvPr/>
        </p:nvSpPr>
        <p:spPr>
          <a:xfrm>
            <a:off x="8842248" y="324612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sp>
        <p:nvSpPr>
          <p:cNvPr id="39" name="Text 25"/>
          <p:cNvSpPr txBox="1"/>
          <p:nvPr/>
        </p:nvSpPr>
        <p:spPr>
          <a:xfrm>
            <a:off x="8842248" y="32461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creatinine</a:t>
            </a:r>
            <a:endParaRPr lang="en-US" sz="1200" dirty="0"/>
          </a:p>
        </p:txBody>
      </p:sp>
      <p:sp>
        <p:nvSpPr>
          <p:cNvPr id="40" name="Chip"/>
          <p:cNvSpPr/>
          <p:nvPr/>
        </p:nvSpPr>
        <p:spPr>
          <a:xfrm>
            <a:off x="10094976" y="32461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sp>
        <p:nvSpPr>
          <p:cNvPr id="41" name="Text 27"/>
          <p:cNvSpPr txBox="1"/>
          <p:nvPr/>
        </p:nvSpPr>
        <p:spPr>
          <a:xfrm>
            <a:off x="10094976" y="32461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citrate</a:t>
            </a:r>
            <a:endParaRPr lang="en-US" sz="1200" dirty="0"/>
          </a:p>
        </p:txBody>
      </p:sp>
      <p:sp>
        <p:nvSpPr>
          <p:cNvPr id="42" name="Text 28"/>
          <p:cNvSpPr txBox="1"/>
          <p:nvPr/>
        </p:nvSpPr>
        <p:spPr>
          <a:xfrm>
            <a:off x="7452360" y="3840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น่าจะมาจากภายนอก (ดูกรณีที่ 2)</a:t>
            </a:r>
            <a:endParaRPr lang="en-US" sz="1200" dirty="0"/>
          </a:p>
        </p:txBody>
      </p:sp>
      <p:sp>
        <p:nvSpPr>
          <p:cNvPr id="43" name="Chip"/>
          <p:cNvSpPr/>
          <p:nvPr/>
        </p:nvSpPr>
        <p:spPr>
          <a:xfrm>
            <a:off x="7452360" y="41605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sp>
        <p:nvSpPr>
          <p:cNvPr id="44" name="Text 30"/>
          <p:cNvSpPr txBox="1"/>
          <p:nvPr/>
        </p:nvSpPr>
        <p:spPr>
          <a:xfrm>
            <a:off x="7452360" y="4160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isopropanol</a:t>
            </a:r>
            <a:endParaRPr lang="en-US" sz="1200" dirty="0"/>
          </a:p>
        </p:txBody>
      </p:sp>
      <p:sp>
        <p:nvSpPr>
          <p:cNvPr id="45" name="Chip"/>
          <p:cNvSpPr/>
          <p:nvPr/>
        </p:nvSpPr>
        <p:spPr>
          <a:xfrm>
            <a:off x="8750808" y="41605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sp>
        <p:nvSpPr>
          <p:cNvPr id="46" name="Text 32"/>
          <p:cNvSpPr txBox="1"/>
          <p:nvPr/>
        </p:nvSpPr>
        <p:spPr>
          <a:xfrm>
            <a:off x="8750808" y="4160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methanol</a:t>
            </a:r>
            <a:endParaRPr lang="en-US" sz="1200" dirty="0"/>
          </a:p>
        </p:txBody>
      </p:sp>
      <p:sp>
        <p:nvSpPr>
          <p:cNvPr id="47" name="Chip"/>
          <p:cNvSpPr/>
          <p:nvPr/>
        </p:nvSpPr>
        <p:spPr>
          <a:xfrm>
            <a:off x="7452360" y="46177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sp>
        <p:nvSpPr>
          <p:cNvPr id="48" name="Text 34"/>
          <p:cNvSpPr txBox="1"/>
          <p:nvPr/>
        </p:nvSpPr>
        <p:spPr>
          <a:xfrm>
            <a:off x="7452360" y="4617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dimethyl sulfone</a:t>
            </a:r>
            <a:endParaRPr lang="en-US" sz="1200" dirty="0"/>
          </a:p>
        </p:txBody>
      </p:sp>
      <p:sp>
        <p:nvSpPr>
          <p:cNvPr id="49" name="Takeaway"/>
          <p:cNvSpPr/>
          <p:nvPr/>
        </p:nvSpPr>
        <p:spPr>
          <a:xfrm>
            <a:off x="548640" y="544068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50" name="Text 36"/>
          <p:cNvSpPr txBox="1"/>
          <p:nvPr/>
        </p:nvSpPr>
        <p:spPr>
          <a:xfrm>
            <a:off x="822960" y="544068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ปริมาณของสารแต่ละตัว = ตัวเลข 1 ค่า ต่อ 1 ตัวอย่าง จึงเอาไปเข้าโมเดลได้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Tab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พื้นฐาน  |  ข้อมูลหน้าตาเป็นอย่างไร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จากหลอดเลือด เป็นตารางตัวเลขที่โมเดลเห็น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ตารางขวา: ค่าจริงจาก m_MTBLS242_v2_maf.tsv (smallmolecule_abundance, หน่วยตามไฟล์ MetaboLights). ภาพซ้าย: สเปกตรัมสมมติ สร้างโดย presentation/assets/make_spectrum.py</a:t>
            </a:r>
            <a:endParaRPr lang="en-US" sz="1000" dirty="0"/>
          </a:p>
        </p:txBody>
      </p:sp>
      <p:pic>
        <p:nvPicPr>
          <p:cNvPr id="7" name="NMR schematic" descr="Schematic NMR spectrum with labelled pea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20"/>
            <a:ext cx="4480560" cy="237744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4297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ภาพประกอบ (สเปกตรัมสมมติ ไม่ใช่ข้อมูลจริง): ความสูงของยอด = ปริมาณสาร</a:t>
            </a:r>
            <a:endParaRPr lang="en-US" sz="1200" dirty="0"/>
          </a:p>
        </p:txBody>
      </p:sp>
      <p:pic>
        <p:nvPicPr>
          <p:cNvPr id="9" name="Arrow" descr="arro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880360"/>
            <a:ext cx="310896" cy="310896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1874520"/>
          <a:ext cx="608076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761695"/>
                <a:gridCol w="761695"/>
                <a:gridCol w="761695"/>
                <a:gridCol w="761695"/>
                <a:gridCol w="761695"/>
                <a:gridCol w="764438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ตัวอย่าง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L-valine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glycine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lactic acid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lipo-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proteins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iso-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propanol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dimethyl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sulfone</a:t>
                      </a:r>
                      <a:endParaRPr lang="en-US" sz="10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0003 · ก่อนผ่าตัด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316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1699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39591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166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26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0003 · 12 เดือน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335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273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1387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22542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260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0008 · ก่อนผ่าตัด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368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337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1131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28800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0008 · 12 เดือน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228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426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1575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23382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4"/>
          <p:cNvSpPr txBox="1"/>
          <p:nvPr/>
        </p:nvSpPr>
        <p:spPr>
          <a:xfrm>
            <a:off x="5532120" y="4343400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ตัวเลขจริงจาก MTBLS242 (ผู้ป่วย 2 คน คนละ 2 ตัวอย่าง จากทั้งหมด 21 สาร)</a:t>
            </a:r>
            <a:endParaRPr lang="en-US" sz="1200" dirty="0"/>
          </a:p>
        </p:txBody>
      </p:sp>
      <p:sp>
        <p:nvSpPr>
          <p:cNvPr id="12" name="Legend card"/>
          <p:cNvSpPr/>
          <p:nvPr/>
        </p:nvSpPr>
        <p:spPr>
          <a:xfrm>
            <a:off x="548640" y="4983480"/>
            <a:ext cx="3514344" cy="960120"/>
          </a:xfrm>
          <a:prstGeom prst="roundRect">
            <a:avLst>
              <a:gd name="adj" fmla="val 761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3" name="Legend circle"/>
          <p:cNvSpPr/>
          <p:nvPr/>
        </p:nvSpPr>
        <p:spPr>
          <a:xfrm>
            <a:off x="731520" y="5138928"/>
            <a:ext cx="640080" cy="64008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4" name="Legend icon" descr="Via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5292547"/>
            <a:ext cx="332842" cy="332842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508760" y="4983480"/>
            <a:ext cx="2417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แถว = ตัวอย่าง 1 หลอด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106 + 71 ตัวอย่าง</a:t>
            </a:r>
            <a:endParaRPr lang="en-US" sz="1500" dirty="0"/>
          </a:p>
        </p:txBody>
      </p:sp>
      <p:sp>
        <p:nvSpPr>
          <p:cNvPr id="16" name="Legend card"/>
          <p:cNvSpPr/>
          <p:nvPr/>
        </p:nvSpPr>
        <p:spPr>
          <a:xfrm>
            <a:off x="4337304" y="4983480"/>
            <a:ext cx="3514344" cy="960120"/>
          </a:xfrm>
          <a:prstGeom prst="roundRect">
            <a:avLst>
              <a:gd name="adj" fmla="val 761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7" name="Legend circle"/>
          <p:cNvSpPr/>
          <p:nvPr/>
        </p:nvSpPr>
        <p:spPr>
          <a:xfrm>
            <a:off x="4520184" y="5138928"/>
            <a:ext cx="640080" cy="64008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8" name="Legend icon" descr="Flas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803" y="5292547"/>
            <a:ext cx="332842" cy="332842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5297424" y="4983480"/>
            <a:ext cx="2417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คอลัมน์ = สาร 1 ชนิด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ที่ใช้เป็นฟีเจอร์ 21 ตัว</a:t>
            </a:r>
            <a:endParaRPr lang="en-US" sz="1500" dirty="0"/>
          </a:p>
        </p:txBody>
      </p:sp>
      <p:sp>
        <p:nvSpPr>
          <p:cNvPr id="20" name="Legend card"/>
          <p:cNvSpPr/>
          <p:nvPr/>
        </p:nvSpPr>
        <p:spPr>
          <a:xfrm>
            <a:off x="8125968" y="4983480"/>
            <a:ext cx="3514344" cy="960120"/>
          </a:xfrm>
          <a:prstGeom prst="roundRect">
            <a:avLst>
              <a:gd name="adj" fmla="val 761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1" name="Legend circle"/>
          <p:cNvSpPr/>
          <p:nvPr/>
        </p:nvSpPr>
        <p:spPr>
          <a:xfrm>
            <a:off x="8308848" y="5138928"/>
            <a:ext cx="640080" cy="64008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22" name="Legend icon" descr="Tag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2467" y="5292547"/>
            <a:ext cx="332842" cy="332842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9086088" y="4983480"/>
            <a:ext cx="2417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label = ก่อน / หลังผ่าตัด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สิ่งที่โมเดลต้องทำนาย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Databas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ข้อมูลที่ใช้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ข้อมูลสาธารณะสามชุด ขนาดเล็กกว่า 200 คน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MetaboLights: www.ebi.ac.uk/metabolights. ตัวอย่างน้อยเป็นลักษณะทั่วไปของงานเมตาโบโลมิกส์ ทำให้ตัวเลขคลาดเคลื่อนง่าย</a:t>
            </a:r>
            <a:endParaRPr lang="en-US" sz="1000" dirty="0"/>
          </a:p>
        </p:txBody>
      </p:sp>
      <p:sp>
        <p:nvSpPr>
          <p:cNvPr id="7" name="Dataset card"/>
          <p:cNvSpPr/>
          <p:nvPr/>
        </p:nvSpPr>
        <p:spPr>
          <a:xfrm>
            <a:off x="548640" y="1920240"/>
            <a:ext cx="3514344" cy="3931920"/>
          </a:xfrm>
          <a:prstGeom prst="roundRect">
            <a:avLst>
              <a:gd name="adj" fmla="val 208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8" name="Dataset circle"/>
          <p:cNvSpPr/>
          <p:nvPr/>
        </p:nvSpPr>
        <p:spPr>
          <a:xfrm>
            <a:off x="822960" y="2148840"/>
            <a:ext cx="914400" cy="91440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9" name="Dataset icon" descr="We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368296"/>
            <a:ext cx="475488" cy="47548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920240" y="2194560"/>
            <a:ext cx="1959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MTBLS242</a:t>
            </a:r>
            <a:endParaRPr lang="en-US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1920240" y="2606040"/>
            <a:ext cx="1959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ผ่าตัดกระเพาะ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822960" y="333756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ซีรัม วัดด้วย NMR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822960" y="379476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ก่อนผ่าตัด 106 คน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หลังผ่าตัด 12 เดือน 71 คน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22960" y="512064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ใช้ในกรณีที่ 1, 2, 4</a:t>
            </a:r>
            <a:endParaRPr lang="en-US" sz="1400" dirty="0"/>
          </a:p>
        </p:txBody>
      </p:sp>
      <p:sp>
        <p:nvSpPr>
          <p:cNvPr id="15" name="Dataset card"/>
          <p:cNvSpPr/>
          <p:nvPr/>
        </p:nvSpPr>
        <p:spPr>
          <a:xfrm>
            <a:off x="4337304" y="1920240"/>
            <a:ext cx="3514344" cy="3931920"/>
          </a:xfrm>
          <a:prstGeom prst="roundRect">
            <a:avLst>
              <a:gd name="adj" fmla="val 208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Dataset circle"/>
          <p:cNvSpPr/>
          <p:nvPr/>
        </p:nvSpPr>
        <p:spPr>
          <a:xfrm>
            <a:off x="4611624" y="2148840"/>
            <a:ext cx="914400" cy="91440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7" name="Dataset icon" descr="Tin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080" y="236829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708904" y="2194560"/>
            <a:ext cx="1959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MTBLS1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5708904" y="2606040"/>
            <a:ext cx="1959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เบาหวานชนิดที่ 2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4611624" y="333756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ปัสสาวะ วัดด้วย NMR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4611624" y="379476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132 ตัวอย่าง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40 ถึง 42 คน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611624" y="512064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ใช้ในกรณีที่ 3</a:t>
            </a:r>
            <a:endParaRPr lang="en-US" sz="1400" dirty="0"/>
          </a:p>
        </p:txBody>
      </p:sp>
      <p:sp>
        <p:nvSpPr>
          <p:cNvPr id="23" name="Dataset card"/>
          <p:cNvSpPr/>
          <p:nvPr/>
        </p:nvSpPr>
        <p:spPr>
          <a:xfrm>
            <a:off x="8125968" y="1920240"/>
            <a:ext cx="3514344" cy="3931920"/>
          </a:xfrm>
          <a:prstGeom prst="roundRect">
            <a:avLst>
              <a:gd name="adj" fmla="val 208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4" name="Dataset circle"/>
          <p:cNvSpPr/>
          <p:nvPr/>
        </p:nvSpPr>
        <p:spPr>
          <a:xfrm>
            <a:off x="8400288" y="2148840"/>
            <a:ext cx="914400" cy="91440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25" name="Dataset icon" descr="Heartbea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9744" y="2368296"/>
            <a:ext cx="475488" cy="47548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497568" y="2194560"/>
            <a:ext cx="1959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MTBLS881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9497568" y="2606040"/>
            <a:ext cx="1959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ผ่าตัดหัวใจ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8400288" y="333756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ซีรัม วัดด้วย NMR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8400288" y="379476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47 คน ต่อตำแหน่งเก็บเลือด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ก่อนผ่าตัด 1 ชม. และหลัง 20 ชม.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8400288" y="5120640"/>
            <a:ext cx="2965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ทำซ้ำกรณีที่ 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ExclamationTriang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การตรวจมาตรฐานแต่ละข้อ ถามได้แค่คำถามเดียว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Framing follows Kapoor and Narayanan (2023) on leakage and Ojala and Garriga (2010) on permutation tests.</a:t>
            </a:r>
            <a:endParaRPr lang="en-US" sz="1000" dirty="0"/>
          </a:p>
        </p:txBody>
      </p:sp>
      <p:sp>
        <p:nvSpPr>
          <p:cNvPr id="7" name="Column card"/>
          <p:cNvSpPr/>
          <p:nvPr/>
        </p:nvSpPr>
        <p:spPr>
          <a:xfrm>
            <a:off x="548640" y="1920240"/>
            <a:ext cx="3514344" cy="3931920"/>
          </a:xfrm>
          <a:prstGeom prst="roundRect">
            <a:avLst>
              <a:gd name="adj" fmla="val 208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8" name="Check circle"/>
          <p:cNvSpPr/>
          <p:nvPr/>
        </p:nvSpPr>
        <p:spPr>
          <a:xfrm>
            <a:off x="822960" y="2103120"/>
            <a:ext cx="777240" cy="77724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9" name="Check icon" descr="LayerGroup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98" y="2289658"/>
            <a:ext cx="404165" cy="40416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737360" y="2103120"/>
            <a:ext cx="2142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ทดสอบข้ามชุดข้อมูล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(cross-validation)</a:t>
            </a:r>
            <a:endParaRPr lang="en-US" sz="1600" dirty="0"/>
          </a:p>
        </p:txBody>
      </p:sp>
      <p:pic>
        <p:nvPicPr>
          <p:cNvPr id="11" name="Answers icon" descr="answ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0040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61872" y="3108960"/>
            <a:ext cx="2599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ตอบได้: โมเดลใช้กับตัวอย่างใหม่ ที่เก็บแบบเดิมได้ไหม</a:t>
            </a:r>
            <a:endParaRPr lang="en-US" sz="1500" dirty="0"/>
          </a:p>
        </p:txBody>
      </p:sp>
      <p:pic>
        <p:nvPicPr>
          <p:cNvPr id="13" name="Never icon" descr="never ask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34840"/>
            <a:ext cx="292608" cy="29260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261872" y="4343400"/>
            <a:ext cx="2599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ไม่เคยถาม: "แบบเดิม" ซ่อน batch คนเดิม หรือเวลาไว้หรือเปล่า</a:t>
            </a:r>
            <a:endParaRPr lang="en-US" sz="1500" dirty="0"/>
          </a:p>
        </p:txBody>
      </p:sp>
      <p:sp>
        <p:nvSpPr>
          <p:cNvPr id="15" name="Column card"/>
          <p:cNvSpPr/>
          <p:nvPr/>
        </p:nvSpPr>
        <p:spPr>
          <a:xfrm>
            <a:off x="4337304" y="1920240"/>
            <a:ext cx="3514344" cy="3931920"/>
          </a:xfrm>
          <a:prstGeom prst="roundRect">
            <a:avLst>
              <a:gd name="adj" fmla="val 208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Check circle"/>
          <p:cNvSpPr/>
          <p:nvPr/>
        </p:nvSpPr>
        <p:spPr>
          <a:xfrm>
            <a:off x="4611624" y="2103120"/>
            <a:ext cx="777240" cy="77724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7" name="Check icon" descr="Random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8162" y="2289658"/>
            <a:ext cx="404165" cy="40416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5526024" y="2103120"/>
            <a:ext cx="2142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 label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(permutation test)</a:t>
            </a:r>
            <a:endParaRPr lang="en-US" sz="1600" dirty="0"/>
          </a:p>
        </p:txBody>
      </p:sp>
      <p:pic>
        <p:nvPicPr>
          <p:cNvPr id="19" name="Answers icon" descr="answe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1624" y="3200400"/>
            <a:ext cx="292608" cy="292608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5050536" y="3108960"/>
            <a:ext cx="2599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ตอบได้: ฟีเจอร์กับ label สัมพันธ์กันไหม</a:t>
            </a:r>
            <a:endParaRPr lang="en-US" sz="1500" dirty="0"/>
          </a:p>
        </p:txBody>
      </p:sp>
      <p:pic>
        <p:nvPicPr>
          <p:cNvPr id="21" name="Never icon" descr="never ask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1624" y="4434840"/>
            <a:ext cx="292608" cy="292608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5050536" y="4343400"/>
            <a:ext cx="2599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ไม่เคยถาม: ความสัมพันธ์นั้นมีอยู่แล้วโดยโครงสร้างหรือเปล่า</a:t>
            </a:r>
            <a:endParaRPr lang="en-US" sz="1500" dirty="0"/>
          </a:p>
        </p:txBody>
      </p:sp>
      <p:sp>
        <p:nvSpPr>
          <p:cNvPr id="23" name="Column card"/>
          <p:cNvSpPr/>
          <p:nvPr/>
        </p:nvSpPr>
        <p:spPr>
          <a:xfrm>
            <a:off x="8125968" y="1920240"/>
            <a:ext cx="3514344" cy="3931920"/>
          </a:xfrm>
          <a:prstGeom prst="roundRect">
            <a:avLst>
              <a:gd name="adj" fmla="val 2082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4" name="Check circle"/>
          <p:cNvSpPr/>
          <p:nvPr/>
        </p:nvSpPr>
        <p:spPr>
          <a:xfrm>
            <a:off x="8400288" y="2103120"/>
            <a:ext cx="777240" cy="77724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25" name="Check icon" descr="Cut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826" y="2289658"/>
            <a:ext cx="404165" cy="404165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9314688" y="2103120"/>
            <a:ext cx="2142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ตัดฟีเจอร์แล้วฝึกใหม่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(ROAR)</a:t>
            </a:r>
            <a:endParaRPr lang="en-US" sz="1600" dirty="0"/>
          </a:p>
        </p:txBody>
      </p:sp>
      <p:pic>
        <p:nvPicPr>
          <p:cNvPr id="27" name="Answers icon" descr="answer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0288" y="3200400"/>
            <a:ext cx="292608" cy="292608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8839200" y="3108960"/>
            <a:ext cx="2599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ตอบได้: โมเดลพึ่งฟีเจอร์นี้ไหม</a:t>
            </a:r>
            <a:endParaRPr lang="en-US" sz="1500" dirty="0"/>
          </a:p>
        </p:txBody>
      </p:sp>
      <p:pic>
        <p:nvPicPr>
          <p:cNvPr id="29" name="Never icon" descr="never ask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0288" y="4434840"/>
            <a:ext cx="292608" cy="292608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8839200" y="4343400"/>
            <a:ext cx="25999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ไม่เคยถาม: ฟีเจอร์นั้นเป็นชีววิทยา หรือสารปนเปื้อน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Search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สี่ปัญหาที่การตรวจมาตรฐานมองไม่เห็น และวิธีจับ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Table I of the paper. Cases 1, 2, 4: MTBLS242. Case 3: MTBLS1.</a:t>
            </a:r>
            <a:endParaRPr lang="en-US" sz="1000" dirty="0"/>
          </a:p>
        </p:txBody>
      </p:sp>
      <p:pic>
        <p:nvPicPr>
          <p:cNvPr id="7" name="Column icon" descr="ปัญหาที่ซ่อนอยู่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8800"/>
            <a:ext cx="274320" cy="2743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32688" y="18013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ปัญหาที่ซ่อนอยู่</a:t>
            </a:r>
            <a:endParaRPr lang="en-US" sz="1400" dirty="0"/>
          </a:p>
        </p:txBody>
      </p:sp>
      <p:pic>
        <p:nvPicPr>
          <p:cNvPr id="9" name="Column icon" descr="ตรวจมาตรฐานแล้ว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82880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007608" y="180136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ตรวจมาตรฐานแล้ว</a:t>
            </a:r>
            <a:endParaRPr lang="en-US" sz="1400" dirty="0"/>
          </a:p>
        </p:txBody>
      </p:sp>
      <p:pic>
        <p:nvPicPr>
          <p:cNvPr id="11" name="Column icon" descr="จับได้ด้วย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82880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9390888" y="180136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จับได้ด้วย</a:t>
            </a:r>
            <a:endParaRPr lang="en-US" sz="1400" dirty="0"/>
          </a:p>
        </p:txBody>
      </p:sp>
      <p:sp>
        <p:nvSpPr>
          <p:cNvPr id="13" name="Row band"/>
          <p:cNvSpPr/>
          <p:nvPr/>
        </p:nvSpPr>
        <p:spPr>
          <a:xfrm>
            <a:off x="548640" y="22402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Problem circle"/>
          <p:cNvSpPr/>
          <p:nvPr/>
        </p:nvSpPr>
        <p:spPr>
          <a:xfrm>
            <a:off x="685800" y="2350008"/>
            <a:ext cx="603504" cy="603504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15" name="Problem icon" descr="SyncAl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41" y="2494849"/>
            <a:ext cx="313822" cy="313822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463040" y="2240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 ผลลัพธ์ถูกสร้างจากฟีเจอร์เอง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label คำนวณจากค่าที่ใช้เป็นฟีเจอร์</a:t>
            </a:r>
            <a:endParaRPr lang="en-US" sz="1600" dirty="0"/>
          </a:p>
        </p:txBody>
      </p:sp>
      <p:pic>
        <p:nvPicPr>
          <p:cNvPr id="17" name="Arrow" descr="arrow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368" y="2496312"/>
            <a:ext cx="310896" cy="310896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5623560" y="2240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 label ให้ p = 0.002</a:t>
            </a:r>
            <a:endParaRPr lang="en-US" sz="1400" dirty="0"/>
          </a:p>
        </p:txBody>
      </p:sp>
      <p:pic>
        <p:nvPicPr>
          <p:cNvPr id="19" name="Arrow" descr="arrow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080" y="2496312"/>
            <a:ext cx="310896" cy="310896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9006840" y="224028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สลับคู่ตัวอย่าง + หักค่าเริ่มต้น</a:t>
            </a:r>
            <a:endParaRPr lang="en-US" sz="1400" dirty="0"/>
          </a:p>
        </p:txBody>
      </p:sp>
      <p:sp>
        <p:nvSpPr>
          <p:cNvPr id="21" name="Row band"/>
          <p:cNvSpPr/>
          <p:nvPr/>
        </p:nvSpPr>
        <p:spPr>
          <a:xfrm>
            <a:off x="548640" y="3182112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2" name="Problem circle"/>
          <p:cNvSpPr/>
          <p:nvPr/>
        </p:nvSpPr>
        <p:spPr>
          <a:xfrm>
            <a:off x="685800" y="3291840"/>
            <a:ext cx="603504" cy="603504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23" name="Problem icon" descr="Flask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641" y="3436681"/>
            <a:ext cx="313822" cy="313822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1463040" y="318211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 สารปนเปื้อนถูกนับเป็นชีววิทยา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สารจากภายนอกดูสำคัญเท่าสารจริง</a:t>
            </a:r>
            <a:endParaRPr lang="en-US" sz="1600" dirty="0"/>
          </a:p>
        </p:txBody>
      </p:sp>
      <p:pic>
        <p:nvPicPr>
          <p:cNvPr id="25" name="Arrow" descr="arrow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0368" y="3438144"/>
            <a:ext cx="310896" cy="310896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5623560" y="3182112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ROAR บอกว่าสำคัญต่อโมเดล</a:t>
            </a:r>
            <a:endParaRPr lang="en-US" sz="1400" dirty="0"/>
          </a:p>
        </p:txBody>
      </p:sp>
      <p:pic>
        <p:nvPicPr>
          <p:cNvPr id="27" name="Arrow" descr="arrow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41080" y="3438144"/>
            <a:ext cx="310896" cy="310896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9006840" y="3182112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ใส่ฟีเจอร์ปลอมที่รู้คำตอบ</a:t>
            </a:r>
            <a:endParaRPr lang="en-US" sz="1400" dirty="0"/>
          </a:p>
        </p:txBody>
      </p:sp>
      <p:sp>
        <p:nvSpPr>
          <p:cNvPr id="29" name="Row band"/>
          <p:cNvSpPr/>
          <p:nvPr/>
        </p:nvSpPr>
        <p:spPr>
          <a:xfrm>
            <a:off x="548640" y="4123944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30" name="Problem circle"/>
          <p:cNvSpPr/>
          <p:nvPr/>
        </p:nvSpPr>
        <p:spPr>
          <a:xfrm>
            <a:off x="685800" y="4233672"/>
            <a:ext cx="603504" cy="603504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31" name="Problem icon" descr="Barcode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41" y="4378513"/>
            <a:ext cx="313822" cy="313822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1463040" y="412394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 ล็อตการวัดตรงกับ label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แยกกลุ่มได้จากชื่อไฟล์</a:t>
            </a:r>
            <a:endParaRPr lang="en-US" sz="1600" dirty="0"/>
          </a:p>
        </p:txBody>
      </p:sp>
      <p:pic>
        <p:nvPicPr>
          <p:cNvPr id="33" name="Arrow" descr="arrow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30368" y="4379976"/>
            <a:ext cx="310896" cy="310896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5623560" y="4123944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CV แบ่งตามผู้ป่วยแล้ว</a:t>
            </a:r>
            <a:endParaRPr lang="en-US" sz="1400" dirty="0"/>
          </a:p>
        </p:txBody>
      </p:sp>
      <p:pic>
        <p:nvPicPr>
          <p:cNvPr id="35" name="Arrow" descr="arrow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41080" y="4379976"/>
            <a:ext cx="310896" cy="310896"/>
          </a:xfrm>
          <a:prstGeom prst="rect">
            <a:avLst/>
          </a:prstGeom>
        </p:spPr>
      </p:pic>
      <p:sp>
        <p:nvSpPr>
          <p:cNvPr id="36" name="Text 20"/>
          <p:cNvSpPr txBox="1"/>
          <p:nvPr/>
        </p:nvSpPr>
        <p:spPr>
          <a:xfrm>
            <a:off x="9006840" y="4123944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 metadata ทุกคอลัมน์</a:t>
            </a:r>
            <a:endParaRPr lang="en-US" sz="1400" dirty="0"/>
          </a:p>
        </p:txBody>
      </p:sp>
      <p:sp>
        <p:nvSpPr>
          <p:cNvPr id="37" name="Row band"/>
          <p:cNvSpPr/>
          <p:nvPr/>
        </p:nvSpPr>
        <p:spPr>
          <a:xfrm>
            <a:off x="548640" y="5065776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38" name="Problem circle"/>
          <p:cNvSpPr/>
          <p:nvPr/>
        </p:nvSpPr>
        <p:spPr>
          <a:xfrm>
            <a:off x="685800" y="5175504"/>
            <a:ext cx="603504" cy="603504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39" name="Problem icon" descr="Tags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41" y="5320345"/>
            <a:ext cx="313822" cy="313822"/>
          </a:xfrm>
          <a:prstGeom prst="rect">
            <a:avLst/>
          </a:prstGeom>
        </p:spPr>
      </p:pic>
      <p:sp>
        <p:nvSpPr>
          <p:cNvPr id="40" name="Text 23"/>
          <p:cNvSpPr txBox="1"/>
          <p:nvPr/>
        </p:nvSpPr>
        <p:spPr>
          <a:xfrm>
            <a:off x="1463040" y="506577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 ชื่อ label ไม่ตรงความหมาย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"โรคอ้วน" คือ ก่อน/หลังผ่าตัด</a:t>
            </a:r>
            <a:endParaRPr lang="en-US" sz="1600" dirty="0"/>
          </a:p>
        </p:txBody>
      </p:sp>
      <p:pic>
        <p:nvPicPr>
          <p:cNvPr id="41" name="Arrow" descr="arrow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30368" y="5321808"/>
            <a:ext cx="310896" cy="310896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5623560" y="5065776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CV แบ่งตามผู้ป่วยแล้ว</a:t>
            </a:r>
            <a:endParaRPr lang="en-US" sz="1400" dirty="0"/>
          </a:p>
        </p:txBody>
      </p:sp>
      <p:pic>
        <p:nvPicPr>
          <p:cNvPr id="43" name="Arrow" descr="arrow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41080" y="5321808"/>
            <a:ext cx="310896" cy="310896"/>
          </a:xfrm>
          <a:prstGeom prst="rect">
            <a:avLst/>
          </a:prstGeom>
        </p:spPr>
      </p:pic>
      <p:sp>
        <p:nvSpPr>
          <p:cNvPr id="44" name="Text 25"/>
          <p:cNvSpPr txBox="1"/>
          <p:nvPr/>
        </p:nvSpPr>
        <p:spPr>
          <a:xfrm>
            <a:off x="9006840" y="5065776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 label ใน 1 ประโยค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Sync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พื้นฐาน  |  regression to the mean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ทำไมค่าเริ่มต้น "ทำนาย" การเปลี่ยนแปลงได้เอง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ภาพประกอบด้วยข้อมูลสมมติ ไม่ใช่ข้อมูลจริง. อ้างอิง: Barnett, van der Pols, Dobson (2005) Int J Epidemiol 34:215-220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874520"/>
          <a:ext cx="58521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Point circle"/>
          <p:cNvSpPr/>
          <p:nvPr/>
        </p:nvSpPr>
        <p:spPr>
          <a:xfrm>
            <a:off x="6766560" y="1965960"/>
            <a:ext cx="731520" cy="73152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9" name="Point icon" descr="SyncA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125" y="2141525"/>
            <a:ext cx="380390" cy="38039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635240" y="196596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วัดซ้ำ ค่าสุดโต่งมักถอยเข้าหาค่าเฉลี่ย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คน A สูงสุดในครั้งแรก ครั้งที่สองต่ำลง คน E ต่ำสุด กลับสูงขึ้น เพราะการวัดมีความคลาดเคลื่อน</a:t>
            </a:r>
            <a:endParaRPr lang="en-US" sz="1500" dirty="0"/>
          </a:p>
        </p:txBody>
      </p:sp>
      <p:sp>
        <p:nvSpPr>
          <p:cNvPr id="11" name="Point circle"/>
          <p:cNvSpPr/>
          <p:nvPr/>
        </p:nvSpPr>
        <p:spPr>
          <a:xfrm>
            <a:off x="6766560" y="3246120"/>
            <a:ext cx="731520" cy="73152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12" name="Point icon" descr="Tag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125" y="3421685"/>
            <a:ext cx="380390" cy="38039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635240" y="324612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 label = "การเปลี่ยนแปลง"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แล้วฟีเจอร์ = "ค่าครั้งแรก" ทั้งสองมีค่าเดียวกันเป็นส่วนประกอบ</a:t>
            </a:r>
            <a:endParaRPr lang="en-US" sz="1500" dirty="0"/>
          </a:p>
        </p:txBody>
      </p:sp>
      <p:sp>
        <p:nvSpPr>
          <p:cNvPr id="14" name="Point circle"/>
          <p:cNvSpPr/>
          <p:nvPr/>
        </p:nvSpPr>
        <p:spPr>
          <a:xfrm>
            <a:off x="6766560" y="4526280"/>
            <a:ext cx="731520" cy="73152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15" name="Point icon" descr="ExclamationTriangl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125" y="4701845"/>
            <a:ext cx="380390" cy="38039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7635240" y="452628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 "ทำนาย" label ได้เอง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โดยไม่มีชีววิทยาอยู่เลย นี่คือกับดักของกรณีที่ 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Sync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กรณีที่ 1  |  ผลลัพธ์ถูกสร้างจากฟีเจอร์เอง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ตัวเทียบที่ "ไม่มีสัญญาณ" ยังชนะโมเดล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ข้อมูล: MTBLS242, 71 คน, เกณฑ์ตอบสนองเดิม (อย่างน้อย 9 จาก 11 ตัวชี้วัด). PR-AUC 0.683 เทียบความชุก 0.437; lift ที่สังเกตได้ต่ำกว่า 499 จาก 500 ค่า null. experiments/case1/RESULTS.md</a:t>
            </a:r>
            <a:endParaRPr lang="en-US" sz="1000" dirty="0"/>
          </a:p>
        </p:txBody>
      </p:sp>
      <p:sp>
        <p:nvSpPr>
          <p:cNvPr id="7" name="Flow circle"/>
          <p:cNvSpPr/>
          <p:nvPr/>
        </p:nvSpPr>
        <p:spPr>
          <a:xfrm>
            <a:off x="685800" y="1920240"/>
            <a:ext cx="822960" cy="82296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8" name="Flow icon" descr="Via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10" y="2117750"/>
            <a:ext cx="427939" cy="4279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57200" y="2788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ค่าเริ่มต้น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(baseline)</a:t>
            </a:r>
            <a:endParaRPr lang="en-US" sz="1300" dirty="0"/>
          </a:p>
        </p:txBody>
      </p:sp>
      <p:pic>
        <p:nvPicPr>
          <p:cNvPr id="10" name="Arrow" descr="arro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176272"/>
            <a:ext cx="274320" cy="274320"/>
          </a:xfrm>
          <a:prstGeom prst="rect">
            <a:avLst/>
          </a:prstGeom>
        </p:spPr>
      </p:pic>
      <p:sp>
        <p:nvSpPr>
          <p:cNvPr id="11" name="Flow circle"/>
          <p:cNvSpPr/>
          <p:nvPr/>
        </p:nvSpPr>
        <p:spPr>
          <a:xfrm>
            <a:off x="2468880" y="1920240"/>
            <a:ext cx="822960" cy="82296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2" name="Flow icon" descr="Via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6390" y="2117750"/>
            <a:ext cx="427939" cy="42793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2240280" y="2788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ค่าหลัง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 เดือน</a:t>
            </a:r>
            <a:endParaRPr lang="en-US" sz="1300" dirty="0"/>
          </a:p>
        </p:txBody>
      </p:sp>
      <p:pic>
        <p:nvPicPr>
          <p:cNvPr id="14" name="Arrow" descr="arro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176272"/>
            <a:ext cx="274320" cy="274320"/>
          </a:xfrm>
          <a:prstGeom prst="rect">
            <a:avLst/>
          </a:prstGeom>
        </p:spPr>
      </p:pic>
      <p:sp>
        <p:nvSpPr>
          <p:cNvPr id="15" name="Flow circle"/>
          <p:cNvSpPr/>
          <p:nvPr/>
        </p:nvSpPr>
        <p:spPr>
          <a:xfrm>
            <a:off x="4251960" y="1920240"/>
            <a:ext cx="822960" cy="82296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16" name="Flow icon" descr="Tag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9470" y="2117750"/>
            <a:ext cx="427939" cy="427939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4023360" y="2788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ตอบสนองดี?</a:t>
            </a:r>
            <a:endParaRPr lang="en-US" sz="1300" dirty="0"/>
          </a:p>
        </p:txBody>
      </p:sp>
      <p:sp>
        <p:nvSpPr>
          <p:cNvPr id="18" name="Text 9"/>
          <p:cNvSpPr txBox="1"/>
          <p:nvPr/>
        </p:nvSpPr>
        <p:spPr>
          <a:xfrm>
            <a:off x="548640" y="352044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label คำนวณจาก "การเปลี่ยนแปลง" ของสารเดียวกับที่ใช้เป็นฟีเจอร์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ค่าเริ่มต้นสูง ๆ ลดลงเข้าหาค่าเฉลี่ยได้เองโดยไม่มีอะไรเกิดขึ้น (regression to the mean) ฟีเจอร์จึง "ทำนาย" label ได้</a:t>
            </a:r>
            <a:endParaRPr lang="en-US" sz="1500" dirty="0"/>
          </a:p>
        </p:txBody>
      </p:sp>
      <p:sp>
        <p:nvSpPr>
          <p:cNvPr id="19" name="Callout"/>
          <p:cNvSpPr/>
          <p:nvPr/>
        </p:nvSpPr>
        <p:spPr>
          <a:xfrm>
            <a:off x="548640" y="484632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pic>
        <p:nvPicPr>
          <p:cNvPr id="20" name="Callout icon" descr="warni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138928"/>
            <a:ext cx="365760" cy="36576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1325880" y="489204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 label ได้ p = 0.002 ดูมีนัยสำคัญ แต่ความสัมพันธ์นี้ถูกการันตีไว้แล้วโดยโครงสร้าง</a:t>
            </a:r>
            <a:endParaRPr lang="en-US" sz="14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943600" y="1874520"/>
          <a:ext cx="56692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BalanceSca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กรณีที่ 1  |  หลังแก้นิยามผลลัพธ์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แก้แล้ว โมเดลก็ไม่ดีกว่าตัวที่ไม่เรียนรู้อะไร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experiments/case1/RESULTS.md. gap ช่วง 95% ระดับผู้ป่วย: หักทีละสาร -0.042 [-0.149, +0.052]; หักพร้อมกัน -0.037 [-0.111, +0.037]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874520"/>
          <a:ext cx="65836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Point circle"/>
          <p:cNvSpPr/>
          <p:nvPr/>
        </p:nvSpPr>
        <p:spPr>
          <a:xfrm>
            <a:off x="7498080" y="2011680"/>
            <a:ext cx="685800" cy="68580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9" name="Point icon" descr="TimesCirc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2" y="2176272"/>
            <a:ext cx="356616" cy="356616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366760" y="20116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โมเดลไม่ชนะตัวที่ไม่ได้ฝึก</a:t>
            </a:r>
            <a:endParaRPr lang="en-US" sz="1500" dirty="0"/>
          </a:p>
        </p:txBody>
      </p:sp>
      <p:sp>
        <p:nvSpPr>
          <p:cNvPr id="11" name="Point circle"/>
          <p:cNvSpPr/>
          <p:nvPr/>
        </p:nvSpPr>
        <p:spPr>
          <a:xfrm>
            <a:off x="7498080" y="3108960"/>
            <a:ext cx="685800" cy="68580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2" name="Point icon" descr="Random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3273552"/>
            <a:ext cx="356616" cy="356616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366760" y="31089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 label (ฝึกใหม่ทุกรอบ) ได้ p = 1.0</a:t>
            </a:r>
            <a:endParaRPr lang="en-US" sz="1500" dirty="0"/>
          </a:p>
        </p:txBody>
      </p:sp>
      <p:sp>
        <p:nvSpPr>
          <p:cNvPr id="14" name="Point circle"/>
          <p:cNvSpPr/>
          <p:nvPr/>
        </p:nvSpPr>
        <p:spPr>
          <a:xfrm>
            <a:off x="7498080" y="4206240"/>
            <a:ext cx="685800" cy="685800"/>
          </a:xfrm>
          <a:prstGeom prst="ellipse">
            <a:avLst/>
          </a:prstGeom>
          <a:solidFill>
            <a:srgbClr val="E3E7EC"/>
          </a:solidFill>
          <a:ln w="12700">
            <a:solidFill>
              <a:srgbClr val="E3E7EC"/>
            </a:solidFill>
            <a:prstDash val="solid"/>
          </a:ln>
        </p:spPr>
      </p:sp>
      <p:pic>
        <p:nvPicPr>
          <p:cNvPr id="15" name="Point icon" descr="BalanceScal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4370832"/>
            <a:ext cx="356616" cy="356616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8366760" y="42062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ช่วงของ gap คร่อมศูนย์ จึงพูดว่า "ไม่ดีกว่า" ไม่ใช่ "แย่กว่า"</a:t>
            </a:r>
            <a:endParaRPr lang="en-US" sz="1500" dirty="0"/>
          </a:p>
        </p:txBody>
      </p:sp>
      <p:sp>
        <p:nvSpPr>
          <p:cNvPr id="17" name="Callout"/>
          <p:cNvSpPr/>
          <p:nvPr/>
        </p:nvSpPr>
        <p:spPr>
          <a:xfrm>
            <a:off x="7498080" y="530352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8" name="Text 10"/>
          <p:cNvSpPr txBox="1"/>
          <p:nvPr/>
        </p:nvSpPr>
        <p:spPr>
          <a:xfrm>
            <a:off x="7680960" y="5303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 gap ไม่ใช่ระดับ เพราะความชุกต่างกัน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ChartLin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AA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ทำไมถึงเกิด  |  การจำลอง 36,000 ชุด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ยิ่งมีข้อมูลมาก การสลับ label ยิ่งผิดมาก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simulation/results/rejection_rates.csv. 1,000 ชุดต่อจุด, ไม่มีผลรายบุคคลจริง (gamma = 0), r = 0.25, alpha = 0.05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87452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Point circle"/>
          <p:cNvSpPr/>
          <p:nvPr/>
        </p:nvSpPr>
        <p:spPr>
          <a:xfrm>
            <a:off x="7818120" y="2011680"/>
            <a:ext cx="731520" cy="73152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9" name="Point icon" descr="TimesCirc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685" y="2187245"/>
            <a:ext cx="380390" cy="38039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686800" y="2011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26% ถึง 100%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การสลับ label ผิด เมื่อ n เพิ่มจาก 50 เป็น 500</a:t>
            </a:r>
            <a:endParaRPr lang="en-US" sz="1600" dirty="0"/>
          </a:p>
        </p:txBody>
      </p:sp>
      <p:sp>
        <p:nvSpPr>
          <p:cNvPr id="11" name="Point circle"/>
          <p:cNvSpPr/>
          <p:nvPr/>
        </p:nvSpPr>
        <p:spPr>
          <a:xfrm>
            <a:off x="7818120" y="3291840"/>
            <a:ext cx="731520" cy="731520"/>
          </a:xfrm>
          <a:prstGeom prst="ellipse">
            <a:avLst/>
          </a:prstGeom>
          <a:solidFill>
            <a:srgbClr val="E3E7EC"/>
          </a:solidFill>
          <a:ln w="12700">
            <a:solidFill>
              <a:srgbClr val="E3E7EC"/>
            </a:solidFill>
            <a:prstDash val="solid"/>
          </a:ln>
        </p:spPr>
      </p:sp>
      <p:pic>
        <p:nvPicPr>
          <p:cNvPr id="12" name="Point icon" descr="ExclamationTriang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3685" y="3467405"/>
            <a:ext cx="380390" cy="38039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686800" y="3291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หักทีละสาร ยังไม่พอ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ผิด 8 ถึง 19% เพราะสารสัมพันธ์กัน</a:t>
            </a:r>
            <a:endParaRPr lang="en-US" sz="1600" dirty="0"/>
          </a:p>
        </p:txBody>
      </p:sp>
      <p:sp>
        <p:nvSpPr>
          <p:cNvPr id="14" name="Point circle"/>
          <p:cNvSpPr/>
          <p:nvPr/>
        </p:nvSpPr>
        <p:spPr>
          <a:xfrm>
            <a:off x="7818120" y="4572000"/>
            <a:ext cx="731520" cy="73152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15" name="Point icon" descr="CheckCircl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3685" y="4747565"/>
            <a:ext cx="380390" cy="38039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8686800" y="4572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หักทุกสารพร้อมกัน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ผิดราว 5 ถึง 7% ใกล้เกณฑ์ 5%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Heartbea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ทำซ้ำ  |  ข้อมูลชุดที่สอง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ข้อมูลผ่าตัดหัวใจ เห็นปัญหาแบบเดียวกัน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experiments/case1b_mtbls881/RESULTS.md และ PREREG.md. n = 47 ต่อตำแหน่ง, baseline -1 ชม. เทียบ 20 ชม., K = 10 จาก 11. pairing null ฝึกใหม่: p = 0.86 (LA), 0.91 (PA), 150 รอบ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874520"/>
          <a:ext cx="60350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Point circle"/>
          <p:cNvSpPr/>
          <p:nvPr/>
        </p:nvSpPr>
        <p:spPr>
          <a:xfrm>
            <a:off x="6903720" y="2011680"/>
            <a:ext cx="731520" cy="73152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9" name="Point icon" descr="CheckCirc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285" y="2187245"/>
            <a:ext cx="380390" cy="38039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772400" y="20116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 raw change ซ้ำได้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 label ปฏิเสธที่ทั้งสองตำแหน่ง (p = 0.007) แต่ตัวเทียบที่ไม่มีสัญญาณยังได้ lift สูงกว่า</a:t>
            </a:r>
            <a:endParaRPr lang="en-US" sz="1600" dirty="0"/>
          </a:p>
        </p:txBody>
      </p:sp>
      <p:sp>
        <p:nvSpPr>
          <p:cNvPr id="11" name="Point circle"/>
          <p:cNvSpPr/>
          <p:nvPr/>
        </p:nvSpPr>
        <p:spPr>
          <a:xfrm>
            <a:off x="6903720" y="3337560"/>
            <a:ext cx="731520" cy="731520"/>
          </a:xfrm>
          <a:prstGeom prst="ellipse">
            <a:avLst/>
          </a:prstGeom>
          <a:solidFill>
            <a:srgbClr val="E3E7EC"/>
          </a:solidFill>
          <a:ln w="12700">
            <a:solidFill>
              <a:srgbClr val="E3E7EC"/>
            </a:solidFill>
            <a:prstDash val="solid"/>
          </a:ln>
        </p:spPr>
      </p:sp>
      <p:pic>
        <p:nvPicPr>
          <p:cNvPr id="12" name="Point icon" descr="QuestionCirc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285" y="3513125"/>
            <a:ext cx="380390" cy="38039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772400" y="33375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ผลหลังแก้ ซ้ำได้บางส่วน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ตำแหน่งหนึ่งไม่มีสัญญาณ อีกตำแหน่งผลขัดกัน 47 คนไม่พอตัดสิน</a:t>
            </a:r>
            <a:endParaRPr lang="en-US" sz="1600" dirty="0"/>
          </a:p>
        </p:txBody>
      </p:sp>
      <p:sp>
        <p:nvSpPr>
          <p:cNvPr id="14" name="Point circle"/>
          <p:cNvSpPr/>
          <p:nvPr/>
        </p:nvSpPr>
        <p:spPr>
          <a:xfrm>
            <a:off x="6903720" y="4663440"/>
            <a:ext cx="731520" cy="73152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15" name="Point icon" descr="Capsule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285" y="4839005"/>
            <a:ext cx="380390" cy="38039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7772400" y="46634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ยาสร้างสัญญาณปลอม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propofol, heparin, ethanol แล้วผลดูมีนัยสำคัญ (p = 0.005)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Flas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กรณีที่ 2  |  สารปนเปื้อน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ROAR เห็นว่าฟีเจอร์ "สำคัญ" แต่ไม่รู้ว่ามาจากไหน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experiments/case2/RESULTS.md. recursive ROAR, CV แบ่งตามผู้ป่วย (10 x 5), สุ่มตัด 500 ชุดต่อ k. ตัดตามลำดับ: dimethyl sulfone, isopropanol, L-valine, glycine, methanol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87452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allout"/>
          <p:cNvSpPr/>
          <p:nvPr/>
        </p:nvSpPr>
        <p:spPr>
          <a:xfrm>
            <a:off x="7863840" y="2011680"/>
            <a:ext cx="3749040" cy="1783080"/>
          </a:xfrm>
          <a:prstGeom prst="roundRect">
            <a:avLst>
              <a:gd name="adj" fmla="val 410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9" name="Callout circle"/>
          <p:cNvSpPr/>
          <p:nvPr/>
        </p:nvSpPr>
        <p:spPr>
          <a:xfrm>
            <a:off x="8046720" y="2194560"/>
            <a:ext cx="640080" cy="64008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10" name="Callout icon" descr="Flas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339" y="2348179"/>
            <a:ext cx="332842" cy="33284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823960" y="21945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ตัดสารปนเปื้อน 3 ตัว</a:t>
            </a:r>
            <a:endParaRPr lang="en-US" sz="1400" dirty="0"/>
          </a:p>
        </p:txBody>
      </p:sp>
      <p:sp>
        <p:nvSpPr>
          <p:cNvPr id="12" name="Text 6"/>
          <p:cNvSpPr txBox="1"/>
          <p:nvPr/>
        </p:nvSpPr>
        <p:spPr>
          <a:xfrm>
            <a:off x="8046720" y="2880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0.954</a:t>
            </a:r>
            <a:endParaRPr lang="en-US" sz="3200" dirty="0"/>
          </a:p>
        </p:txBody>
      </p:sp>
      <p:sp>
        <p:nvSpPr>
          <p:cNvPr id="13" name="Text 7"/>
          <p:cNvSpPr txBox="1"/>
          <p:nvPr/>
        </p:nvSpPr>
        <p:spPr>
          <a:xfrm>
            <a:off x="9464040" y="28803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dimethyl sulfone, isopropanol, methanol</a:t>
            </a:r>
            <a:endParaRPr lang="en-US" sz="1100" dirty="0"/>
          </a:p>
        </p:txBody>
      </p:sp>
      <p:sp>
        <p:nvSpPr>
          <p:cNvPr id="14" name="Callout"/>
          <p:cNvSpPr/>
          <p:nvPr/>
        </p:nvSpPr>
        <p:spPr>
          <a:xfrm>
            <a:off x="7863840" y="3977640"/>
            <a:ext cx="3749040" cy="1783080"/>
          </a:xfrm>
          <a:prstGeom prst="roundRect">
            <a:avLst>
              <a:gd name="adj" fmla="val 410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5" name="Callout circle"/>
          <p:cNvSpPr/>
          <p:nvPr/>
        </p:nvSpPr>
        <p:spPr>
          <a:xfrm>
            <a:off x="8046720" y="4160520"/>
            <a:ext cx="640080" cy="64008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6" name="Callout icon" descr="Stethoscop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339" y="4314139"/>
            <a:ext cx="332842" cy="33284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823960" y="41605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ตัดสารชีววิทยาจริง 3 ตัว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8046720" y="4846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0.959</a:t>
            </a:r>
            <a:endParaRPr lang="en-US" sz="3200" dirty="0"/>
          </a:p>
        </p:txBody>
      </p:sp>
      <p:sp>
        <p:nvSpPr>
          <p:cNvPr id="19" name="Text 12"/>
          <p:cNvSpPr txBox="1"/>
          <p:nvPr/>
        </p:nvSpPr>
        <p:spPr>
          <a:xfrm>
            <a:off x="9464040" y="48463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lipoproteins, L-valine, L-tyrosine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Bu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กรณีที่ 2  |  ฟีเจอร์ปลอมที่รู้คำตอบ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ฟีเจอร์ที่ไม่มีชีววิทยาเลย ขึ้นเป็นอันดับหนึ่งได้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experiments/case2/RESULTS.md, 10 ครั้งต่อ d. ฟีเจอร์ปลอม = d * label + N(0,1) ไม่มีชีววิทยา. อันดับ median จาก 22 ฟีเจอร์ (21 จริง + 1 ปลอม)</a:t>
            </a:r>
            <a:endParaRPr lang="en-US" sz="1000" dirty="0"/>
          </a:p>
        </p:txBody>
      </p:sp>
      <p:sp>
        <p:nvSpPr>
          <p:cNvPr id="7" name="Spike card"/>
          <p:cNvSpPr/>
          <p:nvPr/>
        </p:nvSpPr>
        <p:spPr>
          <a:xfrm>
            <a:off x="548640" y="192024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8" name="Spike circle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9" name="Spike icon" descr="Bu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600200" y="210312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สัญญาณ d = 0.75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822960" y="283464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อันดับ </a:t>
            </a:r>
            <a:pPr indent="0" marL="0">
              <a:buNone/>
            </a:pPr>
            <a:r>
              <a:rPr lang="en-US" sz="5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822960" y="379476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สัญญาณอ่อน ปนอยู่กับสารจริง</a:t>
            </a:r>
            <a:endParaRPr lang="en-US" sz="1400" dirty="0"/>
          </a:p>
        </p:txBody>
      </p:sp>
      <p:sp>
        <p:nvSpPr>
          <p:cNvPr id="13" name="Spike card"/>
          <p:cNvSpPr/>
          <p:nvPr/>
        </p:nvSpPr>
        <p:spPr>
          <a:xfrm>
            <a:off x="4337304" y="192024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4" name="Spike circle"/>
          <p:cNvSpPr/>
          <p:nvPr/>
        </p:nvSpPr>
        <p:spPr>
          <a:xfrm>
            <a:off x="4611624" y="2103120"/>
            <a:ext cx="640080" cy="64008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15" name="Spike icon" descr="Bug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243" y="2256739"/>
            <a:ext cx="332842" cy="33284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388864" y="210312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สัญญาณ d = 1.25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4611624" y="283464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อันดับ </a:t>
            </a:r>
            <a:pPr indent="0" marL="0">
              <a:buNone/>
            </a:pPr>
            <a:r>
              <a:rPr lang="en-US" sz="5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4611624" y="379476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สัญญาณกลาง แซงสารจริงเกือบทั้งหมด</a:t>
            </a:r>
            <a:endParaRPr lang="en-US" sz="1400" dirty="0"/>
          </a:p>
        </p:txBody>
      </p:sp>
      <p:sp>
        <p:nvSpPr>
          <p:cNvPr id="19" name="Spike card"/>
          <p:cNvSpPr/>
          <p:nvPr/>
        </p:nvSpPr>
        <p:spPr>
          <a:xfrm>
            <a:off x="8125968" y="192024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0" name="Spike circle"/>
          <p:cNvSpPr/>
          <p:nvPr/>
        </p:nvSpPr>
        <p:spPr>
          <a:xfrm>
            <a:off x="8400288" y="2103120"/>
            <a:ext cx="640080" cy="64008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21" name="Spike icon" descr="Bug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3907" y="2256739"/>
            <a:ext cx="332842" cy="33284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177528" y="2103120"/>
            <a:ext cx="2234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สัญญาณ d = 1.75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8400288" y="2834640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อันดับ </a:t>
            </a:r>
            <a:pPr indent="0" marL="0">
              <a:buNone/>
            </a:pPr>
            <a:r>
              <a:rPr lang="en-US" sz="54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8400288" y="379476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สัญญาณแรง เป็นฟีเจอร์ที่สำคัญที่สุด</a:t>
            </a:r>
            <a:endParaRPr lang="en-US" sz="1400" dirty="0"/>
          </a:p>
        </p:txBody>
      </p:sp>
      <p:sp>
        <p:nvSpPr>
          <p:cNvPr id="25" name="Callout"/>
          <p:cNvSpPr/>
          <p:nvPr/>
        </p:nvSpPr>
        <p:spPr>
          <a:xfrm>
            <a:off x="548640" y="480060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6" name="Insight circle"/>
          <p:cNvSpPr/>
          <p:nvPr/>
        </p:nvSpPr>
        <p:spPr>
          <a:xfrm>
            <a:off x="777240" y="4983480"/>
            <a:ext cx="731520" cy="73152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27" name="Insight icon" descr="Lightbulb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5159045"/>
            <a:ext cx="380390" cy="38039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737360" y="484632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 d = 1.75 การตัดฟีเจอร์ปลอมทำให้ PR-AUC ลด 0.0127 มากกว่าการตัดสารจริงตัวไหนก็ตาม (มากสุด 0.0073) ROAR วัดว่าฟีเจอร์ "พกสัญญาณ" แค่ไหน ไม่ได้วัดว่ามาจากไหน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Barcod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กรณีที่ 3  |  ล็อตการวัดตรงกับ label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ชื่อไฟล์อย่างเดียวก็ทำนายเบาหวานได้สมบูรณ์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experiments/case3/RESULTS.md. 132 ตัวอย่าง (84 ควบคุม, 48 เบาหวาน), CV แบ่งตามผู้ป่วย, 20 seed; ช่วง 0.845 ถึง 0.975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874520"/>
          <a:ext cx="6766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3"/>
          <p:cNvSpPr txBox="1"/>
          <p:nvPr/>
        </p:nvSpPr>
        <p:spPr>
          <a:xfrm>
            <a:off x="7680960" y="2011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จำนวนตัวอย่างตาม label และ prefix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2468880"/>
          <a:ext cx="3931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ADG19007u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ADG10003u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ควบคุม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84</a:t>
                      </a:r>
                      <a:endParaRPr lang="en-US" sz="1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5B647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</a:t>
                      </a:r>
                      <a:endParaRPr lang="en-US" sz="1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เบาหวาน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5B647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</a:t>
                      </a:r>
                      <a:endParaRPr lang="en-US" sz="1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48</a:t>
                      </a:r>
                      <a:endParaRPr lang="en-US" sz="18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Point circle"/>
          <p:cNvSpPr/>
          <p:nvPr/>
        </p:nvSpPr>
        <p:spPr>
          <a:xfrm>
            <a:off x="7680960" y="4114800"/>
            <a:ext cx="640080" cy="64008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11" name="Point icon" descr="TimesCirc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579" y="4268419"/>
            <a:ext cx="332842" cy="33284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503920" y="4069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ไม่มีล็อตไหนมีทั้งสองกลุ่ม จึงแยกโรคออกจากล็อตการวัดไม่ได้เลย</a:t>
            </a:r>
            <a:endParaRPr lang="en-US" sz="1400" dirty="0"/>
          </a:p>
        </p:txBody>
      </p:sp>
      <p:sp>
        <p:nvSpPr>
          <p:cNvPr id="13" name="Point circle"/>
          <p:cNvSpPr/>
          <p:nvPr/>
        </p:nvSpPr>
        <p:spPr>
          <a:xfrm>
            <a:off x="7680960" y="5029200"/>
            <a:ext cx="640080" cy="64008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4" name="Point icon" descr="User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4579" y="5182819"/>
            <a:ext cx="332842" cy="332842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8503920" y="4983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เกณฑ์อายุ BMI และตารางเก็บตัวอย่างของสองกลุ่มก็ต่างกันด้วย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Tag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กรณีที่ 4  |  ชื่อ label ไม่ตรงความหมาย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"โรคอ้วน vs ไม่อ้วน" จริง ๆ คือ ก่อน vs หลังผ่าตัด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experiments/case4/RESULTS.md, 10 รอบ x 5 fold. ตัวอย่างไม่มี BMI จึงตรวจไม่ได้ว่าผู้ป่วยหลัง 12 เดือนยังอ้วนอยู่หรือไม่</a:t>
            </a:r>
            <a:endParaRPr lang="en-US" sz="1000" dirty="0"/>
          </a:p>
        </p:txBody>
      </p:sp>
      <p:sp>
        <p:nvSpPr>
          <p:cNvPr id="7" name="Preop set"/>
          <p:cNvSpPr/>
          <p:nvPr/>
        </p:nvSpPr>
        <p:spPr>
          <a:xfrm>
            <a:off x="731520" y="2103120"/>
            <a:ext cx="4572000" cy="3291840"/>
          </a:xfrm>
          <a:prstGeom prst="ellipse">
            <a:avLst/>
          </a:prstGeom>
          <a:solidFill>
            <a:srgbClr val="2A78D6">
              <a:alpha val="22000"/>
            </a:srgbClr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8" name="12-month set"/>
          <p:cNvSpPr/>
          <p:nvPr/>
        </p:nvSpPr>
        <p:spPr>
          <a:xfrm>
            <a:off x="2651760" y="2926080"/>
            <a:ext cx="2286000" cy="1737360"/>
          </a:xfrm>
          <a:prstGeom prst="ellipse">
            <a:avLst/>
          </a:prstGeom>
          <a:solidFill>
            <a:srgbClr val="EB6834">
              <a:alpha val="30000"/>
            </a:srgbClr>
          </a:solidFill>
          <a:ln w="19050">
            <a:solidFill>
              <a:srgbClr val="EB683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51560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106 คน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ก่อนผ่าตัด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2743200" y="30175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71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ถูกวัดซ้ำที่ 12 เดือนด้วย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486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label 1 = ตัวอย่างก่อนผ่าตัด (106) / label 0 = หลังผ่าตัด 12 เดือน (71) ผู้ป่วยทุกคนที่ถูกวัดหลัง 12 เดือน ก็อยู่ในกลุ่มแรกด้วย</a:t>
            </a:r>
            <a:endParaRPr lang="en-US" sz="1200" dirty="0"/>
          </a:p>
        </p:txBody>
      </p:sp>
      <p:sp>
        <p:nvSpPr>
          <p:cNvPr id="12" name="Point circle"/>
          <p:cNvSpPr/>
          <p:nvPr/>
        </p:nvSpPr>
        <p:spPr>
          <a:xfrm>
            <a:off x="6309360" y="2103120"/>
            <a:ext cx="822960" cy="822960"/>
          </a:xfrm>
          <a:prstGeom prst="ellipse">
            <a:avLst/>
          </a:prstGeom>
          <a:solidFill>
            <a:srgbClr val="DCE9F9"/>
          </a:solidFill>
          <a:ln w="12700">
            <a:solidFill>
              <a:srgbClr val="DCE9F9"/>
            </a:solidFill>
            <a:prstDash val="solid"/>
          </a:ln>
        </p:spPr>
      </p:sp>
      <p:pic>
        <p:nvPicPr>
          <p:cNvPr id="13" name="Point icon" descr="BalanceSca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870" y="2300630"/>
            <a:ext cx="427939" cy="42793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0" y="210312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แบ่ง CV ตามผู้ป่วย ROC-AUC 0.960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CV ธรรมดา 0.959 ใกล้กัน ปัญหาจึงไม่ใช่ leakage แต่คือความหมายของ label</a:t>
            </a:r>
            <a:endParaRPr lang="en-US" sz="1700" dirty="0"/>
          </a:p>
        </p:txBody>
      </p:sp>
      <p:sp>
        <p:nvSpPr>
          <p:cNvPr id="15" name="Point circle"/>
          <p:cNvSpPr/>
          <p:nvPr/>
        </p:nvSpPr>
        <p:spPr>
          <a:xfrm>
            <a:off x="6309360" y="3931920"/>
            <a:ext cx="822960" cy="82296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16" name="Point icon" descr="Capsule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870" y="4129430"/>
            <a:ext cx="427939" cy="42793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15200" y="393192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โมเดลเรียนรู้ทุกอย่างที่เปลี่ยนหลังผ่าตัด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น้ำหนักที่ลดลง แต่ก็รวมอาหาร อาหารเสริม ยา สภาวะอดอาหาร และการเก็บตัวอย่างนาน 1 ปี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Shield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ทางแก้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เช็กลิสต์ 6 ข้อ ก่อนเชื่อผลจากข้อมูลเมตาโบโลมิกส์ขนาดเล็ก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หมวด Discussion ของบทความ</a:t>
            </a:r>
            <a:endParaRPr lang="en-US" sz="1000" dirty="0"/>
          </a:p>
        </p:txBody>
      </p:sp>
      <p:sp>
        <p:nvSpPr>
          <p:cNvPr id="7" name="Check card"/>
          <p:cNvSpPr/>
          <p:nvPr/>
        </p:nvSpPr>
        <p:spPr>
          <a:xfrm>
            <a:off x="548640" y="187452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8" name="Check circle"/>
          <p:cNvSpPr/>
          <p:nvPr/>
        </p:nvSpPr>
        <p:spPr>
          <a:xfrm>
            <a:off x="777240" y="2148840"/>
            <a:ext cx="640080" cy="64008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9" name="Check icon" descr="SyncAl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" y="2302459"/>
            <a:ext cx="332842" cy="33284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600200" y="1947672"/>
            <a:ext cx="41285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ผลลัพธ์คำนวณจากฟีเจอร์?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อย่าพึ่งการสลับ label หักค่าเริ่มต้นของทุกสารพร้อมกันในแต่ละ fold</a:t>
            </a:r>
            <a:endParaRPr lang="en-US" sz="1600" dirty="0"/>
          </a:p>
        </p:txBody>
      </p:sp>
      <p:sp>
        <p:nvSpPr>
          <p:cNvPr id="11" name="Check card"/>
          <p:cNvSpPr/>
          <p:nvPr/>
        </p:nvSpPr>
        <p:spPr>
          <a:xfrm>
            <a:off x="6277356" y="187452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2" name="Check circle"/>
          <p:cNvSpPr/>
          <p:nvPr/>
        </p:nvSpPr>
        <p:spPr>
          <a:xfrm>
            <a:off x="6505956" y="2148840"/>
            <a:ext cx="640080" cy="64008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13" name="Check icon" descr="Random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575" y="2302459"/>
            <a:ext cx="332842" cy="33284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328916" y="1947672"/>
            <a:ext cx="41285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ฝึกโมเดลใหม่ทุกรอบการสลับ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 label กับคะแนนคงที่ ผิด 9.7% บนข้อมูลสุ่ม ฝึกใหม่เหลือ 5.3%</a:t>
            </a:r>
            <a:endParaRPr lang="en-US" sz="1600" dirty="0"/>
          </a:p>
        </p:txBody>
      </p:sp>
      <p:sp>
        <p:nvSpPr>
          <p:cNvPr id="15" name="Check card"/>
          <p:cNvSpPr/>
          <p:nvPr/>
        </p:nvSpPr>
        <p:spPr>
          <a:xfrm>
            <a:off x="548640" y="320040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6" name="Check circle"/>
          <p:cNvSpPr/>
          <p:nvPr/>
        </p:nvSpPr>
        <p:spPr>
          <a:xfrm>
            <a:off x="777240" y="3474720"/>
            <a:ext cx="640080" cy="64008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17" name="Check icon" descr="BalanceSca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" y="3628339"/>
            <a:ext cx="332842" cy="33284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600200" y="3273552"/>
            <a:ext cx="41285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เทียบกับตัวที่ไม่เรียนรู้อะไร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คะแนนคงที่ที่ไม่ผ่านการฝึก รายงาน gap พร้อมช่วงความเชื่อมั่น</a:t>
            </a:r>
            <a:endParaRPr lang="en-US" sz="1600" dirty="0"/>
          </a:p>
        </p:txBody>
      </p:sp>
      <p:sp>
        <p:nvSpPr>
          <p:cNvPr id="19" name="Check card"/>
          <p:cNvSpPr/>
          <p:nvPr/>
        </p:nvSpPr>
        <p:spPr>
          <a:xfrm>
            <a:off x="6277356" y="320040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0" name="Check circle"/>
          <p:cNvSpPr/>
          <p:nvPr/>
        </p:nvSpPr>
        <p:spPr>
          <a:xfrm>
            <a:off x="6505956" y="3474720"/>
            <a:ext cx="640080" cy="64008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21" name="Check icon" descr="Flas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575" y="3628339"/>
            <a:ext cx="332842" cy="33284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328916" y="3273552"/>
            <a:ext cx="41285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ตรวจสารจากภายนอก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ยา ตัวทำละลาย น้ำยาทำความสะอาดผิว รายงานทั้งแบบมีและไม่มี</a:t>
            </a:r>
            <a:endParaRPr lang="en-US" sz="1600" dirty="0"/>
          </a:p>
        </p:txBody>
      </p:sp>
      <p:sp>
        <p:nvSpPr>
          <p:cNvPr id="23" name="Check card"/>
          <p:cNvSpPr/>
          <p:nvPr/>
        </p:nvSpPr>
        <p:spPr>
          <a:xfrm>
            <a:off x="548640" y="452628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4" name="Check circle"/>
          <p:cNvSpPr/>
          <p:nvPr/>
        </p:nvSpPr>
        <p:spPr>
          <a:xfrm>
            <a:off x="777240" y="4800600"/>
            <a:ext cx="640080" cy="64008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25" name="Check icon" descr="Tabl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859" y="4954219"/>
            <a:ext cx="332842" cy="33284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600200" y="4599432"/>
            <a:ext cx="41285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ไขว้ label กับ metadata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ทุกคอลัมน์: ล็อตการวัด ลำดับการรัน prefix ชื่อไฟล์ เพศ</a:t>
            </a:r>
            <a:endParaRPr lang="en-US" sz="1600" dirty="0"/>
          </a:p>
        </p:txBody>
      </p:sp>
      <p:sp>
        <p:nvSpPr>
          <p:cNvPr id="27" name="Check card"/>
          <p:cNvSpPr/>
          <p:nvPr/>
        </p:nvSpPr>
        <p:spPr>
          <a:xfrm>
            <a:off x="6277356" y="452628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28" name="Check circle"/>
          <p:cNvSpPr/>
          <p:nvPr/>
        </p:nvSpPr>
        <p:spPr>
          <a:xfrm>
            <a:off x="6505956" y="4800600"/>
            <a:ext cx="640080" cy="64008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29" name="Check icon" descr="Tags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9575" y="4954219"/>
            <a:ext cx="332842" cy="33284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328916" y="4599432"/>
            <a:ext cx="41285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label แยกอะไรออกจากอะไร?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เขียนให้ได้ใน 1 ประโยค ว่าสองคลาสต่างกันที่สภาวะจริงอะไร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Lightbulb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การตรวจมาตรฐานจำเป็น แต่ยังไม่พอ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Repository: github.com/Calvinkub/validated-yet-wrong (public, tag paper-v1)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874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5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สิ่งที่ควรจำ</a:t>
            </a:r>
            <a:endParaRPr lang="en-US" sz="1600" dirty="0"/>
          </a:p>
        </p:txBody>
      </p:sp>
      <p:sp>
        <p:nvSpPr>
          <p:cNvPr id="8" name="Takeaway circle"/>
          <p:cNvSpPr/>
          <p:nvPr/>
        </p:nvSpPr>
        <p:spPr>
          <a:xfrm>
            <a:off x="548640" y="2331720"/>
            <a:ext cx="640080" cy="64008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9" name="Takeaway icon" descr="CheckCirc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2485339"/>
            <a:ext cx="332842" cy="33284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71600" y="23317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การตรวจที่ผ่าน ตอบได้แค่คำถามเดียว รู้ให้ได้ว่าคือคำถามอะไร</a:t>
            </a:r>
            <a:endParaRPr lang="en-US" sz="1500" dirty="0"/>
          </a:p>
        </p:txBody>
      </p:sp>
      <p:sp>
        <p:nvSpPr>
          <p:cNvPr id="11" name="Takeaway circle"/>
          <p:cNvSpPr/>
          <p:nvPr/>
        </p:nvSpPr>
        <p:spPr>
          <a:xfrm>
            <a:off x="548640" y="3246120"/>
            <a:ext cx="640080" cy="64008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12" name="Takeaway icon" descr="ChartLin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3399739"/>
            <a:ext cx="332842" cy="33284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32461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ข้อมูลมากขึ้น อาจทำให้การทดสอบที่ผิด มั่นใจมากขึ้น</a:t>
            </a:r>
            <a:endParaRPr lang="en-US" sz="1500" dirty="0"/>
          </a:p>
        </p:txBody>
      </p:sp>
      <p:sp>
        <p:nvSpPr>
          <p:cNvPr id="14" name="Takeaway circle"/>
          <p:cNvSpPr/>
          <p:nvPr/>
        </p:nvSpPr>
        <p:spPr>
          <a:xfrm>
            <a:off x="548640" y="4160520"/>
            <a:ext cx="640080" cy="640080"/>
          </a:xfrm>
          <a:prstGeom prst="ellipse">
            <a:avLst/>
          </a:prstGeom>
          <a:solidFill>
            <a:srgbClr val="D6F2E7"/>
          </a:solidFill>
          <a:ln w="12700">
            <a:solidFill>
              <a:srgbClr val="D6F2E7"/>
            </a:solidFill>
            <a:prstDash val="solid"/>
          </a:ln>
        </p:spPr>
      </p:sp>
      <p:pic>
        <p:nvPicPr>
          <p:cNvPr id="15" name="Takeaway icon" descr="ShieldAl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4314139"/>
            <a:ext cx="332842" cy="33284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371600" y="41605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ทุกปัญหาที่พบ มีวิธีตรวจเฉพาะที่ทำได้ง่าย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640080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ข้อจำกัด</a:t>
            </a:r>
            <a:endParaRPr lang="en-US" sz="1600" dirty="0"/>
          </a:p>
        </p:txBody>
      </p:sp>
      <p:sp>
        <p:nvSpPr>
          <p:cNvPr id="18" name="Limit circle"/>
          <p:cNvSpPr/>
          <p:nvPr/>
        </p:nvSpPr>
        <p:spPr>
          <a:xfrm>
            <a:off x="6400800" y="2331720"/>
            <a:ext cx="640080" cy="64008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19" name="Limit icon" descr="Databas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4419" y="2485339"/>
            <a:ext cx="332842" cy="33284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223760" y="23317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ข้อมูลสาธารณะเล็กสามชุด ผลเป็นเรื่องวิธีตรวจ ไม่ใช่ชีววิทยาของโรค</a:t>
            </a:r>
            <a:endParaRPr lang="en-US" sz="1400" dirty="0"/>
          </a:p>
        </p:txBody>
      </p:sp>
      <p:sp>
        <p:nvSpPr>
          <p:cNvPr id="21" name="Limit circle"/>
          <p:cNvSpPr/>
          <p:nvPr/>
        </p:nvSpPr>
        <p:spPr>
          <a:xfrm>
            <a:off x="6400800" y="3246120"/>
            <a:ext cx="640080" cy="64008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22" name="Limit icon" descr="Calculator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4419" y="3399739"/>
            <a:ext cx="332842" cy="332842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223760" y="32461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การจำลองใช้ข้อมูลเกาส์เซียน โมเดลเชิงเส้น และกฎผลลัพธ์แบบเดียว</a:t>
            </a:r>
            <a:endParaRPr lang="en-US" sz="1400" dirty="0"/>
          </a:p>
        </p:txBody>
      </p:sp>
      <p:sp>
        <p:nvSpPr>
          <p:cNvPr id="24" name="Limit circle"/>
          <p:cNvSpPr/>
          <p:nvPr/>
        </p:nvSpPr>
        <p:spPr>
          <a:xfrm>
            <a:off x="6400800" y="4160520"/>
            <a:ext cx="640080" cy="640080"/>
          </a:xfrm>
          <a:prstGeom prst="ellipse">
            <a:avLst/>
          </a:prstGeom>
          <a:solidFill>
            <a:srgbClr val="FCE3D8"/>
          </a:solidFill>
          <a:ln w="12700">
            <a:solidFill>
              <a:srgbClr val="FCE3D8"/>
            </a:solidFill>
            <a:prstDash val="solid"/>
          </a:ln>
        </p:spPr>
      </p:sp>
      <p:pic>
        <p:nvPicPr>
          <p:cNvPr id="25" name="Limit icon" descr="Heartbeat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4419" y="4314139"/>
            <a:ext cx="332842" cy="332842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223760" y="41605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การทำซ้ำมีผู้ป่วย 47 คน และเป็นสถานการณ์เฉียบพลัน</a:t>
            </a:r>
            <a:endParaRPr lang="en-US" sz="1400" dirty="0"/>
          </a:p>
        </p:txBody>
      </p:sp>
      <p:sp>
        <p:nvSpPr>
          <p:cNvPr id="27" name="Repo callout"/>
          <p:cNvSpPr/>
          <p:nvPr/>
        </p:nvSpPr>
        <p:spPr>
          <a:xfrm>
            <a:off x="548640" y="516636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pic>
        <p:nvPicPr>
          <p:cNvPr id="28" name="GitHub icon" descr="GitHub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394960"/>
            <a:ext cx="365760" cy="36576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1371600" y="516636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โค้ด ผลลัพธ์ และบทความ: </a:t>
            </a:r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github.com/Calvinkub/validated-yet-wrong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Calculato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การออกแบบการจำลอง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บทความหมวด Simulation Study; simulation/sim_pairing_null.py (seed 20261011)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92024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สารแต่ละตัวมีระดับถาวรของผู้ป่วยแต่ละคน (11 ตัวชี้วัด + 10 ฟีเจอร์เสริม)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sqrt(r) * mu + sqrt(1 - r) * e0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x12 = sqrt(r) * (mu + gamma * g * s) + sqrt(1 - r) * e12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r: ความน่าเชื่อถือของการวัด (สัดส่วนความแปรปรวนที่คงอยู่) / gamma: ผลตอบสนองจริงที่ทำนายได้ (0 = ไม่มี) / g: แนวโน้มตอบสนองจากฟีเจอร์เสริม / s: ทิศทางที่คาดไว้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ผลลัพธ์: อย่างน้อย 6 จาก 11 ตัวชี้วัดเปลี่ยนไปในทิศที่คาด / โมเดล: ridge regression (lambda = 10), CV 5 fold, วัดด้วย average precision</a:t>
            </a:r>
            <a:endParaRPr lang="en-US" sz="1500" dirty="0"/>
          </a:p>
        </p:txBody>
      </p:sp>
      <p:sp>
        <p:nvSpPr>
          <p:cNvPr id="8" name="Grid card"/>
          <p:cNvSpPr/>
          <p:nvPr/>
        </p:nvSpPr>
        <p:spPr>
          <a:xfrm>
            <a:off x="7040880" y="1920240"/>
            <a:ext cx="4572000" cy="3931920"/>
          </a:xfrm>
          <a:prstGeom prst="roundRect">
            <a:avLst>
              <a:gd name="adj" fmla="val 186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269480" y="20574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ตารางที่จำลอง (1,000 ชุดต่อช่อง)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n: 50, 100, 200, 500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r: 0.25, 0.5, 0.75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gamma: 0, 0.25, 0.5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 36,000 ชุด</a:t>
            </a:r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ทดสอบสี่แบบต่อชุด alpha = 0.05, null 200 รอบ ฝึกโมเดลใหม่ทุกรอบ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 label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สลับคู่ตัวอย่าง (pairing-destroyed null)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หักทีละสาร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หักทุกสารพร้อมกัน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icker icon" descr="FaTab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1005840" y="347472"/>
            <a:ext cx="10634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3A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</a:t>
            </a:r>
            <a:endParaRPr lang="en-US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ตัวเลขกรณีที่ 1 ทั้งหมด</a:t>
            </a:r>
            <a:endParaRPr lang="en-US" sz="30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experiments/case1/RESULTS.md. ช่วงความเชื่อมั่น: bootstrap ระดับผู้ป่วย 71 คน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651760"/>
                <a:gridCol w="2697480"/>
                <a:gridCol w="272491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ตัวชี้วัด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ดีไซน์เดิม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หักทีละสาร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หักทุกสารพร้อมกัน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ผู้ตอบสนอง จาก 71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ความชุก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0.437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0.437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0.521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PR-AUC ของโมเดล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0.683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0.483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0.554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PR-AUC ของตัวที่ไม่เรียนรู้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0.653 (solver เดิม)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0.522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0.589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Gap และช่วง 95%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ไม่มี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-0.042 [-0.149, +0.052]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-0.037 [-0.111, +0.037]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 ของการสลับ label (ฝึกใหม่)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0.001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1.000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lift ของ null (median)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2.04 เทียบกับที่สังเกตได้ 1.57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1.04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1.05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 White TH">
  <a:themeElements>
    <a:clrScheme name="Academic White TH">
      <a:dk1>
        <a:srgbClr val="1B2430"/>
      </a:dk1>
      <a:lt1>
        <a:srgbClr val="FFFFFF"/>
      </a:lt1>
      <a:dk2>
        <a:srgbClr val="5B6470"/>
      </a:dk2>
      <a:lt2>
        <a:srgbClr val="F3F5F7"/>
      </a:lt2>
      <a:accent1>
        <a:srgbClr val="2A78D6"/>
      </a:accent1>
      <a:accent2>
        <a:srgbClr val="EB6834"/>
      </a:accent2>
      <a:accent3>
        <a:srgbClr val="1BAF7A"/>
      </a:accent3>
      <a:accent4>
        <a:srgbClr val="4A3AA7"/>
      </a:accent4>
      <a:accent5>
        <a:srgbClr val="EDA100"/>
      </a:accent5>
      <a:accent6>
        <a:srgbClr val="E34948"/>
      </a:accent6>
      <a:hlink>
        <a:srgbClr val="2A78D6"/>
      </a:hlink>
      <a:folHlink>
        <a:srgbClr val="4A3AA7"/>
      </a:folHlink>
    </a:clrScheme>
    <a:fontScheme name="Academic White TH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ผ่านการตรวจแล้ว แต่ผิด (Validated, yet Wrong)</dc:title>
  <dc:subject>Four ways small-n metabolomics ML passes standard checks</dc:subject>
  <dc:creator>Chaiyaporn Orrudee, Kanin Calvin Shomwiwat</dc:creator>
  <cp:lastModifiedBy>Chaiyaporn Orrudee, Kanin Calvin Shomwiwat</cp:lastModifiedBy>
  <cp:revision>1</cp:revision>
  <dcterms:created xsi:type="dcterms:W3CDTF">2026-10-21T11:07:32Z</dcterms:created>
  <dcterms:modified xsi:type="dcterms:W3CDTF">2026-10-21T11:07:32Z</dcterms:modified>
</cp:coreProperties>
</file>