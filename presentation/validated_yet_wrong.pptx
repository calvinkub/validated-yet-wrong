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Lift over prevalence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&quot;x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Observed model</c:v>
                  </c:pt>
                  <c:pt idx="1">
                    <c:v>Pairing-destroyed null (median)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1.57</c:v>
                </c:pt>
                <c:pt idx="1">
                  <c:v>2.04</c:v>
                </c:pt>
              </c:numCache>
            </c:numRef>
          </c:val>
        </c:ser>
        <c:dLbls>
          <c:numFmt formatCode="0.00&quot;x&quot;" sourceLinked="0"/>
          <c:txPr>
            <a:bodyPr/>
            <a:lstStyle/>
            <a:p>
              <a:pPr>
                <a:defRPr b="1" i="0" strike="noStrike" sz="16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5"/>
          <c:min val="0"/>
        </c:scaling>
        <c:delete val="0"/>
        <c:axPos val="l"/>
        <c:majorGridlines>
          <c:spPr>
            <a:ln w="9525" cap="flat">
              <a:solidFill>
                <a:srgbClr val="D9DE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47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470"/>
                    </a:solidFill>
                    <a:latin typeface="Arial"/>
                  </a:rPr>
                  <a:t>Lift = average precision / prevalence</a:t>
                </a:r>
              </a:p>
            </c:rich>
          </c:tx>
          <c:layout/>
          <c:overlay val="0"/>
        </c:title>
        <c:numFmt formatCode="0.0&quot;x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Trained model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Per-marker residualised
(prevalence 0.437)</c:v>
                  </c:pt>
                  <c:pt idx="1">
                    <c:v>Joint residualised
(prevalence 0.521)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0.483</c:v>
                </c:pt>
                <c:pt idx="1">
                  <c:v>0.554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Learn-nothing scorer</c:v>
                </c:pt>
              </c:strCache>
            </c:strRef>
          </c:tx>
          <c:spPr>
            <a:solidFill>
              <a:srgbClr val="9AA3AD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Per-marker residualised
(prevalence 0.437)</c:v>
                  </c:pt>
                  <c:pt idx="1">
                    <c:v>Joint residualised
(prevalence 0.521)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0.522</c:v>
                </c:pt>
                <c:pt idx="1">
                  <c:v>0.589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9525" cap="flat">
              <a:solidFill>
                <a:srgbClr val="D9DE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47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470"/>
                    </a:solidFill>
                    <a:latin typeface="Arial"/>
                  </a:rPr>
                  <a:t>PR-AUC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Label permutation</c:v>
                </c:pt>
              </c:strCache>
            </c:strRef>
          </c:tx>
          <c:spPr>
            <a:solidFill>
              <a:srgbClr val="EB6834"/>
            </a:solidFill>
            <a:ln w="38100" cap="flat">
              <a:solidFill>
                <a:srgbClr val="EB6834"/>
              </a:solidFill>
              <a:prstDash val="solid,solid,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n = 50</c:v>
                  </c:pt>
                  <c:pt idx="1">
                    <c:v>n = 100</c:v>
                  </c:pt>
                  <c:pt idx="2">
                    <c:v>n = 200</c:v>
                  </c:pt>
                  <c:pt idx="3">
                    <c:v>n = 500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26.1</c:v>
                </c:pt>
                <c:pt idx="1">
                  <c:v>52</c:v>
                </c:pt>
                <c:pt idx="2">
                  <c:v>92.6</c:v>
                </c:pt>
                <c:pt idx="3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Pairing-destroyed null</c:v>
                </c:pt>
              </c:strCache>
            </c:strRef>
          </c:tx>
          <c:spPr>
            <a:solidFill>
              <a:srgbClr val="2A78D6"/>
            </a:solidFill>
            <a:ln w="38100" cap="flat">
              <a:solidFill>
                <a:srgbClr val="2A78D6"/>
              </a:solidFill>
              <a:prstDash val="solid,solid,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n = 50</c:v>
                  </c:pt>
                  <c:pt idx="1">
                    <c:v>n = 100</c:v>
                  </c:pt>
                  <c:pt idx="2">
                    <c:v>n = 200</c:v>
                  </c:pt>
                  <c:pt idx="3">
                    <c:v>n = 500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4.3</c:v>
                </c:pt>
                <c:pt idx="1">
                  <c:v>2.1</c:v>
                </c:pt>
                <c:pt idx="2">
                  <c:v>0.7</c:v>
                </c:pt>
                <c:pt idx="3">
                  <c:v>0.3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Joint residualised + permutation</c:v>
                </c:pt>
              </c:strCache>
            </c:strRef>
          </c:tx>
          <c:spPr>
            <a:solidFill>
              <a:srgbClr val="1BAF7A"/>
            </a:solidFill>
            <a:ln w="38100" cap="flat">
              <a:solidFill>
                <a:srgbClr val="1BAF7A"/>
              </a:solidFill>
              <a:prstDash val="solid,solid,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BAF7A"/>
              </a:solidFill>
              <a:ln w="9525" cap="flat">
                <a:solidFill>
                  <a:srgbClr val="1BAF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n = 50</c:v>
                  </c:pt>
                  <c:pt idx="1">
                    <c:v>n = 100</c:v>
                  </c:pt>
                  <c:pt idx="2">
                    <c:v>n = 200</c:v>
                  </c:pt>
                  <c:pt idx="3">
                    <c:v>n = 500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7.4</c:v>
                </c:pt>
                <c:pt idx="1">
                  <c:v>6.2</c:v>
                </c:pt>
                <c:pt idx="2">
                  <c:v>5.9</c:v>
                </c:pt>
                <c:pt idx="3">
                  <c:v>6.3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Per-marker residualised + permutation</c:v>
                </c:pt>
              </c:strCache>
            </c:strRef>
          </c:tx>
          <c:spPr>
            <a:solidFill>
              <a:srgbClr val="4A3AA7"/>
            </a:solidFill>
            <a:ln w="38100" cap="flat">
              <a:solidFill>
                <a:srgbClr val="4A3AA7"/>
              </a:solidFill>
              <a:prstDash val="solid,solid,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4A3AA7"/>
              </a:solidFill>
              <a:ln w="9525" cap="flat">
                <a:solidFill>
                  <a:srgbClr val="4A3AA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n = 50</c:v>
                  </c:pt>
                  <c:pt idx="1">
                    <c:v>n = 100</c:v>
                  </c:pt>
                  <c:pt idx="2">
                    <c:v>n = 200</c:v>
                  </c:pt>
                  <c:pt idx="3">
                    <c:v>n = 500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8</c:v>
                </c:pt>
                <c:pt idx="1">
                  <c:v>9.3</c:v>
                </c:pt>
                <c:pt idx="2">
                  <c:v>12</c:v>
                </c:pt>
                <c:pt idx="3">
                  <c:v>18.9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Nominal 5%</c:v>
                </c:pt>
              </c:strCache>
            </c:strRef>
          </c:tx>
          <c:spPr>
            <a:solidFill>
              <a:srgbClr val="9AA3AD"/>
            </a:solidFill>
            <a:ln w="38100" cap="flat">
              <a:solidFill>
                <a:srgbClr val="9AA3AD"/>
              </a:solidFill>
              <a:prstDash val="solid,solid,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n = 50</c:v>
                  </c:pt>
                  <c:pt idx="1">
                    <c:v>n = 100</c:v>
                  </c:pt>
                  <c:pt idx="2">
                    <c:v>n = 200</c:v>
                  </c:pt>
                  <c:pt idx="3">
                    <c:v>n = 500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9DE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47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470"/>
                    </a:solidFill>
                    <a:latin typeface="Arial"/>
                  </a:rPr>
                  <a:t>False-positive rate when there is no real signal</a:t>
                </a:r>
              </a:p>
            </c:rich>
          </c:tx>
          <c:layout/>
          <c:overlay val="0"/>
        </c:title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 model lift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&quot;x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Left atrium (primary)</c:v>
                  </c:pt>
                  <c:pt idx="1">
                    <c:v>Pulmonary artery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1.29</c:v>
                </c:pt>
                <c:pt idx="1">
                  <c:v>1.19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Pairing-destroyed null lift (median)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0&quot;x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Left atrium (primary)</c:v>
                  </c:pt>
                  <c:pt idx="1">
                    <c:v>Pulmonary artery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1.49</c:v>
                </c:pt>
                <c:pt idx="1">
                  <c:v>1.4</c:v>
                </c:pt>
              </c:numCache>
            </c:numRef>
          </c:val>
        </c:ser>
        <c:dLbls>
          <c:numFmt formatCode="0.00&quot;x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"/>
        </c:scaling>
        <c:delete val="0"/>
        <c:axPos val="l"/>
        <c:majorGridlines>
          <c:spPr>
            <a:ln w="9525" cap="flat">
              <a:solidFill>
                <a:srgbClr val="D9DE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47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470"/>
                    </a:solidFill>
                    <a:latin typeface="Arial"/>
                  </a:rPr>
                  <a:t>Lift over prevalence (raw change outcome)</a:t>
                </a:r>
              </a:p>
            </c:rich>
          </c:tx>
          <c:layout/>
          <c:overlay val="0"/>
        </c:title>
        <c:numFmt formatCode="0.0&quot;x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Recursive ROAR (informed removal)</c:v>
                </c:pt>
              </c:strCache>
            </c:strRef>
          </c:tx>
          <c:spPr>
            <a:solidFill>
              <a:srgbClr val="EB6834"/>
            </a:solidFill>
            <a:ln w="38100" cap="flat">
              <a:solidFill>
                <a:srgbClr val="EB6834"/>
              </a:solidFill>
              <a:prstDash val="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0.965</c:v>
                </c:pt>
                <c:pt idx="1">
                  <c:v>0.965</c:v>
                </c:pt>
                <c:pt idx="2">
                  <c:v>0.954</c:v>
                </c:pt>
                <c:pt idx="3">
                  <c:v>0.945</c:v>
                </c:pt>
                <c:pt idx="4">
                  <c:v>0.928</c:v>
                </c:pt>
                <c:pt idx="5">
                  <c:v>0.91</c:v>
                </c:pt>
                <c:pt idx="6">
                  <c:v>0.885</c:v>
                </c:pt>
                <c:pt idx="7">
                  <c:v>0.862</c:v>
                </c:pt>
                <c:pt idx="8">
                  <c:v>0.848</c:v>
                </c:pt>
                <c:pt idx="9">
                  <c:v>0.825</c:v>
                </c:pt>
                <c:pt idx="10">
                  <c:v>0.802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removal, mean</c:v>
                </c:pt>
              </c:strCache>
            </c:strRef>
          </c:tx>
          <c:spPr>
            <a:solidFill>
              <a:srgbClr val="2A78D6"/>
            </a:solidFill>
            <a:ln w="38100" cap="flat">
              <a:solidFill>
                <a:srgbClr val="2A78D6"/>
              </a:solidFill>
              <a:prstDash val="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0.972</c:v>
                </c:pt>
                <c:pt idx="1">
                  <c:v>0.971</c:v>
                </c:pt>
                <c:pt idx="2">
                  <c:v>0.97</c:v>
                </c:pt>
                <c:pt idx="3">
                  <c:v>0.968</c:v>
                </c:pt>
                <c:pt idx="4">
                  <c:v>0.967</c:v>
                </c:pt>
                <c:pt idx="5">
                  <c:v>0.965</c:v>
                </c:pt>
                <c:pt idx="6">
                  <c:v>0.963</c:v>
                </c:pt>
                <c:pt idx="7">
                  <c:v>0.961</c:v>
                </c:pt>
                <c:pt idx="8">
                  <c:v>0.958</c:v>
                </c:pt>
                <c:pt idx="9">
                  <c:v>0.955</c:v>
                </c:pt>
                <c:pt idx="10">
                  <c:v>0.949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Random removal, 2.5th percentile</c:v>
                </c:pt>
              </c:strCache>
            </c:strRef>
          </c:tx>
          <c:spPr>
            <a:solidFill>
              <a:srgbClr val="9AA3AD"/>
            </a:solidFill>
            <a:ln w="38100" cap="flat">
              <a:solidFill>
                <a:srgbClr val="9AA3AD"/>
              </a:solidFill>
              <a:prstDash val="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0.967</c:v>
                </c:pt>
                <c:pt idx="1">
                  <c:v>0.963</c:v>
                </c:pt>
                <c:pt idx="2">
                  <c:v>0.961</c:v>
                </c:pt>
                <c:pt idx="3">
                  <c:v>0.956</c:v>
                </c:pt>
                <c:pt idx="4">
                  <c:v>0.953</c:v>
                </c:pt>
                <c:pt idx="5">
                  <c:v>0.946</c:v>
                </c:pt>
                <c:pt idx="6">
                  <c:v>0.944</c:v>
                </c:pt>
                <c:pt idx="7">
                  <c:v>0.934</c:v>
                </c:pt>
                <c:pt idx="8">
                  <c:v>0.925</c:v>
                </c:pt>
                <c:pt idx="9">
                  <c:v>0.917</c:v>
                </c:pt>
                <c:pt idx="10">
                  <c:v>0.903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47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470"/>
                    </a:solidFill>
                    <a:latin typeface="Arial"/>
                  </a:rPr>
                  <a:t>Features removed (k)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78"/>
        </c:scaling>
        <c:delete val="0"/>
        <c:axPos val="l"/>
        <c:majorGridlines>
          <c:spPr>
            <a:ln w="9525" cap="flat">
              <a:solidFill>
                <a:srgbClr val="D9DE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47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470"/>
                    </a:solidFill>
                    <a:latin typeface="Arial"/>
                  </a:rPr>
                  <a:t>PR-AUC after retraining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4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3A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A3A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Batch prefix only</c:v>
                  </c:pt>
                  <c:pt idx="1">
                    <c:v>NMR model, seed 42</c:v>
                  </c:pt>
                  <c:pt idx="2">
                    <c:v>NMR model, 20-seed mean</c:v>
                  </c:pt>
                  <c:pt idx="3">
                    <c:v>Sex only</c:v>
                  </c:pt>
                  <c:pt idx="4">
                    <c:v>Chance (prevalence)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0.976</c:v>
                </c:pt>
                <c:pt idx="2">
                  <c:v>0.911</c:v>
                </c:pt>
                <c:pt idx="3">
                  <c:v>0.5</c:v>
                </c:pt>
                <c:pt idx="4">
                  <c:v>0.364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b"/>
        <c:majorGridlines>
          <c:spPr>
            <a:ln w="9525" cap="flat">
              <a:solidFill>
                <a:srgbClr val="D9DE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47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470"/>
                    </a:solidFill>
                    <a:latin typeface="Arial"/>
                  </a:rPr>
                  <a:t>PR-AUC, subject-grouped CV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สวัสดีครับ/ค่ะ วันนี้นำเสนอโครงงานเรื่อง Validated, yet Wrong หรือ "ผ่านการตรวจสอบแล้ว แต่ผิด" งานนี้ว่าด้วยวิธีที่โมเดลแมชชีนเลิร์นนิงบนข้อมูลเมตาโบโลมิกส์ขนาดเล็ก ผ่านการตรวจสอบมาตรฐานครบทุกอย่าง แต่ผลลัพธ์ยังผิดอยู่ดี (เวลา ~0:20)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ตัวเลขสามตัวนี้มาจากงานของเราเอง ตอนที่ตรวจสอบด้วยวิธีมาตรฐานแล้วดูน่าเชื่อถือ: p = 0.002 จาก label permutation, PR-AUC 1.000 จากชื่อไฟล์ตัวอย่างอย่างเดียว, และผู้ป่วย 71 จาก 106 คนอยู่ทั้งสองคลาสของ label ที่เราเรียกว่า "โรคอ้วน" ทั้งสามเรื่องจะอธิบายต่อไป (~0:35)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cross-validation ถามว่าโมเดลใช้กับตัวอย่างใหม่ที่เก็บแบบเดิมได้ไหม, permutation test ถามว่าฟีเจอร์กับ label มีความสัมพันธ์อะไรสักอย่างไหม, ROAR ถามว่าโมเดลพึ่งฟีเจอร์นั้นไหม ไม่มีอันไหนถามว่า label วัดสิ่งที่มันอ้างจริงหรือเปล่า หรือสัญญาณนั้นเป็นชีววิทยาหรือไม่ (~0:35)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เราเจอสี่รูปแบบจากข้อมูลสาธารณะบน MetaboLights: หนึ่ง ผลลัพธ์ที่ถูกสร้างจากฟีเจอร์ตัวเอง, สอง สารปนเปื้อนที่ ROAR จัดว่าสำคัญเท่าชีววิทยา, สาม batch ที่ตรงกับ label ทุกตัวอย่าง, สี่ label ที่ชื่อไม่ตรงกับสิ่งที่มันวัด แต่ละกรณีมีการตรวจเฉพาะที่จับได้ (~0:30)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กรณีแรก: ผู้ป่วยผ่าตัดกระเพาะ 71 คน ทำนายว่าใครจะตอบสนองดีหลังหนึ่งปี โดย label ถูกคำนวณจากการเปลี่ยนแปลงของสารชุดเดียวกับที่ใช้เป็นฟีเจอร์ ค่าเริ่มต้นที่สูงจะลดลงเข้าหาค่าเฉลี่ยเอง (regression to the mean) label permutation ให้ p = 0.002 แต่เมื่อสลับว่าตัวอย่างหลังหนึ่งปีเป็นของใคร แล้วสร้าง label ใหม่ ซึ่งไม่เหลือสัญญาณรายบุคคลเลย ผลกลับได้ lift 2.04 เท่า สูงกว่าโมเดลจริงที่ 1.57 เท่า (~0:50)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พอแก้นิยามผลลัพธ์ (หักผลของค่าเริ่มต้นออกภายในแต่ละ fold) โมเดลก็ไม่ดีกว่าตัวให้คะแนนที่ไม่ได้เรียนรู้อะไรเลย (ผลรวมค่า z-score ของค่าเริ่มต้นที่ไม่มีการ fit) ทั้งสองดีไซน์ ช่วงความเชื่อมั่นระดับ subject คร่อมศูนย์ ดังนั้นพูดได้ว่า "ไม่ดีกว่า" ไม่ใช่ "แย่กว่า" ความชุกต่างกันระหว่างสองดีไซน์ ให้เทียบ gap ไม่ใช่ระดับ PR-AUC (~0:30)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เพื่อดูว่าปัญหานี้เกิดเมื่อไร เราจำลอง 36,000 ชุดข้อมูล เมื่อไม่มีผลรายบุคคลเลย label permutation ปฏิเสธสมมติฐานว่างผิด ๆ ตั้งแต่ 26% ที่ 50 ตัวอย่าง ไปจนถึง 100% ที่ 500 ตัวอย่าง ยิ่งข้อมูลมาก ยิ่งผิดมาก เพราะข้อมูลมากแค่ทำให้ประมาณ artefact ได้แม่นขึ้น วิธีแก้ที่นิยมคือหักค่าเริ่มต้นทีละสาร ยังผิด 8-29% เพราะสารสัมพันธ์กัน ถ้าหักด้วยค่าเริ่มต้นของทุกสารพร้อมกัน อัตราผิดลงมาที่ 5-8% ส่วน pairing-destroyed null ไม่เคยผิดเกิน 4.3% แต่ตรวจจับผลจริงได้อ่อน จึงใช้เป็นตัวช่วยวินิจฉัย (~0:45)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เราทำซ้ำบนข้อมูลชุดที่สอง คือผู้ป่วยผ่าตัดหัวใจ 47 คน โดยกำหนดวิธีวิเคราะห์ไว้ก่อนรันโมเดล (pre-registration) ผลแบบ raw change ซ้ำได้ที่ทั้งสองตำแหน่งเก็บเลือด: label permutation ปฏิเสธ (p = 0.007) แต่ pairing-destroyed null ได้ lift สูงกว่าโมเดล ส่วนผลหลังหักค่าเริ่มต้นซ้ำได้เพียงบางส่วน และ 47 คนไม่พอตัดสิน ข้อสังเกต: ยาที่ให้ระหว่างผ่าตัด (propofol, heparin) ทำให้เกิดสัญญาณที่ดูมีนัยสำคัญ (~0:25)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กรณีที่สองคือ ROAR ซึ่งตัดฟีเจอร์ที่ SHAP จัดว่าสำคัญแล้วฝึกโมเดลใหม่ ในข้อมูลผ่าตัดกระเพาะ สามสารแรกที่ถูกจัดว่าสำคัญคือ dimethyl sulfone, isopropanol และ methanol ซึ่งน่าจะเป็นสารจากภายนอก isopropanol เป็นน้ำยาทำความสะอาดผิวก่อนผ่าตัด ตัดสามสารนี้ คะแนนตกเหลือ 0.954 ส่วนตัดสามสารชีววิทยาจริงเหลือ 0.959 ต่างกันน้อยกว่าความผันผวนของ fold (~0.03) มาก ROAR แยกสองกลุ่มนี้ไม่ได้ (~0:45)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เพื่อยืนยัน เราใส่ฟีเจอร์สังเคราะห์ที่ขึ้นกับ label อย่างเดียว ไม่มีชีววิทยาเลย (d คูณ y บวกสัญญาณรบกวน) เมื่อสัญญาณแรงพอ (d = 1.75) ROAR จัดให้เป็นอันดับหนึ่ง และการตัดมันทำให้คะแนนตกมากกว่าการตัดสารจริงตัวใดก็ตาม (0.0127 เทียบกับ 0.0073 ของ dimethyl sulfone) ROAR วัดว่าฟีเจอร์ พกสัญญาณ มากแค่ไหน ไม่ได้วัดว่ามันมาจากไหน (~0:30)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กรณีที่สามคือข้อมูลปัสสาวะผู้ป่วยเบาหวาน ชื่อตัวอย่างของกลุ่มควบคุมทุกตัวขึ้นต้นด้วย ADG19007u และของผู้ป่วยทุกตัวขึ้นต้นด้วย ADG10003u เมื่อใช้เฉพาะ prefix นี้ทำนาย ได้ PR-AUC เท่ากับ 1.000 หมายความว่าความต่างระหว่างกลุ่มแยกจาก batch ไม่ได้ ค่า 0.976 ที่เคยรายงานก็ขึ้นกับ random seed เมื่อรัน 20 seed ค่าเฉลี่ยเหลือ 0.911 (~0:50 รวมกรณีที่ 4)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กรณีที่สี่ งานเดิมเรียกว่า "ทำนายโรคอ้วน" แต่ label จริงคือ "ก่อนผ่าตัดเทียบกับหลังผ่าตัดหนึ่งปี" และ 71 จาก 106 คนปรากฏทั้งสองฝั่ง (80% ของตัวอย่างมาจากผู้ป่วยเหล่านี้) การแบ่ง CV ตามผู้ป่วยให้ ROC-AUC 0.960 ส่วน CV ธรรมดา 0.959 ไม่ต่างกัน ปัญหาจึงไม่ใช่ leakage แต่คือความหมายของ label โมเดลจึงเรียนรู้ทุกอย่างที่เปลี่ยนไปหลังผ่าตัด ไม่ใช่เฉพาะภาวะอ้วน (~0:50 รวมกรณีที่ 3)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ข้อเสนอของเราคือเช็กลิสต์หกข้อ หนึ่ง ถ้าผลลัพธ์คำนวณจากฟีเจอร์ อย่าพึ่ง label permutation ให้หักด้วยค่าเริ่มต้นของทุกสารพร้อมกันภายในแต่ละ fold และรายงาน pairing-destroyed null เป็นตัวช่วย สอง ฝึกโมเดลใหม่ในทุกรอบของ permutation สาม เทียบกับตัวให้คะแนนที่ไม่เรียนรู้อะไรเสมอ สี่ ตรวจหาสารจากภายนอก และรายงานผลทั้งแบบมีและไม่มี ห้า ทำตารางไขว้ระหว่าง label กับ metadata ทุกคอลัมน์ เช่น batch ลำดับการรัน และเพศ หก เขียนให้ได้ในหนึ่งประโยคว่า label แยกอะไรออกจากอะไรจริง ๆ (~0:35)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ข้อสรุปคือ การตรวจสอบมาตรฐานจำเป็น แต่ไม่พอ ถ้าเราตรวจให้ครบทั้งสี่จุดนี้ ก็จะจับข้อผิดพลาดได้ก่อนตีพิมพ์ ข้อจำกัดที่ควรรู้: เราใช้ข้อมูลสาธารณะขนาดเล็กสามชุด ผลที่ได้เป็นเรื่องวิธีตรวจสอบ ไม่ได้บอกอะไรเกี่ยวกับชีววิทยาของโรคอ้วนหรือเบาหวาน การจำลองใช้ข้อมูลแบบเกาส์เซียนและโมเดลเชิงเส้น และกรณีทำซ้ำมีตัวอย่างน้อย ขอบคุณครับ/ค่ะ (~0:25)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สำรองสำหรับตอบคำถาม: ผู้ใช้ r = 0.25 จะทำซ้ำค่าสหสัมพันธ์ baseline-change เฉลี่ย -0.62 ที่เห็นใน MTBLS242 การทดสอบแต่ละแบบฝึกโมเดลใหม่ในทุก null replicate (200 ครั้ง) และเราทดสอบความถูกต้องกับข้อมูลสัญญาณรบกวนล้วนก่อน: อัตราปฏิเสธ 5.3% เมื่อฝึกใหม่ทุกครั้ง แต่ 9.7% เมื่อใช้คะแนน out-of-fold คงที่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สำรองสำหรับตอบคำถามเรื่องตัวเลขของ Case 1 ตัวเลข PR-AUC เดิมที่รายงานไว้ 0.671 ไม่ซ้ำเป๊ะเมื่อรันใหม่ (ได้ 0.683) ซึ่งตรงกับที่ repository เดิมบันทึกไว้ ความชุกของผู้ตอบสนองต่างกันเพราะเกณฑ์ 6 จาก 11 ให้จำนวนผู้ตอบสนองต่างกันในสองดีไซน์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91672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Validated, yet Wrong  |  KMITL, Artificial Intelligence Technology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DEFENSE  |  OCTOBER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Validated, yet Wrong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small-n metabolomics machine learning passes standard checks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Chaiyaporn Orrudee (67070217)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Kanin Calvin Shomwiwat (67070015)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Asst. Prof. Dr. Nont Kanungsukkasem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Technology, School of Information Technology, KMITL</a:t>
            </a:r>
            <a:endParaRPr lang="en-US" sz="1500" dirty="0"/>
          </a:p>
        </p:txBody>
      </p:sp>
      <p:sp>
        <p:nvSpPr>
          <p:cNvPr id="6" name="Check row"/>
          <p:cNvSpPr/>
          <p:nvPr/>
        </p:nvSpPr>
        <p:spPr>
          <a:xfrm>
            <a:off x="7589520" y="141732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7" name="Check badge"/>
          <p:cNvSpPr/>
          <p:nvPr/>
        </p:nvSpPr>
        <p:spPr>
          <a:xfrm>
            <a:off x="7818120" y="1600200"/>
            <a:ext cx="411480" cy="41148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1812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412480" y="1417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800" dirty="0"/>
          </a:p>
        </p:txBody>
      </p:sp>
      <p:sp>
        <p:nvSpPr>
          <p:cNvPr id="10" name="Check row"/>
          <p:cNvSpPr/>
          <p:nvPr/>
        </p:nvSpPr>
        <p:spPr>
          <a:xfrm>
            <a:off x="7589520" y="237744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1" name="Check badge"/>
          <p:cNvSpPr/>
          <p:nvPr/>
        </p:nvSpPr>
        <p:spPr>
          <a:xfrm>
            <a:off x="7818120" y="2560320"/>
            <a:ext cx="411480" cy="41148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1812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2377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test</a:t>
            </a:r>
            <a:endParaRPr lang="en-US" sz="1800" dirty="0"/>
          </a:p>
        </p:txBody>
      </p:sp>
      <p:sp>
        <p:nvSpPr>
          <p:cNvPr id="14" name="Check row"/>
          <p:cNvSpPr/>
          <p:nvPr/>
        </p:nvSpPr>
        <p:spPr>
          <a:xfrm>
            <a:off x="7589520" y="333756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5" name="Check badge"/>
          <p:cNvSpPr/>
          <p:nvPr/>
        </p:nvSpPr>
        <p:spPr>
          <a:xfrm>
            <a:off x="7818120" y="3520440"/>
            <a:ext cx="411480" cy="41148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1812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3375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check (ROAR)</a:t>
            </a:r>
            <a:endParaRPr lang="en-US" sz="1800" dirty="0"/>
          </a:p>
        </p:txBody>
      </p:sp>
      <p:sp>
        <p:nvSpPr>
          <p:cNvPr id="18" name="Verdict row"/>
          <p:cNvSpPr/>
          <p:nvPr/>
        </p:nvSpPr>
        <p:spPr>
          <a:xfrm>
            <a:off x="7589520" y="42976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18120" y="42976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still wrong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standard check passed. The result was still wrong.</a:t>
            </a:r>
            <a:endParaRPr lang="en-US" sz="3200" dirty="0"/>
          </a:p>
        </p:txBody>
      </p:sp>
      <p:sp>
        <p:nvSpPr>
          <p:cNvPr id="4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Case 1 (permutation, legacy design), Case 3 (prefix-only classifier), Case 4 (MTBLS242 sample sheet).</a:t>
            </a:r>
            <a:endParaRPr lang="en-US" sz="1000" dirty="0"/>
          </a:p>
        </p:txBody>
      </p:sp>
      <p:sp>
        <p:nvSpPr>
          <p:cNvPr id="6" name="Stat card"/>
          <p:cNvSpPr/>
          <p:nvPr/>
        </p:nvSpPr>
        <p:spPr>
          <a:xfrm>
            <a:off x="548640" y="2194560"/>
            <a:ext cx="3514344" cy="2103120"/>
          </a:xfrm>
          <a:prstGeom prst="roundRect">
            <a:avLst>
              <a:gd name="adj" fmla="val 3478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42316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0.002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8328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permutation says the forecast is significant. A null with no signal scored higher than the model.</a:t>
            </a:r>
            <a:endParaRPr lang="en-US" sz="1600" dirty="0"/>
          </a:p>
        </p:txBody>
      </p:sp>
      <p:sp>
        <p:nvSpPr>
          <p:cNvPr id="9" name="Stat card"/>
          <p:cNvSpPr/>
          <p:nvPr/>
        </p:nvSpPr>
        <p:spPr>
          <a:xfrm>
            <a:off x="4337304" y="2194560"/>
            <a:ext cx="3514344" cy="2103120"/>
          </a:xfrm>
          <a:prstGeom prst="roundRect">
            <a:avLst>
              <a:gd name="adj" fmla="val 3478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11624" y="242316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5400" dirty="0"/>
          </a:p>
        </p:txBody>
      </p:sp>
      <p:sp>
        <p:nvSpPr>
          <p:cNvPr id="11" name="Text 8"/>
          <p:cNvSpPr txBox="1"/>
          <p:nvPr/>
        </p:nvSpPr>
        <p:spPr>
          <a:xfrm>
            <a:off x="4611624" y="338328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from the sample-name prefix alone. The "biology" is a batch label.</a:t>
            </a:r>
            <a:endParaRPr lang="en-US" sz="1600" dirty="0"/>
          </a:p>
        </p:txBody>
      </p:sp>
      <p:sp>
        <p:nvSpPr>
          <p:cNvPr id="12" name="Stat card"/>
          <p:cNvSpPr/>
          <p:nvPr/>
        </p:nvSpPr>
        <p:spPr>
          <a:xfrm>
            <a:off x="8125968" y="2194560"/>
            <a:ext cx="3514344" cy="2103120"/>
          </a:xfrm>
          <a:prstGeom prst="roundRect">
            <a:avLst>
              <a:gd name="adj" fmla="val 3478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00288" y="242316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 of 106</a:t>
            </a:r>
            <a:endParaRPr lang="en-US" sz="5400" dirty="0"/>
          </a:p>
        </p:txBody>
      </p:sp>
      <p:sp>
        <p:nvSpPr>
          <p:cNvPr id="14" name="Text 11"/>
          <p:cNvSpPr txBox="1"/>
          <p:nvPr/>
        </p:nvSpPr>
        <p:spPr>
          <a:xfrm>
            <a:off x="8400288" y="338328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appear in both classes of the "obese vs non-obese" label. It is before vs after surgery.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7548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cohorts, many features, and checks that answer narrow questions. The failure is rarely the model.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check answers a narrow question, and none asks about the label</a:t>
            </a:r>
            <a:endParaRPr lang="en-US" sz="3200" dirty="0"/>
          </a:p>
        </p:txBody>
      </p:sp>
      <p:sp>
        <p:nvSpPr>
          <p:cNvPr id="4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follows Kapoor and Narayanan (2023) on leakage and Ojala and Garriga (2010) on permutation tests.</a:t>
            </a:r>
            <a:endParaRPr lang="en-US" sz="1000" dirty="0"/>
          </a:p>
        </p:txBody>
      </p:sp>
      <p:sp>
        <p:nvSpPr>
          <p:cNvPr id="6" name="Column card"/>
          <p:cNvSpPr/>
          <p:nvPr/>
        </p:nvSpPr>
        <p:spPr>
          <a:xfrm>
            <a:off x="548640" y="1965960"/>
            <a:ext cx="3514344" cy="3840480"/>
          </a:xfrm>
          <a:prstGeom prst="roundRect">
            <a:avLst>
              <a:gd name="adj" fmla="val 208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148840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Cross-validation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88920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ANSWERS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063240"/>
            <a:ext cx="2965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model generalise to new samples drawn the same way?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251960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ASKS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526280"/>
            <a:ext cx="2965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"the same way" hide a batch, a person, or a time effect?</a:t>
            </a:r>
            <a:endParaRPr lang="en-US" sz="1600" dirty="0"/>
          </a:p>
        </p:txBody>
      </p:sp>
      <p:sp>
        <p:nvSpPr>
          <p:cNvPr id="12" name="Column card"/>
          <p:cNvSpPr/>
          <p:nvPr/>
        </p:nvSpPr>
        <p:spPr>
          <a:xfrm>
            <a:off x="4337304" y="1965960"/>
            <a:ext cx="3514344" cy="3840480"/>
          </a:xfrm>
          <a:prstGeom prst="roundRect">
            <a:avLst>
              <a:gd name="adj" fmla="val 208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11624" y="2148840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Permutation test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611624" y="2788920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ANSWERS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611624" y="3063240"/>
            <a:ext cx="2965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 association between features and label?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611624" y="4251960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ASKS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611624" y="4526280"/>
            <a:ext cx="2965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association guaranteed because the label is built from the features?</a:t>
            </a:r>
            <a:endParaRPr lang="en-US" sz="1600" dirty="0"/>
          </a:p>
        </p:txBody>
      </p:sp>
      <p:sp>
        <p:nvSpPr>
          <p:cNvPr id="18" name="Column card"/>
          <p:cNvSpPr/>
          <p:nvPr/>
        </p:nvSpPr>
        <p:spPr>
          <a:xfrm>
            <a:off x="8125968" y="1965960"/>
            <a:ext cx="3514344" cy="3840480"/>
          </a:xfrm>
          <a:prstGeom prst="roundRect">
            <a:avLst>
              <a:gd name="adj" fmla="val 208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00288" y="2148840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ROAR (remove and retrain)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8400288" y="2788920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ANSWERS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400288" y="3063240"/>
            <a:ext cx="2965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model rely on this feature?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400288" y="4251960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ASKS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8400288" y="4526280"/>
            <a:ext cx="2965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that feature biology, or an artefact of how samples were handled?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public-data cases, each with the check it passed and the control that catches it</a:t>
            </a:r>
            <a:endParaRPr lang="en-US" sz="3200" dirty="0"/>
          </a:p>
        </p:txBody>
      </p:sp>
      <p:sp>
        <p:nvSpPr>
          <p:cNvPr id="4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MTBLS242 (bariatric surgery serum NMR), MTBLS1 (urine NMR, T2DM). Table I in the paper.</a:t>
            </a:r>
            <a:endParaRPr lang="en-US" sz="1000" dirty="0"/>
          </a:p>
        </p:txBody>
      </p:sp>
      <p:sp>
        <p:nvSpPr>
          <p:cNvPr id="6" name="Case card"/>
          <p:cNvSpPr/>
          <p:nvPr/>
        </p:nvSpPr>
        <p:spPr>
          <a:xfrm>
            <a:off x="548640" y="1965960"/>
            <a:ext cx="2567178" cy="3886200"/>
          </a:xfrm>
          <a:prstGeom prst="roundRect">
            <a:avLst>
              <a:gd name="adj" fmla="val 285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7" name="Case badge"/>
          <p:cNvSpPr/>
          <p:nvPr/>
        </p:nvSpPr>
        <p:spPr>
          <a:xfrm>
            <a:off x="822960" y="2194560"/>
            <a:ext cx="548640" cy="54864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880360"/>
            <a:ext cx="201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 built from its own features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840480"/>
            <a:ext cx="201853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 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permutation, p = 0.002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BY  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Pairing-destroyed null; joint residualisation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5486400"/>
            <a:ext cx="201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MTBLS242</a:t>
            </a:r>
            <a:endParaRPr lang="en-US" sz="1100" dirty="0"/>
          </a:p>
        </p:txBody>
      </p:sp>
      <p:sp>
        <p:nvSpPr>
          <p:cNvPr id="12" name="Case card"/>
          <p:cNvSpPr/>
          <p:nvPr/>
        </p:nvSpPr>
        <p:spPr>
          <a:xfrm>
            <a:off x="3390138" y="1965960"/>
            <a:ext cx="2567178" cy="3886200"/>
          </a:xfrm>
          <a:prstGeom prst="roundRect">
            <a:avLst>
              <a:gd name="adj" fmla="val 285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3" name="Case badge"/>
          <p:cNvSpPr/>
          <p:nvPr/>
        </p:nvSpPr>
        <p:spPr>
          <a:xfrm>
            <a:off x="3664458" y="2194560"/>
            <a:ext cx="548640" cy="54864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64458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3664458" y="2880360"/>
            <a:ext cx="201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Contaminants ranked with biology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3664458" y="3840480"/>
            <a:ext cx="201853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 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ROAR faithfulness test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BY  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Spiked-artefact positive control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3664458" y="5486400"/>
            <a:ext cx="201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MTBLS242</a:t>
            </a:r>
            <a:endParaRPr lang="en-US" sz="1100" dirty="0"/>
          </a:p>
        </p:txBody>
      </p:sp>
      <p:sp>
        <p:nvSpPr>
          <p:cNvPr id="18" name="Case card"/>
          <p:cNvSpPr/>
          <p:nvPr/>
        </p:nvSpPr>
        <p:spPr>
          <a:xfrm>
            <a:off x="6231636" y="1965960"/>
            <a:ext cx="2567178" cy="3886200"/>
          </a:xfrm>
          <a:prstGeom prst="roundRect">
            <a:avLst>
              <a:gd name="adj" fmla="val 285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9" name="Case badge"/>
          <p:cNvSpPr/>
          <p:nvPr/>
        </p:nvSpPr>
        <p:spPr>
          <a:xfrm>
            <a:off x="6505956" y="2194560"/>
            <a:ext cx="548640" cy="54864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05956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6505956" y="2880360"/>
            <a:ext cx="201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 batch equals the label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6505956" y="3840480"/>
            <a:ext cx="201853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 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Subject-grouped CV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BY  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and batch audit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505956" y="5486400"/>
            <a:ext cx="201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MTBLS1</a:t>
            </a:r>
            <a:endParaRPr lang="en-US" sz="1100" dirty="0"/>
          </a:p>
        </p:txBody>
      </p:sp>
      <p:sp>
        <p:nvSpPr>
          <p:cNvPr id="24" name="Case card"/>
          <p:cNvSpPr/>
          <p:nvPr/>
        </p:nvSpPr>
        <p:spPr>
          <a:xfrm>
            <a:off x="9073134" y="1965960"/>
            <a:ext cx="2567178" cy="3886200"/>
          </a:xfrm>
          <a:prstGeom prst="roundRect">
            <a:avLst>
              <a:gd name="adj" fmla="val 285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5" name="Case badge"/>
          <p:cNvSpPr/>
          <p:nvPr/>
        </p:nvSpPr>
        <p:spPr>
          <a:xfrm>
            <a:off x="9347454" y="2194560"/>
            <a:ext cx="548640" cy="54864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347454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9347454" y="2880360"/>
            <a:ext cx="201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name differs from label meaning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9347454" y="3840480"/>
            <a:ext cx="201853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 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Subject-grouped CV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BY  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Label-provenance audit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9347454" y="5486400"/>
            <a:ext cx="201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MTBLS242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  |  OUTCOME BUILT FROM FEATURES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null with no signal beat the model</a:t>
            </a:r>
            <a:endParaRPr lang="en-US" sz="3200" dirty="0"/>
          </a:p>
        </p:txBody>
      </p:sp>
      <p:sp>
        <p:nvSpPr>
          <p:cNvPr id="4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MTBLS242, 71 patients, original responder rule (&gt;=9 of 11 markers). Model PR-AUC 0.683 vs prevalence 0.437; observed lift below 499 of 500 null replicates. experiments/case1/RESULTS.md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6596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is computed from change: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= at least 9 of 11 markers move the expected way between baseline and 12 months.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features are the baseline values.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baselines fall back toward the mean by themselves, so baseline "predicts" change even when nothing happens.</a:t>
            </a:r>
            <a:endParaRPr lang="en-US" sz="1700" dirty="0"/>
          </a:p>
        </p:txBody>
      </p:sp>
      <p:sp>
        <p:nvSpPr>
          <p:cNvPr id="7" name="Callout"/>
          <p:cNvSpPr/>
          <p:nvPr/>
        </p:nvSpPr>
        <p:spPr>
          <a:xfrm>
            <a:off x="548640" y="4663440"/>
            <a:ext cx="4937760" cy="1188720"/>
          </a:xfrm>
          <a:prstGeom prst="roundRect">
            <a:avLst>
              <a:gd name="adj" fmla="val 615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7548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permutation: </a:t>
            </a:r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0.002, so it looks significant. It only tests that features and label are associated, and here that is guaranteed.</a:t>
            </a:r>
            <a:endParaRPr lang="en-US" sz="15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943600" y="1920240"/>
          <a:ext cx="56692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  |  AFTER THE FIX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the outcome corrected, the model is no better than learn-nothing</a:t>
            </a:r>
            <a:endParaRPr lang="en-US" sz="3200" dirty="0"/>
          </a:p>
        </p:txBody>
      </p:sp>
      <p:sp>
        <p:nvSpPr>
          <p:cNvPr id="4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experiments/case1/RESULTS.md. Gap (model minus scorer), subject-bootstrap 95% interval: per-marker -0.042 [-0.149, +0.052]; joint -0.037 [-0.111, +0.037]. Refit permutation p = 1.0 for both.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920240"/>
          <a:ext cx="65836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498080" y="210312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model does not beat an unfitted score.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Refitted permutation tests give p = 1.0.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intervals over the 71 patients span zero: say "no better than", not "worse".</a:t>
            </a:r>
            <a:endParaRPr lang="en-US" sz="1700" dirty="0"/>
          </a:p>
        </p:txBody>
      </p:sp>
      <p:sp>
        <p:nvSpPr>
          <p:cNvPr id="8" name="Callout"/>
          <p:cNvSpPr/>
          <p:nvPr/>
        </p:nvSpPr>
        <p:spPr>
          <a:xfrm>
            <a:off x="7498080" y="489204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26680" y="49377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gaps, not levels: the two designs have different prevalence.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data makes label permutation more wrong</a:t>
            </a:r>
            <a:endParaRPr lang="en-US" sz="3200" dirty="0"/>
          </a:p>
        </p:txBody>
      </p:sp>
      <p:sp>
        <p:nvSpPr>
          <p:cNvPr id="4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simulation/results/rejection_rates.csv. 1,000 datasets per point, gamma = 0 (no real individual response), reliability r = 0.25 (reproduces the observed baseline-change correlation of -0.62). Refit permutation, 200 replicates, alpha = 0.05.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7452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863840" y="2011680"/>
            <a:ext cx="3749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26% to 100%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for label permutation as n goes from 50 to 500.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Per-marker correction is not enough: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to 19% false positives here (up to 29% at other settings).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correction holds near 5%: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 each change on all baselines together.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second cohort shows the same artefact</a:t>
            </a:r>
            <a:endParaRPr lang="en-US" sz="3200" dirty="0"/>
          </a:p>
        </p:txBody>
      </p:sp>
      <p:sp>
        <p:nvSpPr>
          <p:cNvPr id="4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experiments/case1b_mtbls881/RESULTS.md and PREREG.md. MTBLS881, n = 47 per site, baseline -1 h vs 20 h, raw outcome K = 10 of 11 markers. Refit pairing null: p = 0.86 (LA), 0.91 (PA), 150 replicates.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74520"/>
          <a:ext cx="60350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949440" y="2011680"/>
            <a:ext cx="46634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change replicates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rejects at both sites (p = 0.007); the no-signal null still scores higher.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outcomes replicate only partly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site shows no signal; at the other the tests disagree. n = 47 cannot settle it.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create signal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propofol, heparin and ethanol made the corrected outcome look significant (p = 0.005).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  |  CONTAMINANTS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ROAR sees importance, not origin</a:t>
            </a:r>
            <a:endParaRPr lang="en-US" sz="3200" dirty="0"/>
          </a:p>
        </p:txBody>
      </p:sp>
      <p:sp>
        <p:nvSpPr>
          <p:cNvPr id="4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experiments/case2/RESULTS.md. Recursive ROAR, patient-grouped CV (10 x 5), 500 random draws per k. First removed: dimethyl sulfone, isopropanol, L-valine, glycine, methanol.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7452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allout"/>
          <p:cNvSpPr/>
          <p:nvPr/>
        </p:nvSpPr>
        <p:spPr>
          <a:xfrm>
            <a:off x="7863840" y="2011680"/>
            <a:ext cx="3749040" cy="1828800"/>
          </a:xfrm>
          <a:prstGeom prst="roundRect">
            <a:avLst>
              <a:gd name="adj" fmla="val 4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092440" y="210312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3 contaminants</a:t>
            </a:r>
            <a:endParaRPr lang="en-US" sz="1400" dirty="0"/>
          </a:p>
          <a:p>
            <a:pPr indent="0" marL="0">
              <a:buNone/>
            </a:pPr>
            <a:r>
              <a:rPr lang="en-US" sz="36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0.954</a:t>
            </a:r>
            <a:endParaRPr lang="en-US" sz="1400" dirty="0"/>
          </a:p>
        </p:txBody>
      </p:sp>
      <p:sp>
        <p:nvSpPr>
          <p:cNvPr id="9" name="Callout"/>
          <p:cNvSpPr/>
          <p:nvPr/>
        </p:nvSpPr>
        <p:spPr>
          <a:xfrm>
            <a:off x="7863840" y="4023360"/>
            <a:ext cx="3749040" cy="1828800"/>
          </a:xfrm>
          <a:prstGeom prst="roundRect">
            <a:avLst>
              <a:gd name="adj" fmla="val 4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092440" y="411480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3 biology markers</a:t>
            </a:r>
            <a:endParaRPr lang="en-US" sz="1400" dirty="0"/>
          </a:p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0.959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  |  POSITIVE CONTROL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feature with zero biology becomes the top feature</a:t>
            </a:r>
            <a:endParaRPr lang="en-US" sz="3200" dirty="0"/>
          </a:p>
        </p:txBody>
      </p:sp>
      <p:sp>
        <p:nvSpPr>
          <p:cNvPr id="4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experiments/case2/RESULTS.md, 10 draws per d. Spike feature = d * y + N(0,1) where y is the label; no biology involved. Median rank among 22 features (21 real + the spike).</a:t>
            </a:r>
            <a:endParaRPr lang="en-US" sz="1000" dirty="0"/>
          </a:p>
        </p:txBody>
      </p:sp>
      <p:sp>
        <p:nvSpPr>
          <p:cNvPr id="6" name="Spike card"/>
          <p:cNvSpPr/>
          <p:nvPr/>
        </p:nvSpPr>
        <p:spPr>
          <a:xfrm>
            <a:off x="548640" y="1965960"/>
            <a:ext cx="3514344" cy="2468880"/>
          </a:xfrm>
          <a:prstGeom prst="roundRect">
            <a:avLst>
              <a:gd name="adj" fmla="val 2963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10312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0.75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10th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47472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spike hides among the real metabolites.</a:t>
            </a:r>
            <a:endParaRPr lang="en-US" sz="1500" dirty="0"/>
          </a:p>
        </p:txBody>
      </p:sp>
      <p:sp>
        <p:nvSpPr>
          <p:cNvPr id="10" name="Spike card"/>
          <p:cNvSpPr/>
          <p:nvPr/>
        </p:nvSpPr>
        <p:spPr>
          <a:xfrm>
            <a:off x="4337304" y="1965960"/>
            <a:ext cx="3514344" cy="2468880"/>
          </a:xfrm>
          <a:prstGeom prst="roundRect">
            <a:avLst>
              <a:gd name="adj" fmla="val 2963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11624" y="210312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1.25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611624" y="251460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3rd</a:t>
            </a:r>
            <a:endParaRPr lang="en-US" sz="5400" dirty="0"/>
          </a:p>
        </p:txBody>
      </p:sp>
      <p:sp>
        <p:nvSpPr>
          <p:cNvPr id="13" name="Text 10"/>
          <p:cNvSpPr txBox="1"/>
          <p:nvPr/>
        </p:nvSpPr>
        <p:spPr>
          <a:xfrm>
            <a:off x="4611624" y="347472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spike already outranks most biology.</a:t>
            </a:r>
            <a:endParaRPr lang="en-US" sz="1500" dirty="0"/>
          </a:p>
        </p:txBody>
      </p:sp>
      <p:sp>
        <p:nvSpPr>
          <p:cNvPr id="14" name="Spike card"/>
          <p:cNvSpPr/>
          <p:nvPr/>
        </p:nvSpPr>
        <p:spPr>
          <a:xfrm>
            <a:off x="8125968" y="1965960"/>
            <a:ext cx="3514344" cy="2468880"/>
          </a:xfrm>
          <a:prstGeom prst="roundRect">
            <a:avLst>
              <a:gd name="adj" fmla="val 2963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00288" y="210312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1.75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400288" y="251460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1st</a:t>
            </a:r>
            <a:endParaRPr lang="en-US" sz="5400" dirty="0"/>
          </a:p>
        </p:txBody>
      </p:sp>
      <p:sp>
        <p:nvSpPr>
          <p:cNvPr id="17" name="Text 14"/>
          <p:cNvSpPr txBox="1"/>
          <p:nvPr/>
        </p:nvSpPr>
        <p:spPr>
          <a:xfrm>
            <a:off x="8400288" y="347472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spike is the most important feature.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475488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ROAR rank among 22 features,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feature = d × label + noise.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 = 1.75, removing the spike costs 0.0127 PR-AUC, more than removing any real metabolite (largest: 0.0073).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  |  BATCH EQUALS LABEL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filename predicts diabetes perfectly</a:t>
            </a:r>
            <a:endParaRPr lang="en-US" sz="3200" dirty="0"/>
          </a:p>
        </p:txBody>
      </p:sp>
      <p:sp>
        <p:nvSpPr>
          <p:cNvPr id="4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experiments/case3/RESULTS.md. 132 urine samples (84 control, 48 T2DM), subject-grouped CV, 20 seeds; 20-seed range 0.845 to 0.975.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74520"/>
          <a:ext cx="67665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680960" y="2011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by label and sample-name prefix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2423160"/>
          <a:ext cx="39319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ADG19007u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ADG10003u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T2DM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7680960" y="402336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batch contains both groups, so no analysis of this data can separate disease from batch.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 also differ in age and BMI criteria and sampling schedule.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4  |  LABEL MEANING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"Obese vs non-obese" is really before vs after surgery</a:t>
            </a:r>
            <a:endParaRPr lang="en-US" sz="3200" dirty="0"/>
          </a:p>
        </p:txBody>
      </p:sp>
      <p:sp>
        <p:nvSpPr>
          <p:cNvPr id="4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experiments/case4/RESULTS.md, 10 repeats x 5 folds. The sample sheet has no BMI, so whether 12-month patients are still obese cannot be checked.</a:t>
            </a:r>
            <a:endParaRPr lang="en-US" sz="1000" dirty="0"/>
          </a:p>
        </p:txBody>
      </p:sp>
      <p:sp>
        <p:nvSpPr>
          <p:cNvPr id="6" name="Preop set"/>
          <p:cNvSpPr/>
          <p:nvPr/>
        </p:nvSpPr>
        <p:spPr>
          <a:xfrm>
            <a:off x="731520" y="2103120"/>
            <a:ext cx="4572000" cy="3291840"/>
          </a:xfrm>
          <a:prstGeom prst="ellipse">
            <a:avLst/>
          </a:prstGeom>
          <a:solidFill>
            <a:srgbClr val="2A78D6">
              <a:alpha val="22000"/>
            </a:srgbClr>
          </a:solidFill>
          <a:ln w="19050">
            <a:solidFill>
              <a:srgbClr val="2A78D6"/>
            </a:solidFill>
            <a:prstDash val="solid"/>
          </a:ln>
        </p:spPr>
      </p:sp>
      <p:sp>
        <p:nvSpPr>
          <p:cNvPr id="7" name="12-month set"/>
          <p:cNvSpPr/>
          <p:nvPr/>
        </p:nvSpPr>
        <p:spPr>
          <a:xfrm>
            <a:off x="2651760" y="2926080"/>
            <a:ext cx="2286000" cy="1737360"/>
          </a:xfrm>
          <a:prstGeom prst="ellipse">
            <a:avLst/>
          </a:prstGeom>
          <a:solidFill>
            <a:srgbClr val="EB6834">
              <a:alpha val="30000"/>
            </a:srgbClr>
          </a:solidFill>
          <a:ln w="19050">
            <a:solidFill>
              <a:srgbClr val="EB683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51560" y="33375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 patients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surgery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2743200" y="301752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</a:t>
            </a:r>
            <a:endParaRPr lang="en-US" sz="40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sampled at 12 months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4864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1 = preoperative sample (106). Label 0 = 12 months after surgery (71). Every 12-month patient is also in the first group.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2011680"/>
            <a:ext cx="5303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Patient-grouped CV vs ordinary CV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ROC-AUC 0.960 vs 0.959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scores agree, so leakage is not the issue. The label is.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classifier learns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loss, but also diet, supplements and medication after surgery.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Fasting state and a year of sample storage.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checks before trusting a small-n result</a:t>
            </a:r>
            <a:endParaRPr lang="en-US" sz="3200" dirty="0"/>
          </a:p>
        </p:txBody>
      </p:sp>
      <p:sp>
        <p:nvSpPr>
          <p:cNvPr id="4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VIII (Discussion) of the paper.</a:t>
            </a:r>
            <a:endParaRPr lang="en-US" sz="1000" dirty="0"/>
          </a:p>
        </p:txBody>
      </p:sp>
      <p:sp>
        <p:nvSpPr>
          <p:cNvPr id="6" name="Check card"/>
          <p:cNvSpPr/>
          <p:nvPr/>
        </p:nvSpPr>
        <p:spPr>
          <a:xfrm>
            <a:off x="548640" y="1920240"/>
            <a:ext cx="5362956" cy="1188720"/>
          </a:xfrm>
          <a:prstGeom prst="roundRect">
            <a:avLst>
              <a:gd name="adj" fmla="val 615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7" name="Number badge"/>
          <p:cNvSpPr/>
          <p:nvPr/>
        </p:nvSpPr>
        <p:spPr>
          <a:xfrm>
            <a:off x="777240" y="2240280"/>
            <a:ext cx="548640" cy="54864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2011680"/>
            <a:ext cx="42199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 from features?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rely on label permutation. Residualise change on all baselines inside each fold; report a pairing-destroyed null.</a:t>
            </a:r>
            <a:endParaRPr lang="en-US" sz="1700" dirty="0"/>
          </a:p>
        </p:txBody>
      </p:sp>
      <p:sp>
        <p:nvSpPr>
          <p:cNvPr id="10" name="Check card"/>
          <p:cNvSpPr/>
          <p:nvPr/>
        </p:nvSpPr>
        <p:spPr>
          <a:xfrm>
            <a:off x="6277356" y="1920240"/>
            <a:ext cx="5362956" cy="1188720"/>
          </a:xfrm>
          <a:prstGeom prst="roundRect">
            <a:avLst>
              <a:gd name="adj" fmla="val 615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1" name="Number badge"/>
          <p:cNvSpPr/>
          <p:nvPr/>
        </p:nvSpPr>
        <p:spPr>
          <a:xfrm>
            <a:off x="6505956" y="2240280"/>
            <a:ext cx="548640" cy="54864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05956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237476" y="2011680"/>
            <a:ext cx="42199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Refit in every permutation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Permuting labels against fixed scores gave 9.7% false positives on pure noise; refitting gave 5.3%.</a:t>
            </a:r>
            <a:endParaRPr lang="en-US" sz="1700" dirty="0"/>
          </a:p>
        </p:txBody>
      </p:sp>
      <p:sp>
        <p:nvSpPr>
          <p:cNvPr id="14" name="Check card"/>
          <p:cNvSpPr/>
          <p:nvPr/>
        </p:nvSpPr>
        <p:spPr>
          <a:xfrm>
            <a:off x="548640" y="3291840"/>
            <a:ext cx="5362956" cy="1188720"/>
          </a:xfrm>
          <a:prstGeom prst="roundRect">
            <a:avLst>
              <a:gd name="adj" fmla="val 615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5" name="Number badge"/>
          <p:cNvSpPr/>
          <p:nvPr/>
        </p:nvSpPr>
        <p:spPr>
          <a:xfrm>
            <a:off x="777240" y="3611880"/>
            <a:ext cx="548640" cy="54864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508760" y="3383280"/>
            <a:ext cx="42199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learn-nothing baseline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fixed, unfitted score. Report the gap with an interval.</a:t>
            </a:r>
            <a:endParaRPr lang="en-US" sz="1700" dirty="0"/>
          </a:p>
        </p:txBody>
      </p:sp>
      <p:sp>
        <p:nvSpPr>
          <p:cNvPr id="18" name="Check card"/>
          <p:cNvSpPr/>
          <p:nvPr/>
        </p:nvSpPr>
        <p:spPr>
          <a:xfrm>
            <a:off x="6277356" y="3291840"/>
            <a:ext cx="5362956" cy="1188720"/>
          </a:xfrm>
          <a:prstGeom prst="roundRect">
            <a:avLst>
              <a:gd name="adj" fmla="val 615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9" name="Number badge"/>
          <p:cNvSpPr/>
          <p:nvPr/>
        </p:nvSpPr>
        <p:spPr>
          <a:xfrm>
            <a:off x="6505956" y="3611880"/>
            <a:ext cx="548640" cy="54864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05956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7237476" y="3383280"/>
            <a:ext cx="42199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exogenous compounds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Drugs, solvents, skin-prep agents. Report with and without them.</a:t>
            </a:r>
            <a:endParaRPr lang="en-US" sz="1700" dirty="0"/>
          </a:p>
        </p:txBody>
      </p:sp>
      <p:sp>
        <p:nvSpPr>
          <p:cNvPr id="22" name="Check card"/>
          <p:cNvSpPr/>
          <p:nvPr/>
        </p:nvSpPr>
        <p:spPr>
          <a:xfrm>
            <a:off x="548640" y="4663440"/>
            <a:ext cx="5362956" cy="1188720"/>
          </a:xfrm>
          <a:prstGeom prst="roundRect">
            <a:avLst>
              <a:gd name="adj" fmla="val 615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3" name="Number badge"/>
          <p:cNvSpPr/>
          <p:nvPr/>
        </p:nvSpPr>
        <p:spPr>
          <a:xfrm>
            <a:off x="777240" y="4983480"/>
            <a:ext cx="548640" cy="54864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1508760" y="4754880"/>
            <a:ext cx="42199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Cross-tabulate the label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every metadata column: batch, run order, sample-name prefix, sex.</a:t>
            </a:r>
            <a:endParaRPr lang="en-US" sz="1700" dirty="0"/>
          </a:p>
        </p:txBody>
      </p:sp>
      <p:sp>
        <p:nvSpPr>
          <p:cNvPr id="26" name="Check card"/>
          <p:cNvSpPr/>
          <p:nvPr/>
        </p:nvSpPr>
        <p:spPr>
          <a:xfrm>
            <a:off x="6277356" y="4663440"/>
            <a:ext cx="5362956" cy="1188720"/>
          </a:xfrm>
          <a:prstGeom prst="roundRect">
            <a:avLst>
              <a:gd name="adj" fmla="val 615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7" name="Number badge"/>
          <p:cNvSpPr/>
          <p:nvPr/>
        </p:nvSpPr>
        <p:spPr>
          <a:xfrm>
            <a:off x="6505956" y="4983480"/>
            <a:ext cx="548640" cy="54864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05956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7237476" y="4754880"/>
            <a:ext cx="42199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what the label encodes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sentence: which two physical states does it separate?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checks are necessary, not sufficient</a:t>
            </a:r>
            <a:endParaRPr lang="en-US" sz="3200" dirty="0"/>
          </a:p>
        </p:txBody>
      </p:sp>
      <p:sp>
        <p:nvSpPr>
          <p:cNvPr id="4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github.com/Calvinkub/validated-yet-wrong (public, tag paper-v1).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65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REMEMBER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33172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passed check answers one narrow question. Know which.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 can make a wrong test more confident.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failure here has a cheap, targeted control.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19659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233172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small public datasets; findings are about validation, not the biology of obesity or diabetes.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Simulation: Gaussian data, linear model, one outcome rule.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has 47 patients and an acute setting.</a:t>
            </a:r>
            <a:endParaRPr lang="en-US" sz="1600" dirty="0"/>
          </a:p>
        </p:txBody>
      </p:sp>
      <p:sp>
        <p:nvSpPr>
          <p:cNvPr id="10" name="Repo callout"/>
          <p:cNvSpPr/>
          <p:nvPr/>
        </p:nvSpPr>
        <p:spPr>
          <a:xfrm>
            <a:off x="548640" y="49377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49834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results and paper: </a:t>
            </a:r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github.com/Calvinkub/validated-yet-wrong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design</a:t>
            </a:r>
            <a:endParaRPr lang="en-US" sz="3200" dirty="0"/>
          </a:p>
        </p:txBody>
      </p:sp>
      <p:sp>
        <p:nvSpPr>
          <p:cNvPr id="4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VI of the paper; simulation/sim_pairing_null.py (seed 20261011).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65960"/>
            <a:ext cx="6035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level per subject, 11 markers + 10 auxiliary features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x0 = sqrt(r) * mu + sqrt(1 - r) * e0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x12 = sqrt(r) * (mu + gamma * g * s) + sqrt(1 - r) * e12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reliability (share of variance that persists). gamma: real, forecastable response (0 = none). g: response propensity from the auxiliary features. s: expected direction.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at least 6 of 11 markers change in the expected direction. Model: ridge regression (lambda = 10), 5-fold CV, scored by average precision.</a:t>
            </a:r>
            <a:endParaRPr lang="en-US" sz="1600" dirty="0"/>
          </a:p>
        </p:txBody>
      </p:sp>
      <p:sp>
        <p:nvSpPr>
          <p:cNvPr id="7" name="Grid card"/>
          <p:cNvSpPr/>
          <p:nvPr/>
        </p:nvSpPr>
        <p:spPr>
          <a:xfrm>
            <a:off x="7040880" y="1965960"/>
            <a:ext cx="4572000" cy="3931920"/>
          </a:xfrm>
          <a:prstGeom prst="roundRect">
            <a:avLst>
              <a:gd name="adj" fmla="val 186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269480" y="210312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(1,000 datasets per cell)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 50, 100, 200, 500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0.25, 0.5, 0.75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gamma: 0, 0.25, 0.5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36,000 datasets in total</a:t>
            </a:r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tests per dataset, alpha = 0.05, 200 null replicates, model refit on each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permutation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Pairing-destroyed null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Per-marker residualisation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residualisation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1323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1 numbers in full</a:t>
            </a:r>
            <a:endParaRPr lang="en-US" sz="3200" dirty="0"/>
          </a:p>
        </p:txBody>
      </p:sp>
      <p:sp>
        <p:nvSpPr>
          <p:cNvPr id="4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experiments/case1/RESULTS.md. Intervals: bootstrap over the 71 subjects.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834640"/>
                <a:gridCol w="2770632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design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Per-marker residualised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residualised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Responders of 71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Prevalence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PR-AUC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Learn-nothing PR-AUC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0.653 (original solver)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Gap, 95% interval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-0.042 [-0.149, +0.052]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-0.037 [-0.111, +0.037]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Refit permutation 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Pairing-null lift (median)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 vs observed 1.57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c White">
  <a:themeElements>
    <a:clrScheme name="Academic White">
      <a:dk1>
        <a:srgbClr val="1B2430"/>
      </a:dk1>
      <a:lt1>
        <a:srgbClr val="FFFFFF"/>
      </a:lt1>
      <a:dk2>
        <a:srgbClr val="5B6470"/>
      </a:dk2>
      <a:lt2>
        <a:srgbClr val="F3F5F7"/>
      </a:lt2>
      <a:accent1>
        <a:srgbClr val="2A78D6"/>
      </a:accent1>
      <a:accent2>
        <a:srgbClr val="EB6834"/>
      </a:accent2>
      <a:accent3>
        <a:srgbClr val="1BAF7A"/>
      </a:accent3>
      <a:accent4>
        <a:srgbClr val="4A3AA7"/>
      </a:accent4>
      <a:accent5>
        <a:srgbClr val="EDA100"/>
      </a:accent5>
      <a:accent6>
        <a:srgbClr val="E34948"/>
      </a:accent6>
      <a:hlink>
        <a:srgbClr val="2A78D6"/>
      </a:hlink>
      <a:folHlink>
        <a:srgbClr val="4A3AA7"/>
      </a:folHlink>
    </a:clrScheme>
    <a:fontScheme name="Academic Whi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Validated, yet Wrong</dc:title>
  <dc:subject>Four ways small-n metabolomics ML passes standard checks</dc:subject>
  <dc:creator>Chaiyaporn Orrudee, Kanin Calvin Shomwiwat</dc:creator>
  <cp:lastModifiedBy>Chaiyaporn Orrudee, Kanin Calvin Shomwiwat</cp:lastModifiedBy>
  <cp:revision>1</cp:revision>
  <dcterms:created xsi:type="dcterms:W3CDTF">2026-10-21T10:23:14Z</dcterms:created>
  <dcterms:modified xsi:type="dcterms:W3CDTF">2026-10-21T10:23:14Z</dcterms:modified>
</cp:coreProperties>
</file>