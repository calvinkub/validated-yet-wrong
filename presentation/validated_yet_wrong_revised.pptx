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สวัสดีครับ/ค่ะ วันนี้นำเสนอเรื่อง Validated, yet Wrong หรือ "ผ่านการตรวจแล้ว แต่ผิด" เป็นบทเรียนจากการทบทวนงานวิเคราะห์ของเราเองสี่งานบนข้อมูลเมแทบอโลมิกส์ขนาดเล็ก แต่ละงานผ่านการตรวจสอบที่เราใช้ แต่การตีความทางชีววิทยาไม่มีหลักฐานรองรับ หรือระบุไม่ได้ (~0:20)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ตัวเลขสามตัวนี้มาจากงานของเราเอง: p = 0.001 จากเครื่องมือวินิจฉัยด้วยการสลับป้ายกำกับราย fold ซึ่งเรายังไม่ได้ตรวจการสอบเทียบ และคะแนนอ้างอิงที่ไม่ต้องฝึกแบบจำลองยังได้ 0.709 สูงกว่าโมเดลที่ได้ 0.683; PR-AUC 1.000 จาก prefix ของชื่อตัวอย่างอย่างเดียว เพราะแต่ละคลาสมาจากโปรโตคอลการเก็บตัวอย่างของตัวเอง; และผู้ป่วย 71 จาก 106 คนอยู่ทั้งสองคลาสของ label ที่เราเรียกว่า "โรคอ้วน"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แต่ละการตรวจตอบได้คำถามเดียว: cross-validation ถามว่าโมเดลทำนายบุคคลใหม่ที่เก็บตัวอย่างแบบเดียวกันได้ดีแค่ไหน permutation test ถามว่าฟีเจอร์กับ label เป็นอิสระต่อกันหรือไม่ ROAR ถามว่าโมเดลพึ่งฟีเจอร์อันดับต้นหรือไม่ ไม่มีอันไหนถามว่าสัญญาณมาจากไหน หรือ label หมายถึงสิ่งที่ชื่อบอกจริงหรือเปล่า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เราทบทวนงานเก่าของเราเองสี่งานจากข้อมูลสาธารณะบน MetaboLights: หนึ่ง ผลลัพธ์ที่สร้างจากฟีเจอร์ของตัวเอง สอง สารที่ยังไม่ทราบแหล่งที่มาแน่ชัดซึ่ง ROAR จัดให้สำคัญพอ ๆ กับชีววิทยา สาม โปรโตคอลการเก็บตัวอย่างที่ตรงกับ label สี่ label ที่ชื่อไม่ตรงกับสิ่งที่มันวัด แต่ละกรณีมีวิธีควบคุมเฉพาะที่เปิดเผยปัญหาได้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กรณีแรก: ผู้ป่วยผ่าตัดลดน้ำหนัก 71 คน ทำนายว่าใครจะตอบสนองดีหลังหนึ่งปี label คำนวณจากการเปลี่ยนแปลงของสารชุดเดียวกับที่ใช้เป็นฟีเจอร์ ค่าตั้งต้นกับการเปลี่ยนแปลงมีสหสัมพันธ์มัธยฐาน -0.62 เครื่องมือวินิจฉัยด้วยการสลับป้ายกำกับให้ p = 0.001 แต่ยังไม่ได้ตรวจการสอบเทียบ คะแนนอ้างอิงที่ไม่ต้องฝึกได้ 0.709 สูงกว่าโมเดล 0.683 และเมื่อสลับว่าตัวอย่างหลังหนึ่งปีเป็นของใคร ซึ่งไม่เหลือการตอบสนองรายบุคคลเลย ยังได้ lift มัธยฐาน 2.04 เท่า (ฝึกโมเดลใหม่ทุกรอบได้ 1.99 เท่า) สูงกว่าโมเดลจริงที่ 1.57 เท่า null นี้อนุรักษ์นิยม จึงบอกได้แค่ว่ายังไม่มีหลักฐานของสิ่งที่เกินกว่า regression to the mean (~0:50)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เทียบทั้งก่อนและหลังแก้: ดีไซน์เดิม โมเดล 0.683 ต่ำกว่าคะแนนอ้างอิง 0.709 หลังหักผลของค่าตั้งต้นทุกตัวพร้อมกันภายในแต่ละ fold (joint residualisation) โมเดลได้ 0.554 คะแนนอ้างอิง 0.589 ผลต่าง -0.037 ช่วง 95% [-0.111, +0.037] คร่อมศูนย์ จึงพูดได้ว่า "ไม่มีหลักฐานว่าดีกว่า" ไม่ใช่ "แย่กว่า" และที่ n = 71 ยังตัดความเป็นไปได้ที่จะดีขึ้นเล็กน้อยไม่ได้ ดีไซน์ใหม่ใช้เกณฑ์ 6 จาก 11 ตัวชี้วัด 18 ฟีเจอร์ ความชุก 0.521 จึงเทียบผลต่าง ไม่ใช่ระดับ PR-AUC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เพื่อดูว่าปัญหานี้เกิดเมื่อไร เราจำลอง 36,000 ชุดข้อมูล เมื่อไม่มีการตอบสนองที่พยากรณ์ได้ การสลับป้ายกำกับทั้งชุดปฏิเสธความเป็นอิสระ 26% ที่ n = 50 ไปจนถึง 100% ที่ n = 500 แต่ละครั้งถูกเรื่องความเป็นอิสระ แต่ผิดถ้าอ่านเป็นหลักฐานของการพยากรณ์ ข้อมูลมากขึ้นแค่ประมาณ coupling ได้แม่นขึ้น การหักค่าตั้งต้นทีละสารยังปฏิเสธ 8-29% เพราะสารสัมพันธ์กัน การหักทุกสารพร้อมกันเหลือ 5-8% สูงกว่า 5% เล็กน้อย การแก้ก็ต้องมีการตรวจของมันเอง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เราทำซ้ำกรณีที่ 1 บน MTBLS881 ผู้ป่วยผ่าตัดหัวใจ 47 คน เก็บเลือดสองตำแหน่ง โดยเขียนแผนไว้ก่อนฝึกโมเดล ผลแบบ raw change เหมือนเดิม: เครื่องมือวินิจฉัยให้ p = 0.007 ทั้งสองตำแหน่ง แต่ไม่มีตำแหน่งไหนดีกว่าคะแนนอ้างอิงที่ไม่ต้องฝึก ช่วงของผลต่างคร่อมศูนย์ทั้งคู่ สองตำแหน่งมาจากผู้ป่วยกลุ่มเดียวกัน จึงไม่ใช่การทำซ้ำสองครั้ง และหลังหักค่าตั้งต้นพร้อมกัน 47 คนไม่พอจะบอกได้ว่ายังมีสัญญาณจริงหรือไม่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กรณีที่สองคือ ROAR ซึ่งตัดฟีเจอร์ที่ SHAP จัดว่าสำคัญแล้วฝึกโมเดลใหม่ ห้าตัวแรกที่ถูกตัดมี dimethyl sulfone, isopropanol และ methanol ซึ่งยังไม่ทราบแหล่งที่มาแน่ชัด อาจมาจากชีววิทยา การจัดการตัวอย่าง หรือทั้งสองอย่าง ตัดสามตัวนี้เหลือ 0.954 ตัดเมแทบอไลต์ที่รู้จักดีสามตัว (lipoproteins, L-valine, L-tyrosine) เหลือ 0.959 ต่างกัน 0.0056 น้อยกว่าความผันผวนระหว่าง fold (~0.03) และเราไม่ได้ทดสอบความเท่ากันอย่างเป็นทางการ อันดับ SHAP คำนวณจากทั้ง 177 ตัวอย่าง จึงมี selection bias ผลนี้จึงเป็นเชิงสำรวจ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เพื่อยืนยันแนวคิด เราใส่ฟีเจอร์สังเคราะห์ที่ขึ้นกับ label อย่างเดียว ไม่มีชีววิทยาเลย (d คูณ y บวกสัญญาณรบกวน) ที่ d = 1.75 ซึ่งแรงพอ ๆ กับ dimethyl sulfone SHAP จัดให้เป็นอันดับหนึ่งใน 6 จาก 10 ครั้ง และอันดับสองในที่เหลือ การตัดมันออกทำให้คะแนนตก 0.0127 มากกว่าการตัดสารจริงตัวใดก็ตาม (มากสุด 0.0073) ROAR วัดว่าฟีเจอร์พกสัญญาณที่ไม่ซ้ำกับตัวอื่นมากแค่ไหน ไม่ได้วัดว่ามาจากไหน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กรณีที่สามคือข้อมูลปัสสาวะผู้ป่วยเบาหวาน ค่า 0.976 ที่เคยรายงานมาจาก seed เดียว เมื่อรัน 20 seed เฉลี่ย 0.911 metadata ไม่มีคอลัมน์วันที่ batch หรือลำดับการรัน แต่โปรโตคอลที่เผยแพร่บอกว่ามาจากสองการศึกษา ชื่อตัวอย่างกลุ่มควบคุมขึ้นต้นด้วย ADG19007u และของผู้ป่วยขึ้นต้นด้วย ADG10003u ทุกตัว ข้อมูลนี้จึงแยกโรคออกจากโปรโตคอลการเก็บตัวอย่างไม่ได้ อายุและ BMI ก็อาจเป็นตัวแปรกวน (~0:50 รวมกรณีที่ 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กรณีที่สี่ งานเดิมเรียกว่า "ทำนายโรคอ้วน" ได้ ROC-AUC 0.973 แต่ label จริงคือก่อนผ่าตัดเทียบกับหลังผ่าตัดหนึ่งปี และ 71 จาก 106 คนอยู่ทั้งสองฝั่ง (80% ของตัวอย่าง) เมื่อทำซ้ำ 10 รอบ CV แบ่งตามผู้ป่วยและ CV ธรรมดาได้ 0.965 เท่ากัน ทั้งที่ใน CV ธรรมดา 65% ของตัวอย่างทดสอบมีอีกครั้งของผู้ป่วยคนเดียวกันอยู่ในชุดฝึก ปัญหาจึงอยู่ที่ความหมายของ label โมเดลเรียนรู้ทุกอย่างที่ต่างระหว่างก่อนและหลังผ่าตัด ชื่อที่ถูกคือ "การจำแนกก่อนและหลังผ่าตัด" (~0:50 รวมกรณีที่ 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ข้อเสนอของเราคือคำถามหกข้อ หนึ่ง ผลลัพธ์คำนวณจากฟีเจอร์ไหม ถ้าใช่ การสลับป้ายกำกับไม่ใช่หลักฐานของการพยากรณ์ ให้หักด้วยค่าตั้งต้นทุกตัวภายในแต่ละ fold และรายงาน pairing-destroyed null สอง ฝึกโมเดลใหม่ทุกรอบการสลับและระบุวิธีสลับ สาม เทียบกับคะแนนที่ไม่ต้องฝึก พร้อมช่วงความเชื่อมั่นระดับบุคคล สี่ มีฟีเจอร์ที่อาจมาจากการจัดการตัวอย่างหรือยาไหม ห้า มี metadata หรือโปรโตคอลที่ตรงกับ label ไหม หก เขียนให้ได้ในหนึ่งประโยคว่าสองคลาสต่างกันทางกายภาพอย่างไร ถ้าต่างจากชื่อเรื่อง ให้เปลี่ยนชื่อเรื่อง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ข้อสรุปคือ การตรวจที่ผ่านตอบได้แค่ปัญหาเดียวภายใต้สมมติฐานของมัน ไม่ได้พิสูจน์ว่าการตีความถูก ข้อจำกัด: เราทบทวนงานของเราเองบนข้อมูลสาธารณะขนาดเล็กสามชุด และไม่ได้อ้างว่าปัญหานี้พบบ่อยแค่ไหน ผลเป็นเรื่องวิธีตรวจสอบ ไม่ใช่ชีววิทยาของโรคอ้วน การผ่าตัด หรือเบาหวาน ค่า p ในกรณีที่ 1 มาจากวิธีที่ยังไม่ได้ตรวจการสอบเทียบ และการจำลองใช้ข้อมูลเกาส์เซียน โมเดลเชิงเส้น และกฎผลลัพธ์แบบเดียว โค้ดและตัวเลขทุกค่าขอได้จากผู้วิจัย ขอบคุณครับ/ค่ะ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สำรองสำหรับตอบคำถาม: r = 0.25 ทำซ้ำค่าสหสัมพันธ์ baseline-change -0.62 ที่เห็นใน MTBLS242 ระดับแฝงของสาร 11 ตัวสัมพันธ์กัน 0.3 (ค่าที่วัดได้สัมพันธ์กัน 0.3r) กลุ่มผลลัพธ์ดิบสลับ label ทั้งชุดก่อน CV ส่วนกลุ่มที่หักค่าตั้งต้นสลับ label ของข้อมูลฝึกในแต่ละ fold ทุกการทดสอบฝึกโมเดลใหม่ทุกรอบ (200 รอบ) การจำลองนี้ไม่ได้ยืนยันการสอบเทียบของวิธีราย fold ที่ใช้กับข้อมูลจริง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สำรองสำหรับตอบคำถามเรื่องตัวเลขของกรณีที่ 1: PR-AUC เป็นค่าเฉลี่ยราย fold ส่วนผลต่างคำนวณจากการทำนายที่รวมกันในแต่ละรอบ CV จึงไม่เท่ากับผลต่างของค่าเฉลี่ยพอดี ความชุกต่างกันเพราะดีไซน์ใหม่ใช้เกณฑ์ 6 จาก 11 และตัดสารที่ยังไม่ทราบแหล่งที่มาออก 3 ตัว ช่องที่เป็นขีดคือค่าที่บทความไม่ได้รายงาน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yet Wrong  |  School of Information Technology, KMITL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DEFENSE  |  OCTOBER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Validated, yet Wrong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four metabolomics validation audits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Kanin Calvin Shomwiwat (67070015)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Chaiyaporn Orrudee (67070217)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Asst. Prof. Dr. Nont Kanungsukkasem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Technology, KMITL</a:t>
            </a:r>
            <a:endParaRPr lang="en-US" sz="1500" dirty="0"/>
          </a:p>
        </p:txBody>
      </p:sp>
      <p:sp>
        <p:nvSpPr>
          <p:cNvPr id="6" name="Check row"/>
          <p:cNvSpPr/>
          <p:nvPr/>
        </p:nvSpPr>
        <p:spPr>
          <a:xfrm>
            <a:off x="7589520" y="14173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Check badge"/>
          <p:cNvSpPr/>
          <p:nvPr/>
        </p:nvSpPr>
        <p:spPr>
          <a:xfrm>
            <a:off x="7818120" y="1600200"/>
            <a:ext cx="411480" cy="4114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181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800" dirty="0"/>
          </a:p>
        </p:txBody>
      </p:sp>
      <p:sp>
        <p:nvSpPr>
          <p:cNvPr id="10" name="Check row"/>
          <p:cNvSpPr/>
          <p:nvPr/>
        </p:nvSpPr>
        <p:spPr>
          <a:xfrm>
            <a:off x="7589520" y="2377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Check badge"/>
          <p:cNvSpPr/>
          <p:nvPr/>
        </p:nvSpPr>
        <p:spPr>
          <a:xfrm>
            <a:off x="7818120" y="2560320"/>
            <a:ext cx="411480" cy="4114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</a:t>
            </a:r>
            <a:endParaRPr lang="en-US" sz="1800" dirty="0"/>
          </a:p>
        </p:txBody>
      </p:sp>
      <p:sp>
        <p:nvSpPr>
          <p:cNvPr id="14" name="Check row"/>
          <p:cNvSpPr/>
          <p:nvPr/>
        </p:nvSpPr>
        <p:spPr>
          <a:xfrm>
            <a:off x="7589520" y="3337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Check badge"/>
          <p:cNvSpPr/>
          <p:nvPr/>
        </p:nvSpPr>
        <p:spPr>
          <a:xfrm>
            <a:off x="7818120" y="3520440"/>
            <a:ext cx="411480" cy="4114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check (ROAR)</a:t>
            </a:r>
            <a:endParaRPr lang="en-US" sz="1800" dirty="0"/>
          </a:p>
        </p:txBody>
      </p:sp>
      <p:sp>
        <p:nvSpPr>
          <p:cNvPr id="18" name="Verdict row"/>
          <p:cNvSpPr/>
          <p:nvPr/>
        </p:nvSpPr>
        <p:spPr>
          <a:xfrm>
            <a:off x="7589520" y="4297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4297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not proven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check passed. The interpretation did not hold.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1 (permutation diagnostic, original design), Case 3 (prefix-only classifier), Case 4 (MTBLS242 sample sheet). Sections IV-A, IV-E, IV-F.</a:t>
            </a:r>
            <a:endParaRPr lang="en-US" sz="1000" dirty="0"/>
          </a:p>
        </p:txBody>
      </p:sp>
      <p:sp>
        <p:nvSpPr>
          <p:cNvPr id="6" name="Stat card"/>
          <p:cNvSpPr/>
          <p:nvPr/>
        </p:nvSpPr>
        <p:spPr>
          <a:xfrm>
            <a:off x="548640" y="21945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0.001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permutation diagnostic, calibration not verified. An unfitted score still beat the model.</a:t>
            </a:r>
            <a:endParaRPr lang="en-US" sz="1600" dirty="0"/>
          </a:p>
        </p:txBody>
      </p:sp>
      <p:sp>
        <p:nvSpPr>
          <p:cNvPr id="9" name="Stat card"/>
          <p:cNvSpPr/>
          <p:nvPr/>
        </p:nvSpPr>
        <p:spPr>
          <a:xfrm>
            <a:off x="4337304" y="21945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1624" y="24231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4611624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from the sample-name prefix alone. Each class came from its own collection protocol.</a:t>
            </a:r>
            <a:endParaRPr lang="en-US" sz="1600" dirty="0"/>
          </a:p>
        </p:txBody>
      </p:sp>
      <p:sp>
        <p:nvSpPr>
          <p:cNvPr id="12" name="Stat card"/>
          <p:cNvSpPr/>
          <p:nvPr/>
        </p:nvSpPr>
        <p:spPr>
          <a:xfrm>
            <a:off x="8125968" y="21945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00288" y="24231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of 106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8400288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appear in both classes of the "obese vs non-obese" label. It is before vs after surgery.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check addresses one failure mode under its own assumptions. It does not prove the interpretation.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check answers one question; none asks where the signal comes from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follows Table I of the paper; Ojala and Garriga (2010), Hooker et al. (2019), Kapoor and Narayanan (2023).</a:t>
            </a:r>
            <a:endParaRPr lang="en-US" sz="1000" dirty="0"/>
          </a:p>
        </p:txBody>
      </p:sp>
      <p:sp>
        <p:nvSpPr>
          <p:cNvPr id="6" name="Column card"/>
          <p:cNvSpPr/>
          <p:nvPr/>
        </p:nvSpPr>
        <p:spPr>
          <a:xfrm>
            <a:off x="548640" y="1965960"/>
            <a:ext cx="3514344" cy="384048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model predict new subjects collected the same way?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ASKS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2628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each class collected under its own protocol? Does the label mean what it is called?</a:t>
            </a:r>
            <a:endParaRPr lang="en-US" sz="1600" dirty="0"/>
          </a:p>
        </p:txBody>
      </p:sp>
      <p:sp>
        <p:nvSpPr>
          <p:cNvPr id="12" name="Column card"/>
          <p:cNvSpPr/>
          <p:nvPr/>
        </p:nvSpPr>
        <p:spPr>
          <a:xfrm>
            <a:off x="4337304" y="1965960"/>
            <a:ext cx="3514344" cy="384048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1624" y="21488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test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27889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611624" y="30632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features and label independent?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11624" y="4251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ASKS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611624" y="452628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forecast a real response, or is the label built from the features?</a:t>
            </a:r>
            <a:endParaRPr lang="en-US" sz="1600" dirty="0"/>
          </a:p>
        </p:txBody>
      </p:sp>
      <p:sp>
        <p:nvSpPr>
          <p:cNvPr id="18" name="Column card"/>
          <p:cNvSpPr/>
          <p:nvPr/>
        </p:nvSpPr>
        <p:spPr>
          <a:xfrm>
            <a:off x="8125968" y="1965960"/>
            <a:ext cx="3514344" cy="384048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00288" y="21488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ROAR (remove and retrain)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400288" y="27889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400288" y="30632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rely on the top-ranked features?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00288" y="4251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ASKS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400288" y="452628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those features reflect biology, sample handling, or both?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of our own analyses: the check each passed and the control that exposes it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MTBLS242 (bariatric-surgery serum NMR), MTBLS1 (urine NMR, T2DM); Case 1 repeated on MTBLS881. Table II in the paper.</a:t>
            </a:r>
            <a:endParaRPr lang="en-US" sz="1000" dirty="0"/>
          </a:p>
        </p:txBody>
      </p:sp>
      <p:sp>
        <p:nvSpPr>
          <p:cNvPr id="6" name="Case card"/>
          <p:cNvSpPr/>
          <p:nvPr/>
        </p:nvSpPr>
        <p:spPr>
          <a:xfrm>
            <a:off x="548640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Case badge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built from its own features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diagnostic, p = 0.001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Learn-nothing scorer; pairing-destroyed null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</a:t>
            </a:r>
            <a:endParaRPr lang="en-US" sz="1100" dirty="0"/>
          </a:p>
        </p:txBody>
      </p:sp>
      <p:sp>
        <p:nvSpPr>
          <p:cNvPr id="12" name="Case card"/>
          <p:cNvSpPr/>
          <p:nvPr/>
        </p:nvSpPr>
        <p:spPr>
          <a:xfrm>
            <a:off x="3390138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Case badge"/>
          <p:cNvSpPr/>
          <p:nvPr/>
        </p:nvSpPr>
        <p:spPr>
          <a:xfrm>
            <a:off x="3664458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44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664458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Compounds of uncertain origin rank with biology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664458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(exploratory)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artefact feature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664458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</a:t>
            </a:r>
            <a:endParaRPr lang="en-US" sz="1100" dirty="0"/>
          </a:p>
        </p:txBody>
      </p:sp>
      <p:sp>
        <p:nvSpPr>
          <p:cNvPr id="18" name="Case card"/>
          <p:cNvSpPr/>
          <p:nvPr/>
        </p:nvSpPr>
        <p:spPr>
          <a:xfrm>
            <a:off x="6231636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Case badge"/>
          <p:cNvSpPr/>
          <p:nvPr/>
        </p:nvSpPr>
        <p:spPr>
          <a:xfrm>
            <a:off x="6505956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0595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05956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protocol equals the label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505956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Subject-grouped CV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protocol audit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05956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MTBLS1</a:t>
            </a:r>
            <a:endParaRPr lang="en-US" sz="1100" dirty="0"/>
          </a:p>
        </p:txBody>
      </p:sp>
      <p:sp>
        <p:nvSpPr>
          <p:cNvPr id="24" name="Case card"/>
          <p:cNvSpPr/>
          <p:nvPr/>
        </p:nvSpPr>
        <p:spPr>
          <a:xfrm>
            <a:off x="9073134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5" name="Case badge"/>
          <p:cNvSpPr/>
          <p:nvPr/>
        </p:nvSpPr>
        <p:spPr>
          <a:xfrm>
            <a:off x="9347454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4745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347454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name differs from label meaning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347454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Subject-grouped CV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Label-provenance audit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347454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 |  THE OUTCOME THAT PREDICTED ITSELF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null with no individual response beat the model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IV-A. MTBLS242, 71 patients, responder = at least 9 of 11 markers. Model PR-AUC 0.683, learn-nothing scorer 0.709, prevalence 0.437. Null lift from the unfitted scorer (median 2.04×); refitting the full model on each shuffle gives 1.99×.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is computed from change: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= at least 9 of 11 markers move the expected way between baseline and 12 months.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are the baseline values.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baselines fall back toward the mean by themselves (median baseline–change correlation −0.62).</a:t>
            </a:r>
            <a:endParaRPr lang="en-US" sz="1700" dirty="0"/>
          </a:p>
        </p:txBody>
      </p:sp>
      <p:sp>
        <p:nvSpPr>
          <p:cNvPr id="7" name="Callout"/>
          <p:cNvSpPr/>
          <p:nvPr/>
        </p:nvSpPr>
        <p:spPr>
          <a:xfrm>
            <a:off x="548640" y="466344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7548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diagnostic: 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0.001, calibration not verified. It shows that features and label are associated, not that the model forecasts a response.</a:t>
            </a:r>
            <a:endParaRPr lang="en-US" sz="1500" dirty="0"/>
          </a:p>
        </p:txBody>
      </p:sp>
      <p:grpSp>
        <p:nvGrpSpPr>
          <p:cNvPr id="1048" name="Chart 0 (drawn)"/>
          <p:cNvGrpSpPr/>
          <p:nvPr/>
        </p:nvGrpSpPr>
        <p:grpSpPr>
          <a:xfrm>
            <a:off x="5943600" y="1920240"/>
            <a:ext cx="5669280" cy="4023360"/>
            <a:chOff x="5943600" y="1920240"/>
            <a:chExt cx="5669280" cy="4023360"/>
          </a:xfrm>
        </p:grpSpPr>
        <p:sp>
          <p:nvSpPr>
            <p:cNvPr id="1026" name="Axis title"/>
            <p:cNvSpPr txBox="1"/>
            <p:nvPr/>
          </p:nvSpPr>
          <p:spPr>
            <a:xfrm>
              <a:off x="5943600" y="1920240"/>
              <a:ext cx="566928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en-US" sz="12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Lift = average precision / prevalence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943600" y="5581523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0.0x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6318504" y="5038344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943600" y="4947539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0.5x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6318504" y="4404360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943600" y="4313555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1.0x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6318504" y="3770376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943600" y="3679571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1.5x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6318504" y="3136392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943600" y="3045587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2.0x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6318504" y="2502408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943600" y="2411603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2.5x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6876174" y="3681618"/>
              <a:ext cx="1508989" cy="1990710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6601854" y="3430412"/>
              <a:ext cx="2057629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1.57x</a:t>
              </a:r>
            </a:p>
          </p:txBody>
        </p:sp>
        <p:sp>
          <p:nvSpPr>
            <p:cNvPr id="1040" name="Bar"/>
            <p:cNvSpPr/>
            <p:nvPr/>
          </p:nvSpPr>
          <p:spPr>
            <a:xfrm>
              <a:off x="9500502" y="3085673"/>
              <a:ext cx="1508989" cy="2586655"/>
            </a:xfrm>
            <a:prstGeom prst="rect">
              <a:avLst/>
            </a:prstGeom>
            <a:solidFill>
              <a:srgbClr val="EB6834"/>
            </a:solidFill>
            <a:ln>
              <a:noFill/>
            </a:ln>
          </p:spPr>
        </p:sp>
        <p:sp>
          <p:nvSpPr>
            <p:cNvPr id="1041" name="Value label"/>
            <p:cNvSpPr txBox="1"/>
            <p:nvPr/>
          </p:nvSpPr>
          <p:spPr>
            <a:xfrm>
              <a:off x="9226182" y="2834467"/>
              <a:ext cx="2057629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2.04x</a:t>
              </a:r>
            </a:p>
          </p:txBody>
        </p:sp>
        <p:cxnSp>
          <p:nvCxnSpPr>
            <p:cNvPr id="1042" name="Axis"/>
            <p:cNvCxnSpPr/>
            <p:nvPr/>
          </p:nvCxnSpPr>
          <p:spPr>
            <a:xfrm>
              <a:off x="6318504" y="5672328"/>
              <a:ext cx="5248656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43" name="Category label"/>
            <p:cNvSpPr txBox="1"/>
            <p:nvPr/>
          </p:nvSpPr>
          <p:spPr>
            <a:xfrm>
              <a:off x="6318504" y="5745480"/>
              <a:ext cx="2624328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Observed model</a:t>
              </a:r>
            </a:p>
          </p:txBody>
        </p:sp>
        <p:sp>
          <p:nvSpPr>
            <p:cNvPr id="1044" name="Category label"/>
            <p:cNvSpPr txBox="1"/>
            <p:nvPr/>
          </p:nvSpPr>
          <p:spPr>
            <a:xfrm>
              <a:off x="8942832" y="5745480"/>
              <a:ext cx="2624328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Pairing-destroyed null (median)</a:t>
              </a:r>
            </a:p>
          </p:txBody>
        </p:sp>
        <p:cxnSp>
          <p:nvCxnSpPr>
            <p:cNvPr id="1045" name="Reference line"/>
            <p:cNvCxnSpPr/>
            <p:nvPr/>
          </p:nvCxnSpPr>
          <p:spPr>
            <a:xfrm>
              <a:off x="6318504" y="4404360"/>
              <a:ext cx="5248656" cy="0"/>
            </a:xfrm>
            <a:prstGeom prst="line">
              <a:avLst/>
            </a:prstGeom>
            <a:ln w="15875">
              <a:solidFill>
                <a:srgbClr val="5B6470"/>
              </a:solidFill>
              <a:prstDash val="dash"/>
            </a:ln>
          </p:spPr>
        </p:cxnSp>
        <p:sp>
          <p:nvSpPr>
            <p:cNvPr id="1046" name="Reference label"/>
            <p:cNvSpPr txBox="1"/>
            <p:nvPr/>
          </p:nvSpPr>
          <p:spPr>
            <a:xfrm>
              <a:off x="9893808" y="1920240"/>
              <a:ext cx="1719072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1.0× = prevalence (no skill)</a:t>
              </a:r>
            </a:p>
          </p:txBody>
        </p:sp>
        <p:cxnSp>
          <p:nvCxnSpPr>
            <p:cNvPr id="1047" name="Reference key"/>
            <p:cNvCxnSpPr/>
            <p:nvPr/>
          </p:nvCxnSpPr>
          <p:spPr>
            <a:xfrm>
              <a:off x="9528048" y="2019300"/>
              <a:ext cx="292608" cy="0"/>
            </a:xfrm>
            <a:prstGeom prst="line">
              <a:avLst/>
            </a:prstGeom>
            <a:ln w="15875">
              <a:solidFill>
                <a:srgbClr val="5B6470"/>
              </a:solidFill>
              <a:prstDash val="dash"/>
            </a:ln>
          </p:spPr>
        </p:cxn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 |  AFTER THE FIX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 the fix, the model does not beat a score that learns nothing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IV-A. Joint design: responder = at least 6 of 11 markers, 18 features (three compounds of uncertain provenance removed). Bars are means of per-fold AP; the gap uses pooled held-out predictions with a 95% subject-bootstrap interval.</a:t>
            </a:r>
            <a:endParaRPr lang="en-US" sz="1000" dirty="0"/>
          </a:p>
        </p:txBody>
      </p:sp>
      <p:grpSp>
        <p:nvGrpSpPr>
          <p:cNvPr id="1051" name="Chart 0 (drawn)"/>
          <p:cNvGrpSpPr/>
          <p:nvPr/>
        </p:nvGrpSpPr>
        <p:grpSpPr>
          <a:xfrm>
            <a:off x="548640" y="1920240"/>
            <a:ext cx="6583680" cy="4023360"/>
            <a:chOff x="548640" y="1920240"/>
            <a:chExt cx="6583680" cy="402336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920240"/>
              <a:ext cx="658368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en-US" sz="12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PR-AUC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5089398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0.0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850392" y="4510754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419949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0.2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850392" y="3841305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3750500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0.4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850392" y="3171857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081052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0.6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850392" y="2502408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411603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0.8</a:t>
              </a:r>
            </a:p>
          </p:txBody>
        </p:sp>
        <p:sp>
          <p:nvSpPr>
            <p:cNvPr id="1036" name="Bar"/>
            <p:cNvSpPr/>
            <p:nvPr/>
          </p:nvSpPr>
          <p:spPr>
            <a:xfrm>
              <a:off x="1300785" y="2894036"/>
              <a:ext cx="1062465" cy="2286167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37" name="Value label"/>
            <p:cNvSpPr txBox="1"/>
            <p:nvPr/>
          </p:nvSpPr>
          <p:spPr>
            <a:xfrm>
              <a:off x="1026465" y="2642830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0.683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2455638" y="2807007"/>
              <a:ext cx="1062465" cy="2373196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2181318" y="2555801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0.709</a:t>
              </a:r>
            </a:p>
          </p:txBody>
        </p:sp>
        <p:sp>
          <p:nvSpPr>
            <p:cNvPr id="1040" name="Bar"/>
            <p:cNvSpPr/>
            <p:nvPr/>
          </p:nvSpPr>
          <p:spPr>
            <a:xfrm>
              <a:off x="4418889" y="3325830"/>
              <a:ext cx="1062465" cy="1854373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1" name="Value label"/>
            <p:cNvSpPr txBox="1"/>
            <p:nvPr/>
          </p:nvSpPr>
          <p:spPr>
            <a:xfrm>
              <a:off x="4144569" y="3074624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0.554</a:t>
              </a:r>
            </a:p>
          </p:txBody>
        </p:sp>
        <p:sp>
          <p:nvSpPr>
            <p:cNvPr id="1042" name="Bar"/>
            <p:cNvSpPr/>
            <p:nvPr/>
          </p:nvSpPr>
          <p:spPr>
            <a:xfrm>
              <a:off x="5573742" y="3208676"/>
              <a:ext cx="1062465" cy="1971527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3" name="Value label"/>
            <p:cNvSpPr txBox="1"/>
            <p:nvPr/>
          </p:nvSpPr>
          <p:spPr>
            <a:xfrm>
              <a:off x="5299422" y="2957470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0.589</a:t>
              </a:r>
            </a:p>
          </p:txBody>
        </p:sp>
        <p:cxnSp>
          <p:nvCxnSpPr>
            <p:cNvPr id="1044" name="Axis"/>
            <p:cNvCxnSpPr/>
            <p:nvPr/>
          </p:nvCxnSpPr>
          <p:spPr>
            <a:xfrm>
              <a:off x="850392" y="5180203"/>
              <a:ext cx="6236208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45" name="Category label"/>
            <p:cNvSpPr txBox="1"/>
            <p:nvPr/>
          </p:nvSpPr>
          <p:spPr>
            <a:xfrm>
              <a:off x="850392" y="5253355"/>
              <a:ext cx="3118104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Original design</a:t>
              </a:r>
            </a:p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(prevalence 0.437)</a:t>
              </a:r>
            </a:p>
          </p:txBody>
        </p:sp>
        <p:sp>
          <p:nvSpPr>
            <p:cNvPr id="1046" name="Category label"/>
            <p:cNvSpPr txBox="1"/>
            <p:nvPr/>
          </p:nvSpPr>
          <p:spPr>
            <a:xfrm>
              <a:off x="3968496" y="5253355"/>
              <a:ext cx="3118104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Joint residualised</a:t>
              </a:r>
            </a:p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(prevalence 0.521)</a:t>
              </a:r>
            </a:p>
          </p:txBody>
        </p:sp>
        <p:sp>
          <p:nvSpPr>
            <p:cNvPr id="1047" name="Legend key"/>
            <p:cNvSpPr/>
            <p:nvPr/>
          </p:nvSpPr>
          <p:spPr>
            <a:xfrm>
              <a:off x="2359152" y="5778310"/>
              <a:ext cx="128016" cy="128016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8" name="Legend label"/>
            <p:cNvSpPr txBox="1"/>
            <p:nvPr/>
          </p:nvSpPr>
          <p:spPr>
            <a:xfrm>
              <a:off x="2615184" y="5741035"/>
              <a:ext cx="102412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Trained model</a:t>
              </a:r>
            </a:p>
          </p:txBody>
        </p:sp>
        <p:sp>
          <p:nvSpPr>
            <p:cNvPr id="1049" name="Legend key"/>
            <p:cNvSpPr/>
            <p:nvPr/>
          </p:nvSpPr>
          <p:spPr>
            <a:xfrm>
              <a:off x="3813048" y="5778310"/>
              <a:ext cx="128016" cy="128016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0" name="Legend label"/>
            <p:cNvSpPr txBox="1"/>
            <p:nvPr/>
          </p:nvSpPr>
          <p:spPr>
            <a:xfrm>
              <a:off x="4069080" y="5741035"/>
              <a:ext cx="1426464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Learn-nothing scorer</a:t>
              </a:r>
            </a:p>
          </p:txBody>
        </p:sp>
      </p:grpSp>
      <p:sp>
        <p:nvSpPr>
          <p:cNvPr id="7" name="Text 3"/>
          <p:cNvSpPr txBox="1"/>
          <p:nvPr/>
        </p:nvSpPr>
        <p:spPr>
          <a:xfrm>
            <a:off x="7498080" y="21031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design: the unfitted score (0.709) beats the model (0.683).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residualisation: gap −0.037 [−0.111, +0.037].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improvement; at n = 71 a modest real gain cannot be excluded.</a:t>
            </a:r>
            <a:endParaRPr lang="en-US" sz="1700" dirty="0"/>
          </a:p>
        </p:txBody>
      </p:sp>
      <p:sp>
        <p:nvSpPr>
          <p:cNvPr id="8" name="Callout"/>
          <p:cNvSpPr/>
          <p:nvPr/>
        </p:nvSpPr>
        <p:spPr>
          <a:xfrm>
            <a:off x="7498080" y="48920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26680" y="49377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gaps, not levels: the designs differ in rule, features and prevalence.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 |  WHY IT HAPPENS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data makes label permutation more confidently misleading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III-E and IV-B. 1,000 datasets per point; gamma = 0 (no forecastable response); r = 0.25 reproduces the observed baseline–change correlation of −0.62; latent marker correlation 0.3. Raw change: whole-vector permutation; residualised arms: per-fold. 200 refits, alpha = 0.05.</a:t>
            </a:r>
            <a:endParaRPr lang="en-US" sz="1000" dirty="0"/>
          </a:p>
        </p:txBody>
      </p:sp>
      <p:grpSp>
        <p:nvGrpSpPr>
          <p:cNvPr id="1074" name="Chart 0 (drawn)"/>
          <p:cNvGrpSpPr/>
          <p:nvPr/>
        </p:nvGrpSpPr>
        <p:grpSpPr>
          <a:xfrm>
            <a:off x="548640" y="1874520"/>
            <a:ext cx="6949440" cy="4114800"/>
            <a:chOff x="548640" y="1874520"/>
            <a:chExt cx="694944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874520"/>
              <a:ext cx="69494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en-US" sz="12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Rejection rate with no forecastable response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5130673"/>
              <a:ext cx="39319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0%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1014984" y="4628286"/>
              <a:ext cx="643737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537481"/>
              <a:ext cx="39319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20%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1014984" y="4035095"/>
              <a:ext cx="643737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3944290"/>
              <a:ext cx="39319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40%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1014984" y="3441903"/>
              <a:ext cx="643737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351098"/>
              <a:ext cx="39319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60%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1014984" y="2848712"/>
              <a:ext cx="643737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757907"/>
              <a:ext cx="39319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80%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1014984" y="2255520"/>
              <a:ext cx="643737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48640" y="2164715"/>
              <a:ext cx="39319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100%</a:t>
              </a:r>
            </a:p>
          </p:txBody>
        </p:sp>
        <p:sp>
          <p:nvSpPr>
            <p:cNvPr id="1038" name="Series line"/>
            <p:cNvSpPr/>
            <p:nvPr/>
          </p:nvSpPr>
          <p:spPr>
            <a:xfrm>
              <a:off x="1819656" y="2255520"/>
              <a:ext cx="4828032" cy="2191843"/>
            </a:xfrm>
            <a:custGeom>
              <a:avLst/>
              <a:gdLst/>
              <a:ahLst/>
              <a:cxnLst/>
              <a:rect l="0" t="0" r="r" b="b"/>
              <a:pathLst>
                <a:path w="4828032" h="2191843" fill="none">
                  <a:moveTo>
                    <a:pt x="0" y="2191843"/>
                  </a:moveTo>
                  <a:lnTo>
                    <a:pt x="1609344" y="1423660"/>
                  </a:lnTo>
                  <a:lnTo>
                    <a:pt x="3218688" y="219481"/>
                  </a:lnTo>
                  <a:lnTo>
                    <a:pt x="4828032" y="0"/>
                  </a:lnTo>
                </a:path>
              </a:pathLst>
            </a:custGeom>
            <a:noFill/>
            <a:ln w="38100" cap="rnd">
              <a:solidFill>
                <a:srgbClr val="EB6834"/>
              </a:solidFill>
              <a:round/>
            </a:ln>
          </p:spPr>
        </p:sp>
        <p:sp>
          <p:nvSpPr>
            <p:cNvPr id="1039" name="Marker"/>
            <p:cNvSpPr/>
            <p:nvPr/>
          </p:nvSpPr>
          <p:spPr>
            <a:xfrm>
              <a:off x="1769364" y="4397071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0" name="Marker"/>
            <p:cNvSpPr/>
            <p:nvPr/>
          </p:nvSpPr>
          <p:spPr>
            <a:xfrm>
              <a:off x="3378708" y="3628888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1" name="Marker"/>
            <p:cNvSpPr/>
            <p:nvPr/>
          </p:nvSpPr>
          <p:spPr>
            <a:xfrm>
              <a:off x="4988052" y="2424709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2" name="Marker"/>
            <p:cNvSpPr/>
            <p:nvPr/>
          </p:nvSpPr>
          <p:spPr>
            <a:xfrm>
              <a:off x="6597396" y="2205228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3" name="Series line"/>
            <p:cNvSpPr/>
            <p:nvPr/>
          </p:nvSpPr>
          <p:spPr>
            <a:xfrm>
              <a:off x="1819656" y="5093942"/>
              <a:ext cx="4828032" cy="118638"/>
            </a:xfrm>
            <a:custGeom>
              <a:avLst/>
              <a:gdLst/>
              <a:ahLst/>
              <a:cxnLst/>
              <a:rect l="0" t="0" r="r" b="b"/>
              <a:pathLst>
                <a:path w="4828032" h="118638" fill="none">
                  <a:moveTo>
                    <a:pt x="0" y="0"/>
                  </a:moveTo>
                  <a:lnTo>
                    <a:pt x="1609344" y="65251"/>
                  </a:lnTo>
                  <a:lnTo>
                    <a:pt x="3218688" y="106774"/>
                  </a:lnTo>
                  <a:lnTo>
                    <a:pt x="4828032" y="118638"/>
                  </a:lnTo>
                </a:path>
              </a:pathLst>
            </a:custGeom>
            <a:noFill/>
            <a:ln w="38100" cap="rnd">
              <a:solidFill>
                <a:srgbClr val="2A78D6"/>
              </a:solidFill>
              <a:round/>
            </a:ln>
          </p:spPr>
        </p:sp>
        <p:sp>
          <p:nvSpPr>
            <p:cNvPr id="1044" name="Marker"/>
            <p:cNvSpPr/>
            <p:nvPr/>
          </p:nvSpPr>
          <p:spPr>
            <a:xfrm>
              <a:off x="1769364" y="5043650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5" name="Marker"/>
            <p:cNvSpPr/>
            <p:nvPr/>
          </p:nvSpPr>
          <p:spPr>
            <a:xfrm>
              <a:off x="3378708" y="5108901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6" name="Marker"/>
            <p:cNvSpPr/>
            <p:nvPr/>
          </p:nvSpPr>
          <p:spPr>
            <a:xfrm>
              <a:off x="4988052" y="5150424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7" name="Marker"/>
            <p:cNvSpPr/>
            <p:nvPr/>
          </p:nvSpPr>
          <p:spPr>
            <a:xfrm>
              <a:off x="6597396" y="5162288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8" name="Series line"/>
            <p:cNvSpPr/>
            <p:nvPr/>
          </p:nvSpPr>
          <p:spPr>
            <a:xfrm>
              <a:off x="1819656" y="5001997"/>
              <a:ext cx="4828032" cy="44489"/>
            </a:xfrm>
            <a:custGeom>
              <a:avLst/>
              <a:gdLst/>
              <a:ahLst/>
              <a:cxnLst/>
              <a:rect l="0" t="0" r="r" b="b"/>
              <a:pathLst>
                <a:path w="4828032" h="44489" fill="none">
                  <a:moveTo>
                    <a:pt x="0" y="0"/>
                  </a:moveTo>
                  <a:lnTo>
                    <a:pt x="1609344" y="35591"/>
                  </a:lnTo>
                  <a:lnTo>
                    <a:pt x="3218688" y="44489"/>
                  </a:lnTo>
                  <a:lnTo>
                    <a:pt x="4828032" y="32626"/>
                  </a:lnTo>
                </a:path>
              </a:pathLst>
            </a:custGeom>
            <a:noFill/>
            <a:ln w="38100" cap="rnd">
              <a:solidFill>
                <a:srgbClr val="1BAF7A"/>
              </a:solidFill>
              <a:round/>
            </a:ln>
          </p:spPr>
        </p:sp>
        <p:sp>
          <p:nvSpPr>
            <p:cNvPr id="1049" name="Marker"/>
            <p:cNvSpPr/>
            <p:nvPr/>
          </p:nvSpPr>
          <p:spPr>
            <a:xfrm>
              <a:off x="1769364" y="4951705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0" name="Marker"/>
            <p:cNvSpPr/>
            <p:nvPr/>
          </p:nvSpPr>
          <p:spPr>
            <a:xfrm>
              <a:off x="3378708" y="4987297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1" name="Marker"/>
            <p:cNvSpPr/>
            <p:nvPr/>
          </p:nvSpPr>
          <p:spPr>
            <a:xfrm>
              <a:off x="4988052" y="4996194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2" name="Marker"/>
            <p:cNvSpPr/>
            <p:nvPr/>
          </p:nvSpPr>
          <p:spPr>
            <a:xfrm>
              <a:off x="6597396" y="4984331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3" name="Series line"/>
            <p:cNvSpPr/>
            <p:nvPr/>
          </p:nvSpPr>
          <p:spPr>
            <a:xfrm>
              <a:off x="1819656" y="4660912"/>
              <a:ext cx="4828032" cy="323289"/>
            </a:xfrm>
            <a:custGeom>
              <a:avLst/>
              <a:gdLst/>
              <a:ahLst/>
              <a:cxnLst/>
              <a:rect l="0" t="0" r="r" b="b"/>
              <a:pathLst>
                <a:path w="4828032" h="323289" fill="none">
                  <a:moveTo>
                    <a:pt x="0" y="323289"/>
                  </a:moveTo>
                  <a:lnTo>
                    <a:pt x="1609344" y="284732"/>
                  </a:lnTo>
                  <a:lnTo>
                    <a:pt x="3218688" y="204651"/>
                  </a:lnTo>
                  <a:lnTo>
                    <a:pt x="4828032" y="0"/>
                  </a:lnTo>
                </a:path>
              </a:pathLst>
            </a:custGeom>
            <a:noFill/>
            <a:ln w="38100" cap="rnd">
              <a:solidFill>
                <a:srgbClr val="4A3AA7"/>
              </a:solidFill>
              <a:round/>
            </a:ln>
          </p:spPr>
        </p:sp>
        <p:sp>
          <p:nvSpPr>
            <p:cNvPr id="1054" name="Marker"/>
            <p:cNvSpPr/>
            <p:nvPr/>
          </p:nvSpPr>
          <p:spPr>
            <a:xfrm>
              <a:off x="1769364" y="4933909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5" name="Marker"/>
            <p:cNvSpPr/>
            <p:nvPr/>
          </p:nvSpPr>
          <p:spPr>
            <a:xfrm>
              <a:off x="3378708" y="4895352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6" name="Marker"/>
            <p:cNvSpPr/>
            <p:nvPr/>
          </p:nvSpPr>
          <p:spPr>
            <a:xfrm>
              <a:off x="4988052" y="4815271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7" name="Marker"/>
            <p:cNvSpPr/>
            <p:nvPr/>
          </p:nvSpPr>
          <p:spPr>
            <a:xfrm>
              <a:off x="6597396" y="4610620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8" name="Series line"/>
            <p:cNvSpPr/>
            <p:nvPr/>
          </p:nvSpPr>
          <p:spPr>
            <a:xfrm>
              <a:off x="1819656" y="5073180"/>
              <a:ext cx="4828032" cy="1"/>
            </a:xfrm>
            <a:custGeom>
              <a:avLst/>
              <a:gdLst/>
              <a:ahLst/>
              <a:cxnLst/>
              <a:rect l="0" t="0" r="r" b="b"/>
              <a:pathLst>
                <a:path w="4828032" h="1" fill="none">
                  <a:moveTo>
                    <a:pt x="0" y="0"/>
                  </a:moveTo>
                  <a:lnTo>
                    <a:pt x="1609344" y="0"/>
                  </a:lnTo>
                  <a:lnTo>
                    <a:pt x="3218688" y="0"/>
                  </a:lnTo>
                  <a:lnTo>
                    <a:pt x="4828032" y="0"/>
                  </a:lnTo>
                </a:path>
              </a:pathLst>
            </a:custGeom>
            <a:noFill/>
            <a:ln w="22225" cap="rnd">
              <a:solidFill>
                <a:srgbClr val="9AA3AD"/>
              </a:solidFill>
              <a:prstDash val="dash"/>
              <a:round/>
            </a:ln>
          </p:spPr>
        </p:sp>
        <p:cxnSp>
          <p:nvCxnSpPr>
            <p:cNvPr id="1059" name="Axis"/>
            <p:cNvCxnSpPr/>
            <p:nvPr/>
          </p:nvCxnSpPr>
          <p:spPr>
            <a:xfrm>
              <a:off x="1014984" y="5221478"/>
              <a:ext cx="6437376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60" name="Category label"/>
            <p:cNvSpPr txBox="1"/>
            <p:nvPr/>
          </p:nvSpPr>
          <p:spPr>
            <a:xfrm>
              <a:off x="1014984" y="5294630"/>
              <a:ext cx="1609344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n = 50</a:t>
              </a:r>
            </a:p>
          </p:txBody>
        </p:sp>
        <p:sp>
          <p:nvSpPr>
            <p:cNvPr id="1061" name="Category label"/>
            <p:cNvSpPr txBox="1"/>
            <p:nvPr/>
          </p:nvSpPr>
          <p:spPr>
            <a:xfrm>
              <a:off x="2624328" y="5294630"/>
              <a:ext cx="1609344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n = 100</a:t>
              </a:r>
            </a:p>
          </p:txBody>
        </p:sp>
        <p:sp>
          <p:nvSpPr>
            <p:cNvPr id="1062" name="Category label"/>
            <p:cNvSpPr txBox="1"/>
            <p:nvPr/>
          </p:nvSpPr>
          <p:spPr>
            <a:xfrm>
              <a:off x="4233672" y="5294630"/>
              <a:ext cx="1609344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n = 200</a:t>
              </a:r>
            </a:p>
          </p:txBody>
        </p:sp>
        <p:sp>
          <p:nvSpPr>
            <p:cNvPr id="1063" name="Category label"/>
            <p:cNvSpPr txBox="1"/>
            <p:nvPr/>
          </p:nvSpPr>
          <p:spPr>
            <a:xfrm>
              <a:off x="5843016" y="5294630"/>
              <a:ext cx="1609344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n = 500</a:t>
              </a:r>
            </a:p>
          </p:txBody>
        </p:sp>
        <p:cxnSp>
          <p:nvCxnSpPr>
            <p:cNvPr id="1064" name="Legend key"/>
            <p:cNvCxnSpPr/>
            <p:nvPr/>
          </p:nvCxnSpPr>
          <p:spPr>
            <a:xfrm>
              <a:off x="1897380" y="5685472"/>
              <a:ext cx="219456" cy="0"/>
            </a:xfrm>
            <a:prstGeom prst="line">
              <a:avLst/>
            </a:prstGeom>
            <a:ln w="28575">
              <a:solidFill>
                <a:srgbClr val="EB6834"/>
              </a:solidFill>
            </a:ln>
          </p:spPr>
        </p:cxnSp>
        <p:sp>
          <p:nvSpPr>
            <p:cNvPr id="1065" name="Legend label"/>
            <p:cNvSpPr txBox="1"/>
            <p:nvPr/>
          </p:nvSpPr>
          <p:spPr>
            <a:xfrm>
              <a:off x="2189988" y="5584190"/>
              <a:ext cx="2176272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Label permutation (whole-vector)</a:t>
              </a:r>
            </a:p>
          </p:txBody>
        </p:sp>
        <p:cxnSp>
          <p:nvCxnSpPr>
            <p:cNvPr id="1066" name="Legend key"/>
            <p:cNvCxnSpPr/>
            <p:nvPr/>
          </p:nvCxnSpPr>
          <p:spPr>
            <a:xfrm>
              <a:off x="4503420" y="5685472"/>
              <a:ext cx="219456" cy="0"/>
            </a:xfrm>
            <a:prstGeom prst="line">
              <a:avLst/>
            </a:prstGeom>
            <a:ln w="28575">
              <a:solidFill>
                <a:srgbClr val="2A78D6"/>
              </a:solidFill>
            </a:ln>
          </p:spPr>
        </p:cxnSp>
        <p:sp>
          <p:nvSpPr>
            <p:cNvPr id="1067" name="Legend label"/>
            <p:cNvSpPr txBox="1"/>
            <p:nvPr/>
          </p:nvSpPr>
          <p:spPr>
            <a:xfrm>
              <a:off x="4796028" y="5584190"/>
              <a:ext cx="1490472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Pairing-destroyed null</a:t>
              </a:r>
            </a:p>
          </p:txBody>
        </p:sp>
        <p:cxnSp>
          <p:nvCxnSpPr>
            <p:cNvPr id="1068" name="Legend key"/>
            <p:cNvCxnSpPr/>
            <p:nvPr/>
          </p:nvCxnSpPr>
          <p:spPr>
            <a:xfrm>
              <a:off x="758952" y="5888038"/>
              <a:ext cx="219456" cy="0"/>
            </a:xfrm>
            <a:prstGeom prst="line">
              <a:avLst/>
            </a:prstGeom>
            <a:ln w="28575">
              <a:solidFill>
                <a:srgbClr val="1BAF7A"/>
              </a:solidFill>
            </a:ln>
          </p:spPr>
        </p:cxnSp>
        <p:sp>
          <p:nvSpPr>
            <p:cNvPr id="1069" name="Legend label"/>
            <p:cNvSpPr txBox="1"/>
            <p:nvPr/>
          </p:nvSpPr>
          <p:spPr>
            <a:xfrm>
              <a:off x="1051560" y="5786755"/>
              <a:ext cx="2112264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Joint residualised + permutation</a:t>
              </a:r>
            </a:p>
          </p:txBody>
        </p:sp>
        <p:cxnSp>
          <p:nvCxnSpPr>
            <p:cNvPr id="1070" name="Legend key"/>
            <p:cNvCxnSpPr/>
            <p:nvPr/>
          </p:nvCxnSpPr>
          <p:spPr>
            <a:xfrm>
              <a:off x="3300984" y="5888038"/>
              <a:ext cx="219456" cy="0"/>
            </a:xfrm>
            <a:prstGeom prst="line">
              <a:avLst/>
            </a:prstGeom>
            <a:ln w="28575">
              <a:solidFill>
                <a:srgbClr val="4A3AA7"/>
              </a:solidFill>
            </a:ln>
          </p:spPr>
        </p:cxnSp>
        <p:sp>
          <p:nvSpPr>
            <p:cNvPr id="1071" name="Legend label"/>
            <p:cNvSpPr txBox="1"/>
            <p:nvPr/>
          </p:nvSpPr>
          <p:spPr>
            <a:xfrm>
              <a:off x="3593592" y="5786755"/>
              <a:ext cx="2514600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Per-marker residualised + permutation</a:t>
              </a:r>
            </a:p>
          </p:txBody>
        </p:sp>
        <p:cxnSp>
          <p:nvCxnSpPr>
            <p:cNvPr id="1072" name="Legend key"/>
            <p:cNvCxnSpPr/>
            <p:nvPr/>
          </p:nvCxnSpPr>
          <p:spPr>
            <a:xfrm>
              <a:off x="6245352" y="5888038"/>
              <a:ext cx="219456" cy="0"/>
            </a:xfrm>
            <a:prstGeom prst="line">
              <a:avLst/>
            </a:prstGeom>
            <a:ln w="28575">
              <a:solidFill>
                <a:srgbClr val="9AA3AD"/>
              </a:solidFill>
              <a:prstDash val="dash"/>
            </a:ln>
          </p:spPr>
        </p:cxnSp>
        <p:sp>
          <p:nvSpPr>
            <p:cNvPr id="1073" name="Legend label"/>
            <p:cNvSpPr txBox="1"/>
            <p:nvPr/>
          </p:nvSpPr>
          <p:spPr>
            <a:xfrm>
              <a:off x="6537960" y="5786755"/>
              <a:ext cx="88696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Nominal 5%</a:t>
              </a:r>
            </a:p>
          </p:txBody>
        </p:sp>
      </p:grpSp>
      <p:sp>
        <p:nvSpPr>
          <p:cNvPr id="7" name="Text 3"/>
          <p:cNvSpPr txBox="1"/>
          <p:nvPr/>
        </p:nvSpPr>
        <p:spPr>
          <a:xfrm>
            <a:off x="7863840" y="2011680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 to 100%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by whole-vector label permutation as n goes from 50 to 500.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Per-marker correction is not enough: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19% here (8 to 29% across settings).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correction: 5 to 8%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above the nominal 5%. A correction needs its own check.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 |  MTBLS881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cohort shows the same pattern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IV-C. MTBLS881, 47 cardiac-surgery patients sampled at two sites (left atrium primary), −1 h vs 20 h, raw outcome = at least 10 of 11 markers; design written down before fitting. Bars: mean per-fold AP; gaps from pooled predictions, subject bootstrap.</a:t>
            </a:r>
            <a:endParaRPr lang="en-US" sz="1000" dirty="0"/>
          </a:p>
        </p:txBody>
      </p:sp>
      <p:grpSp>
        <p:nvGrpSpPr>
          <p:cNvPr id="1053" name="Chart 0 (drawn)"/>
          <p:cNvGrpSpPr/>
          <p:nvPr/>
        </p:nvGrpSpPr>
        <p:grpSpPr>
          <a:xfrm>
            <a:off x="548640" y="1874520"/>
            <a:ext cx="6035040" cy="4114800"/>
            <a:chOff x="548640" y="1874520"/>
            <a:chExt cx="603504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874520"/>
              <a:ext cx="60350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en-US" sz="12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PR-AUC, raw change outcome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5333238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0.0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850392" y="4830572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739767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0.2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850392" y="4237101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4146296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0.4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850392" y="3643630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552825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0.6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850392" y="3050159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959354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0.8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850392" y="2456688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48640" y="2365883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1.0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1261161" y="3548675"/>
              <a:ext cx="968993" cy="1875368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986841" y="3297469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0.632</a:t>
              </a:r>
            </a:p>
          </p:txBody>
        </p:sp>
        <p:sp>
          <p:nvSpPr>
            <p:cNvPr id="1040" name="Bar"/>
            <p:cNvSpPr/>
            <p:nvPr/>
          </p:nvSpPr>
          <p:spPr>
            <a:xfrm>
              <a:off x="2314414" y="3361731"/>
              <a:ext cx="968993" cy="2062312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1" name="Value label"/>
            <p:cNvSpPr txBox="1"/>
            <p:nvPr/>
          </p:nvSpPr>
          <p:spPr>
            <a:xfrm>
              <a:off x="2040094" y="3110525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0.695</a:t>
              </a:r>
            </a:p>
          </p:txBody>
        </p:sp>
        <p:sp>
          <p:nvSpPr>
            <p:cNvPr id="1042" name="Bar"/>
            <p:cNvSpPr/>
            <p:nvPr/>
          </p:nvSpPr>
          <p:spPr>
            <a:xfrm>
              <a:off x="4104945" y="3177755"/>
              <a:ext cx="968993" cy="2246288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3" name="Value label"/>
            <p:cNvSpPr txBox="1"/>
            <p:nvPr/>
          </p:nvSpPr>
          <p:spPr>
            <a:xfrm>
              <a:off x="3830625" y="2926549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0.757</a:t>
              </a:r>
            </a:p>
          </p:txBody>
        </p:sp>
        <p:sp>
          <p:nvSpPr>
            <p:cNvPr id="1044" name="Bar"/>
            <p:cNvSpPr/>
            <p:nvPr/>
          </p:nvSpPr>
          <p:spPr>
            <a:xfrm>
              <a:off x="5158198" y="3278645"/>
              <a:ext cx="968993" cy="2145398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5" name="Value label"/>
            <p:cNvSpPr txBox="1"/>
            <p:nvPr/>
          </p:nvSpPr>
          <p:spPr>
            <a:xfrm>
              <a:off x="4883878" y="3027439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0.723</a:t>
              </a:r>
            </a:p>
          </p:txBody>
        </p:sp>
        <p:cxnSp>
          <p:nvCxnSpPr>
            <p:cNvPr id="1046" name="Axis"/>
            <p:cNvCxnSpPr/>
            <p:nvPr/>
          </p:nvCxnSpPr>
          <p:spPr>
            <a:xfrm>
              <a:off x="850392" y="5424043"/>
              <a:ext cx="5687568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47" name="Category label"/>
            <p:cNvSpPr txBox="1"/>
            <p:nvPr/>
          </p:nvSpPr>
          <p:spPr>
            <a:xfrm>
              <a:off x="850392" y="5497195"/>
              <a:ext cx="2843784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Left atrium (primary)</a:t>
              </a:r>
            </a:p>
          </p:txBody>
        </p:sp>
        <p:sp>
          <p:nvSpPr>
            <p:cNvPr id="1048" name="Category label"/>
            <p:cNvSpPr txBox="1"/>
            <p:nvPr/>
          </p:nvSpPr>
          <p:spPr>
            <a:xfrm>
              <a:off x="3694176" y="5497195"/>
              <a:ext cx="2843784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Pulmonary artery</a:t>
              </a:r>
            </a:p>
          </p:txBody>
        </p:sp>
        <p:sp>
          <p:nvSpPr>
            <p:cNvPr id="1049" name="Legend key"/>
            <p:cNvSpPr/>
            <p:nvPr/>
          </p:nvSpPr>
          <p:spPr>
            <a:xfrm>
              <a:off x="2084832" y="5824029"/>
              <a:ext cx="128016" cy="128016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50" name="Legend label"/>
            <p:cNvSpPr txBox="1"/>
            <p:nvPr/>
          </p:nvSpPr>
          <p:spPr>
            <a:xfrm>
              <a:off x="2340864" y="5786755"/>
              <a:ext cx="102412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Trained model</a:t>
              </a:r>
            </a:p>
          </p:txBody>
        </p:sp>
        <p:sp>
          <p:nvSpPr>
            <p:cNvPr id="1051" name="Legend key"/>
            <p:cNvSpPr/>
            <p:nvPr/>
          </p:nvSpPr>
          <p:spPr>
            <a:xfrm>
              <a:off x="3538728" y="5824029"/>
              <a:ext cx="128016" cy="128016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2" name="Legend label"/>
            <p:cNvSpPr txBox="1"/>
            <p:nvPr/>
          </p:nvSpPr>
          <p:spPr>
            <a:xfrm>
              <a:off x="3794760" y="5786755"/>
              <a:ext cx="1426464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Learn-nothing scorer</a:t>
              </a:r>
            </a:p>
          </p:txBody>
        </p:sp>
      </p:grpSp>
      <p:sp>
        <p:nvSpPr>
          <p:cNvPr id="7" name="Text 3"/>
          <p:cNvSpPr txBox="1"/>
          <p:nvPr/>
        </p:nvSpPr>
        <p:spPr>
          <a:xfrm>
            <a:off x="6949440" y="201168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change: same pattern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diagnostic p = 0.007 at both sites, yet neither site beats the learn-nothing scorer.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intervals include zero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atrium −0.037 [−0.231, +0.118]; pulmonary artery +0.013 [−0.111, +0.154].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sites, same 47 patients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observations, not two replications. After joint residualisation, 47 patients could not tell.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 |  UNCERTAIN PROVENANCE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ROAR sees importance, not origin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IV-D. Recursive ROAR (exploratory), patient-grouped CV (10 × 5), 500 random draws per k. Gap 0.0056 vs fold SD ≈ 0.03; no equivalence test. SHAP ranks used all 177 samples, so informed removals carry selection bias.</a:t>
            </a:r>
            <a:endParaRPr lang="en-US" sz="1000" dirty="0"/>
          </a:p>
        </p:txBody>
      </p:sp>
      <p:grpSp>
        <p:nvGrpSpPr>
          <p:cNvPr id="1082" name="Chart 0 (drawn)"/>
          <p:cNvGrpSpPr/>
          <p:nvPr/>
        </p:nvGrpSpPr>
        <p:grpSpPr>
          <a:xfrm>
            <a:off x="548640" y="1874520"/>
            <a:ext cx="6949440" cy="4114800"/>
            <a:chOff x="548640" y="1874520"/>
            <a:chExt cx="694944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874520"/>
              <a:ext cx="69494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en-US" sz="12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PR-AUC after retraining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4877689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0.78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932688" y="4475226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384421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0.82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932688" y="3981958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3891153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0.86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932688" y="3488690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397885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0.90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932688" y="2995422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904617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0.94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932688" y="2502154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48640" y="2411349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0.98</a:t>
              </a:r>
            </a:p>
          </p:txBody>
        </p:sp>
        <p:sp>
          <p:nvSpPr>
            <p:cNvPr id="1038" name="Series line"/>
            <p:cNvSpPr/>
            <p:nvPr/>
          </p:nvSpPr>
          <p:spPr>
            <a:xfrm>
              <a:off x="1229037" y="2687130"/>
              <a:ext cx="5926975" cy="2010067"/>
            </a:xfrm>
            <a:custGeom>
              <a:avLst/>
              <a:gdLst/>
              <a:ahLst/>
              <a:cxnLst/>
              <a:rect l="0" t="0" r="r" b="b"/>
              <a:pathLst>
                <a:path w="5926975" h="2010067" fill="none">
                  <a:moveTo>
                    <a:pt x="0" y="0"/>
                  </a:moveTo>
                  <a:lnTo>
                    <a:pt x="592697" y="0"/>
                  </a:lnTo>
                  <a:lnTo>
                    <a:pt x="1185395" y="135649"/>
                  </a:lnTo>
                  <a:lnTo>
                    <a:pt x="1778092" y="246634"/>
                  </a:lnTo>
                  <a:lnTo>
                    <a:pt x="2370790" y="456273"/>
                  </a:lnTo>
                  <a:lnTo>
                    <a:pt x="2963487" y="678243"/>
                  </a:lnTo>
                  <a:lnTo>
                    <a:pt x="3556185" y="986536"/>
                  </a:lnTo>
                  <a:lnTo>
                    <a:pt x="4148882" y="1270165"/>
                  </a:lnTo>
                  <a:lnTo>
                    <a:pt x="4741580" y="1442809"/>
                  </a:lnTo>
                  <a:lnTo>
                    <a:pt x="5334277" y="1726438"/>
                  </a:lnTo>
                  <a:lnTo>
                    <a:pt x="5926975" y="2010067"/>
                  </a:lnTo>
                </a:path>
              </a:pathLst>
            </a:custGeom>
            <a:noFill/>
            <a:ln w="38100" cap="rnd">
              <a:solidFill>
                <a:srgbClr val="EB6834"/>
              </a:solidFill>
              <a:round/>
            </a:ln>
          </p:spPr>
        </p:sp>
        <p:sp>
          <p:nvSpPr>
            <p:cNvPr id="1039" name="Marker"/>
            <p:cNvSpPr/>
            <p:nvPr/>
          </p:nvSpPr>
          <p:spPr>
            <a:xfrm>
              <a:off x="1178745" y="2636838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0" name="Marker"/>
            <p:cNvSpPr/>
            <p:nvPr/>
          </p:nvSpPr>
          <p:spPr>
            <a:xfrm>
              <a:off x="1771442" y="2636838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1" name="Marker"/>
            <p:cNvSpPr/>
            <p:nvPr/>
          </p:nvSpPr>
          <p:spPr>
            <a:xfrm>
              <a:off x="2364140" y="2772486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2" name="Marker"/>
            <p:cNvSpPr/>
            <p:nvPr/>
          </p:nvSpPr>
          <p:spPr>
            <a:xfrm>
              <a:off x="2956837" y="2883472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3" name="Marker"/>
            <p:cNvSpPr/>
            <p:nvPr/>
          </p:nvSpPr>
          <p:spPr>
            <a:xfrm>
              <a:off x="3549535" y="3093110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4" name="Marker"/>
            <p:cNvSpPr/>
            <p:nvPr/>
          </p:nvSpPr>
          <p:spPr>
            <a:xfrm>
              <a:off x="4142232" y="3315081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5" name="Marker"/>
            <p:cNvSpPr/>
            <p:nvPr/>
          </p:nvSpPr>
          <p:spPr>
            <a:xfrm>
              <a:off x="4734929" y="3623374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6" name="Marker"/>
            <p:cNvSpPr/>
            <p:nvPr/>
          </p:nvSpPr>
          <p:spPr>
            <a:xfrm>
              <a:off x="5327627" y="3907003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7" name="Marker"/>
            <p:cNvSpPr/>
            <p:nvPr/>
          </p:nvSpPr>
          <p:spPr>
            <a:xfrm>
              <a:off x="5920324" y="4079646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8" name="Marker"/>
            <p:cNvSpPr/>
            <p:nvPr/>
          </p:nvSpPr>
          <p:spPr>
            <a:xfrm>
              <a:off x="6513022" y="4363276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9" name="Marker"/>
            <p:cNvSpPr/>
            <p:nvPr/>
          </p:nvSpPr>
          <p:spPr>
            <a:xfrm>
              <a:off x="7105719" y="4646905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50" name="Series line"/>
            <p:cNvSpPr/>
            <p:nvPr/>
          </p:nvSpPr>
          <p:spPr>
            <a:xfrm>
              <a:off x="1229037" y="2600808"/>
              <a:ext cx="5926975" cy="283629"/>
            </a:xfrm>
            <a:custGeom>
              <a:avLst/>
              <a:gdLst/>
              <a:ahLst/>
              <a:cxnLst/>
              <a:rect l="0" t="0" r="r" b="b"/>
              <a:pathLst>
                <a:path w="5926975" h="283629" fill="none">
                  <a:moveTo>
                    <a:pt x="0" y="0"/>
                  </a:moveTo>
                  <a:lnTo>
                    <a:pt x="592697" y="12332"/>
                  </a:lnTo>
                  <a:lnTo>
                    <a:pt x="1185395" y="24663"/>
                  </a:lnTo>
                  <a:lnTo>
                    <a:pt x="1778092" y="49327"/>
                  </a:lnTo>
                  <a:lnTo>
                    <a:pt x="2370790" y="61658"/>
                  </a:lnTo>
                  <a:lnTo>
                    <a:pt x="2963487" y="86322"/>
                  </a:lnTo>
                  <a:lnTo>
                    <a:pt x="3556185" y="110985"/>
                  </a:lnTo>
                  <a:lnTo>
                    <a:pt x="4148882" y="135649"/>
                  </a:lnTo>
                  <a:lnTo>
                    <a:pt x="4741580" y="172644"/>
                  </a:lnTo>
                  <a:lnTo>
                    <a:pt x="5334277" y="209639"/>
                  </a:lnTo>
                  <a:lnTo>
                    <a:pt x="5926975" y="283629"/>
                  </a:lnTo>
                </a:path>
              </a:pathLst>
            </a:custGeom>
            <a:noFill/>
            <a:ln w="38100" cap="rnd">
              <a:solidFill>
                <a:srgbClr val="2A78D6"/>
              </a:solidFill>
              <a:round/>
            </a:ln>
          </p:spPr>
        </p:sp>
        <p:sp>
          <p:nvSpPr>
            <p:cNvPr id="1051" name="Marker"/>
            <p:cNvSpPr/>
            <p:nvPr/>
          </p:nvSpPr>
          <p:spPr>
            <a:xfrm>
              <a:off x="1178745" y="2550516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2" name="Marker"/>
            <p:cNvSpPr/>
            <p:nvPr/>
          </p:nvSpPr>
          <p:spPr>
            <a:xfrm>
              <a:off x="1771442" y="2562847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3" name="Marker"/>
            <p:cNvSpPr/>
            <p:nvPr/>
          </p:nvSpPr>
          <p:spPr>
            <a:xfrm>
              <a:off x="2364140" y="2575179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4" name="Marker"/>
            <p:cNvSpPr/>
            <p:nvPr/>
          </p:nvSpPr>
          <p:spPr>
            <a:xfrm>
              <a:off x="2956837" y="2599842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5" name="Marker"/>
            <p:cNvSpPr/>
            <p:nvPr/>
          </p:nvSpPr>
          <p:spPr>
            <a:xfrm>
              <a:off x="3549535" y="2612174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6" name="Marker"/>
            <p:cNvSpPr/>
            <p:nvPr/>
          </p:nvSpPr>
          <p:spPr>
            <a:xfrm>
              <a:off x="4142232" y="2636838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7" name="Marker"/>
            <p:cNvSpPr/>
            <p:nvPr/>
          </p:nvSpPr>
          <p:spPr>
            <a:xfrm>
              <a:off x="4734929" y="2661501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8" name="Marker"/>
            <p:cNvSpPr/>
            <p:nvPr/>
          </p:nvSpPr>
          <p:spPr>
            <a:xfrm>
              <a:off x="5327627" y="2686164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9" name="Marker"/>
            <p:cNvSpPr/>
            <p:nvPr/>
          </p:nvSpPr>
          <p:spPr>
            <a:xfrm>
              <a:off x="5920324" y="2723159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60" name="Marker"/>
            <p:cNvSpPr/>
            <p:nvPr/>
          </p:nvSpPr>
          <p:spPr>
            <a:xfrm>
              <a:off x="6513022" y="2760155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61" name="Marker"/>
            <p:cNvSpPr/>
            <p:nvPr/>
          </p:nvSpPr>
          <p:spPr>
            <a:xfrm>
              <a:off x="7105719" y="2834145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62" name="Series line"/>
            <p:cNvSpPr/>
            <p:nvPr/>
          </p:nvSpPr>
          <p:spPr>
            <a:xfrm>
              <a:off x="1229037" y="2662466"/>
              <a:ext cx="5926975" cy="789229"/>
            </a:xfrm>
            <a:custGeom>
              <a:avLst/>
              <a:gdLst/>
              <a:ahLst/>
              <a:cxnLst/>
              <a:rect l="0" t="0" r="r" b="b"/>
              <a:pathLst>
                <a:path w="5926975" h="789229" fill="none">
                  <a:moveTo>
                    <a:pt x="0" y="0"/>
                  </a:moveTo>
                  <a:lnTo>
                    <a:pt x="592697" y="49327"/>
                  </a:lnTo>
                  <a:lnTo>
                    <a:pt x="1185395" y="73990"/>
                  </a:lnTo>
                  <a:lnTo>
                    <a:pt x="1778092" y="135649"/>
                  </a:lnTo>
                  <a:lnTo>
                    <a:pt x="2370790" y="172644"/>
                  </a:lnTo>
                  <a:lnTo>
                    <a:pt x="2963487" y="258966"/>
                  </a:lnTo>
                  <a:lnTo>
                    <a:pt x="3556185" y="283629"/>
                  </a:lnTo>
                  <a:lnTo>
                    <a:pt x="4148882" y="406946"/>
                  </a:lnTo>
                  <a:lnTo>
                    <a:pt x="4741580" y="517931"/>
                  </a:lnTo>
                  <a:lnTo>
                    <a:pt x="5334277" y="616585"/>
                  </a:lnTo>
                  <a:lnTo>
                    <a:pt x="5926975" y="789229"/>
                  </a:lnTo>
                </a:path>
              </a:pathLst>
            </a:custGeom>
            <a:noFill/>
            <a:ln w="22225" cap="rnd">
              <a:solidFill>
                <a:srgbClr val="9AA3AD"/>
              </a:solidFill>
              <a:prstDash val="dash"/>
              <a:round/>
            </a:ln>
          </p:spPr>
        </p:sp>
        <p:cxnSp>
          <p:nvCxnSpPr>
            <p:cNvPr id="1063" name="Axis"/>
            <p:cNvCxnSpPr/>
            <p:nvPr/>
          </p:nvCxnSpPr>
          <p:spPr>
            <a:xfrm>
              <a:off x="932688" y="4968494"/>
              <a:ext cx="6519672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64" name="Category label"/>
            <p:cNvSpPr txBox="1"/>
            <p:nvPr/>
          </p:nvSpPr>
          <p:spPr>
            <a:xfrm>
              <a:off x="932688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1</a:t>
              </a:r>
            </a:p>
          </p:txBody>
        </p:sp>
        <p:sp>
          <p:nvSpPr>
            <p:cNvPr id="1065" name="Category label"/>
            <p:cNvSpPr txBox="1"/>
            <p:nvPr/>
          </p:nvSpPr>
          <p:spPr>
            <a:xfrm>
              <a:off x="1525385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1066" name="Category label"/>
            <p:cNvSpPr txBox="1"/>
            <p:nvPr/>
          </p:nvSpPr>
          <p:spPr>
            <a:xfrm>
              <a:off x="2118083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3</a:t>
              </a:r>
            </a:p>
          </p:txBody>
        </p:sp>
        <p:sp>
          <p:nvSpPr>
            <p:cNvPr id="1067" name="Category label"/>
            <p:cNvSpPr txBox="1"/>
            <p:nvPr/>
          </p:nvSpPr>
          <p:spPr>
            <a:xfrm>
              <a:off x="2710780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4</a:t>
              </a:r>
            </a:p>
          </p:txBody>
        </p:sp>
        <p:sp>
          <p:nvSpPr>
            <p:cNvPr id="1068" name="Category label"/>
            <p:cNvSpPr txBox="1"/>
            <p:nvPr/>
          </p:nvSpPr>
          <p:spPr>
            <a:xfrm>
              <a:off x="3303478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5</a:t>
              </a:r>
            </a:p>
          </p:txBody>
        </p:sp>
        <p:sp>
          <p:nvSpPr>
            <p:cNvPr id="1069" name="Category label"/>
            <p:cNvSpPr txBox="1"/>
            <p:nvPr/>
          </p:nvSpPr>
          <p:spPr>
            <a:xfrm>
              <a:off x="3896175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6</a:t>
              </a:r>
            </a:p>
          </p:txBody>
        </p:sp>
        <p:sp>
          <p:nvSpPr>
            <p:cNvPr id="1070" name="Category label"/>
            <p:cNvSpPr txBox="1"/>
            <p:nvPr/>
          </p:nvSpPr>
          <p:spPr>
            <a:xfrm>
              <a:off x="4488873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7</a:t>
              </a:r>
            </a:p>
          </p:txBody>
        </p:sp>
        <p:sp>
          <p:nvSpPr>
            <p:cNvPr id="1071" name="Category label"/>
            <p:cNvSpPr txBox="1"/>
            <p:nvPr/>
          </p:nvSpPr>
          <p:spPr>
            <a:xfrm>
              <a:off x="5081570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8</a:t>
              </a:r>
            </a:p>
          </p:txBody>
        </p:sp>
        <p:sp>
          <p:nvSpPr>
            <p:cNvPr id="1072" name="Category label"/>
            <p:cNvSpPr txBox="1"/>
            <p:nvPr/>
          </p:nvSpPr>
          <p:spPr>
            <a:xfrm>
              <a:off x="5674268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9</a:t>
              </a:r>
            </a:p>
          </p:txBody>
        </p:sp>
        <p:sp>
          <p:nvSpPr>
            <p:cNvPr id="1073" name="Category label"/>
            <p:cNvSpPr txBox="1"/>
            <p:nvPr/>
          </p:nvSpPr>
          <p:spPr>
            <a:xfrm>
              <a:off x="6266965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10</a:t>
              </a:r>
            </a:p>
          </p:txBody>
        </p:sp>
        <p:sp>
          <p:nvSpPr>
            <p:cNvPr id="1074" name="Category label"/>
            <p:cNvSpPr txBox="1"/>
            <p:nvPr/>
          </p:nvSpPr>
          <p:spPr>
            <a:xfrm>
              <a:off x="6859663" y="5041646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11</a:t>
              </a:r>
            </a:p>
          </p:txBody>
        </p:sp>
        <p:sp>
          <p:nvSpPr>
            <p:cNvPr id="1075" name="Axis title"/>
            <p:cNvSpPr txBox="1"/>
            <p:nvPr/>
          </p:nvSpPr>
          <p:spPr>
            <a:xfrm>
              <a:off x="548640" y="5294630"/>
              <a:ext cx="69494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Features removed (k)</a:t>
              </a:r>
            </a:p>
          </p:txBody>
        </p:sp>
        <p:cxnSp>
          <p:nvCxnSpPr>
            <p:cNvPr id="1076" name="Legend key"/>
            <p:cNvCxnSpPr/>
            <p:nvPr/>
          </p:nvCxnSpPr>
          <p:spPr>
            <a:xfrm>
              <a:off x="1709928" y="5685472"/>
              <a:ext cx="219456" cy="0"/>
            </a:xfrm>
            <a:prstGeom prst="line">
              <a:avLst/>
            </a:prstGeom>
            <a:ln w="28575">
              <a:solidFill>
                <a:srgbClr val="EB6834"/>
              </a:solidFill>
            </a:ln>
          </p:spPr>
        </p:cxnSp>
        <p:sp>
          <p:nvSpPr>
            <p:cNvPr id="1077" name="Legend label"/>
            <p:cNvSpPr txBox="1"/>
            <p:nvPr/>
          </p:nvSpPr>
          <p:spPr>
            <a:xfrm>
              <a:off x="2002536" y="5584190"/>
              <a:ext cx="2414016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Recursive ROAR (informed removal)</a:t>
              </a:r>
            </a:p>
          </p:txBody>
        </p:sp>
        <p:cxnSp>
          <p:nvCxnSpPr>
            <p:cNvPr id="1078" name="Legend key"/>
            <p:cNvCxnSpPr/>
            <p:nvPr/>
          </p:nvCxnSpPr>
          <p:spPr>
            <a:xfrm>
              <a:off x="4553712" y="5685472"/>
              <a:ext cx="219456" cy="0"/>
            </a:xfrm>
            <a:prstGeom prst="line">
              <a:avLst/>
            </a:prstGeom>
            <a:ln w="28575">
              <a:solidFill>
                <a:srgbClr val="2A78D6"/>
              </a:solidFill>
            </a:ln>
          </p:spPr>
        </p:cxnSp>
        <p:sp>
          <p:nvSpPr>
            <p:cNvPr id="1079" name="Legend label"/>
            <p:cNvSpPr txBox="1"/>
            <p:nvPr/>
          </p:nvSpPr>
          <p:spPr>
            <a:xfrm>
              <a:off x="4846320" y="5584190"/>
              <a:ext cx="1627632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Random removal, mean</a:t>
              </a:r>
            </a:p>
          </p:txBody>
        </p:sp>
        <p:cxnSp>
          <p:nvCxnSpPr>
            <p:cNvPr id="1080" name="Legend key"/>
            <p:cNvCxnSpPr/>
            <p:nvPr/>
          </p:nvCxnSpPr>
          <p:spPr>
            <a:xfrm>
              <a:off x="2830068" y="5888038"/>
              <a:ext cx="219456" cy="0"/>
            </a:xfrm>
            <a:prstGeom prst="line">
              <a:avLst/>
            </a:prstGeom>
            <a:ln w="28575">
              <a:solidFill>
                <a:srgbClr val="9AA3AD"/>
              </a:solidFill>
              <a:prstDash val="dash"/>
            </a:ln>
          </p:spPr>
        </p:cxnSp>
        <p:sp>
          <p:nvSpPr>
            <p:cNvPr id="1081" name="Legend label"/>
            <p:cNvSpPr txBox="1"/>
            <p:nvPr/>
          </p:nvSpPr>
          <p:spPr>
            <a:xfrm>
              <a:off x="3122676" y="5786755"/>
              <a:ext cx="2231136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1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Random removal, 2.5th percentile</a:t>
              </a:r>
            </a:p>
          </p:txBody>
        </p:sp>
      </p:grpSp>
      <p:sp>
        <p:nvSpPr>
          <p:cNvPr id="7" name="Callout"/>
          <p:cNvSpPr/>
          <p:nvPr/>
        </p:nvSpPr>
        <p:spPr>
          <a:xfrm>
            <a:off x="7863840" y="20116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92440" y="21031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3 of uncertain provenance</a:t>
            </a:r>
            <a:endParaRPr lang="en-US" sz="1400" dirty="0"/>
          </a:p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1400" dirty="0"/>
          </a:p>
        </p:txBody>
      </p:sp>
      <p:sp>
        <p:nvSpPr>
          <p:cNvPr id="9" name="Callout"/>
          <p:cNvSpPr/>
          <p:nvPr/>
        </p:nvSpPr>
        <p:spPr>
          <a:xfrm>
            <a:off x="7863840" y="402336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92440" y="41148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3 established metabolites</a:t>
            </a:r>
            <a:endParaRPr lang="en-US" sz="14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 |  POSITIVE CONTROL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feature with zero biology becomes the top feature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III-C and IV-D, 10 draws per d. Spike = d × y + N(0,1), y = label; no biology involved. Median SHAP rank among 22 features (21 real + the spike).</a:t>
            </a:r>
            <a:endParaRPr lang="en-US" sz="1000" dirty="0"/>
          </a:p>
        </p:txBody>
      </p:sp>
      <p:sp>
        <p:nvSpPr>
          <p:cNvPr id="6" name="Spike card"/>
          <p:cNvSpPr/>
          <p:nvPr/>
        </p:nvSpPr>
        <p:spPr>
          <a:xfrm>
            <a:off x="548640" y="1965960"/>
            <a:ext cx="3514344" cy="2468880"/>
          </a:xfrm>
          <a:prstGeom prst="roundRect">
            <a:avLst>
              <a:gd name="adj" fmla="val 296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031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0.75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10th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spike hides among the real metabolites.</a:t>
            </a:r>
            <a:endParaRPr lang="en-US" sz="1500" dirty="0"/>
          </a:p>
        </p:txBody>
      </p:sp>
      <p:sp>
        <p:nvSpPr>
          <p:cNvPr id="10" name="Spike card"/>
          <p:cNvSpPr/>
          <p:nvPr/>
        </p:nvSpPr>
        <p:spPr>
          <a:xfrm>
            <a:off x="4337304" y="1965960"/>
            <a:ext cx="3514344" cy="2468880"/>
          </a:xfrm>
          <a:prstGeom prst="roundRect">
            <a:avLst>
              <a:gd name="adj" fmla="val 296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1624" y="21031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1.25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11624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4611624" y="34747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spike already outranks most biology.</a:t>
            </a:r>
            <a:endParaRPr lang="en-US" sz="1500" dirty="0"/>
          </a:p>
        </p:txBody>
      </p:sp>
      <p:sp>
        <p:nvSpPr>
          <p:cNvPr id="14" name="Spike card"/>
          <p:cNvSpPr/>
          <p:nvPr/>
        </p:nvSpPr>
        <p:spPr>
          <a:xfrm>
            <a:off x="8125968" y="1965960"/>
            <a:ext cx="3514344" cy="2468880"/>
          </a:xfrm>
          <a:prstGeom prst="roundRect">
            <a:avLst>
              <a:gd name="adj" fmla="val 296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00288" y="21031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1.75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00288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5400" dirty="0"/>
          </a:p>
        </p:txBody>
      </p:sp>
      <p:sp>
        <p:nvSpPr>
          <p:cNvPr id="17" name="Text 14"/>
          <p:cNvSpPr txBox="1"/>
          <p:nvPr/>
        </p:nvSpPr>
        <p:spPr>
          <a:xfrm>
            <a:off x="8400288" y="34747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spike is the most important feature.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SHAP rank among 22 features, </a:t>
            </a: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feature = d × label + noise.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 = 1.75 (as strong as dimethyl sulfone) it ranked first in 6 of 10 draws; removing it costs 0.0127 PR-AUC, more than any real metabolite (largest 0.0073).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 |  PROTOCOL EQUALS LABEL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sample-name prefix predicts diabetes perfectly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IV-E. 132 urine samples (84 control, 48 T2DM), CV grouped by inferred subject, 20 seeds (range 0.845 to 0.975); ungrouped CV 0.969. No metadata column records a date, batch or run order.</a:t>
            </a:r>
            <a:endParaRPr lang="en-US" sz="1000" dirty="0"/>
          </a:p>
        </p:txBody>
      </p:sp>
      <p:grpSp>
        <p:nvGrpSpPr>
          <p:cNvPr id="1054" name="Chart 0 (drawn)"/>
          <p:cNvGrpSpPr/>
          <p:nvPr/>
        </p:nvGrpSpPr>
        <p:grpSpPr>
          <a:xfrm>
            <a:off x="548640" y="1874520"/>
            <a:ext cx="6766560" cy="4114800"/>
            <a:chOff x="548640" y="1874520"/>
            <a:chExt cx="6766560" cy="4114800"/>
          </a:xfrm>
        </p:grpSpPr>
        <p:sp>
          <p:nvSpPr>
            <p:cNvPr id="1026" name="Tick label"/>
            <p:cNvSpPr txBox="1"/>
            <p:nvPr/>
          </p:nvSpPr>
          <p:spPr>
            <a:xfrm>
              <a:off x="2185416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0.0</a:t>
              </a:r>
            </a:p>
          </p:txBody>
        </p:sp>
        <p:cxnSp>
          <p:nvCxnSpPr>
            <p:cNvPr id="1027" name="Gridline"/>
            <p:cNvCxnSpPr/>
            <p:nvPr/>
          </p:nvCxnSpPr>
          <p:spPr>
            <a:xfrm>
              <a:off x="3366821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8" name="Tick label"/>
            <p:cNvSpPr txBox="1"/>
            <p:nvPr/>
          </p:nvSpPr>
          <p:spPr>
            <a:xfrm>
              <a:off x="3001061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0.2</a:t>
              </a:r>
            </a:p>
          </p:txBody>
        </p:sp>
        <p:cxnSp>
          <p:nvCxnSpPr>
            <p:cNvPr id="1029" name="Gridline"/>
            <p:cNvCxnSpPr/>
            <p:nvPr/>
          </p:nvCxnSpPr>
          <p:spPr>
            <a:xfrm>
              <a:off x="4182466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0" name="Tick label"/>
            <p:cNvSpPr txBox="1"/>
            <p:nvPr/>
          </p:nvSpPr>
          <p:spPr>
            <a:xfrm>
              <a:off x="3816706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0.4</a:t>
              </a:r>
            </a:p>
          </p:txBody>
        </p:sp>
        <p:cxnSp>
          <p:nvCxnSpPr>
            <p:cNvPr id="1031" name="Gridline"/>
            <p:cNvCxnSpPr/>
            <p:nvPr/>
          </p:nvCxnSpPr>
          <p:spPr>
            <a:xfrm>
              <a:off x="4998110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2" name="Tick label"/>
            <p:cNvSpPr txBox="1"/>
            <p:nvPr/>
          </p:nvSpPr>
          <p:spPr>
            <a:xfrm>
              <a:off x="4632350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0.6</a:t>
              </a:r>
            </a:p>
          </p:txBody>
        </p:sp>
        <p:cxnSp>
          <p:nvCxnSpPr>
            <p:cNvPr id="1033" name="Gridline"/>
            <p:cNvCxnSpPr/>
            <p:nvPr/>
          </p:nvCxnSpPr>
          <p:spPr>
            <a:xfrm>
              <a:off x="5813755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4" name="Tick label"/>
            <p:cNvSpPr txBox="1"/>
            <p:nvPr/>
          </p:nvSpPr>
          <p:spPr>
            <a:xfrm>
              <a:off x="5447995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0.8</a:t>
              </a:r>
            </a:p>
          </p:txBody>
        </p:sp>
        <p:cxnSp>
          <p:nvCxnSpPr>
            <p:cNvPr id="1035" name="Gridline"/>
            <p:cNvCxnSpPr/>
            <p:nvPr/>
          </p:nvCxnSpPr>
          <p:spPr>
            <a:xfrm>
              <a:off x="6629400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6" name="Tick label"/>
            <p:cNvSpPr txBox="1"/>
            <p:nvPr/>
          </p:nvSpPr>
          <p:spPr>
            <a:xfrm>
              <a:off x="6263640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1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1.0</a:t>
              </a:r>
            </a:p>
          </p:txBody>
        </p:sp>
        <p:sp>
          <p:nvSpPr>
            <p:cNvPr id="1037" name="Axis title"/>
            <p:cNvSpPr txBox="1"/>
            <p:nvPr/>
          </p:nvSpPr>
          <p:spPr>
            <a:xfrm>
              <a:off x="2551176" y="5754624"/>
              <a:ext cx="4078224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en-US" sz="1200" dirty="0">
                  <a:solidFill>
                    <a:srgbClr val="5B6470"/>
                  </a:solidFill>
                  <a:latin typeface="Calibri"/>
                  <a:ea typeface="Calibri"/>
                  <a:cs typeface="Calibri"/>
                </a:rPr>
                <a:t>PR-AUC, subject-grouped CV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2551176" y="1977579"/>
              <a:ext cx="4078224" cy="515293"/>
            </a:xfrm>
            <a:prstGeom prst="rect">
              <a:avLst/>
            </a:prstGeom>
            <a:solidFill>
              <a:srgbClr val="EB6834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6702552" y="1977579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1.000</a:t>
              </a:r>
            </a:p>
          </p:txBody>
        </p:sp>
        <p:sp>
          <p:nvSpPr>
            <p:cNvPr id="1040" name="Category label"/>
            <p:cNvSpPr txBox="1"/>
            <p:nvPr/>
          </p:nvSpPr>
          <p:spPr>
            <a:xfrm>
              <a:off x="548640" y="1874520"/>
              <a:ext cx="1892808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Sample-name prefix only</a:t>
              </a:r>
            </a:p>
          </p:txBody>
        </p:sp>
        <p:sp>
          <p:nvSpPr>
            <p:cNvPr id="1041" name="Bar"/>
            <p:cNvSpPr/>
            <p:nvPr/>
          </p:nvSpPr>
          <p:spPr>
            <a:xfrm>
              <a:off x="2551176" y="2698989"/>
              <a:ext cx="3980347" cy="515293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2" name="Value label"/>
            <p:cNvSpPr txBox="1"/>
            <p:nvPr/>
          </p:nvSpPr>
          <p:spPr>
            <a:xfrm>
              <a:off x="6604675" y="2698989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0.976</a:t>
              </a:r>
            </a:p>
          </p:txBody>
        </p:sp>
        <p:sp>
          <p:nvSpPr>
            <p:cNvPr id="1043" name="Category label"/>
            <p:cNvSpPr txBox="1"/>
            <p:nvPr/>
          </p:nvSpPr>
          <p:spPr>
            <a:xfrm>
              <a:off x="548640" y="2595931"/>
              <a:ext cx="1892808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NMR model, seed 42</a:t>
              </a:r>
            </a:p>
          </p:txBody>
        </p:sp>
        <p:sp>
          <p:nvSpPr>
            <p:cNvPr id="1044" name="Bar"/>
            <p:cNvSpPr/>
            <p:nvPr/>
          </p:nvSpPr>
          <p:spPr>
            <a:xfrm>
              <a:off x="2551176" y="3420400"/>
              <a:ext cx="3715262" cy="515293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5" name="Value label"/>
            <p:cNvSpPr txBox="1"/>
            <p:nvPr/>
          </p:nvSpPr>
          <p:spPr>
            <a:xfrm>
              <a:off x="6339590" y="3420400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0.911</a:t>
              </a:r>
            </a:p>
          </p:txBody>
        </p:sp>
        <p:sp>
          <p:nvSpPr>
            <p:cNvPr id="1046" name="Category label"/>
            <p:cNvSpPr txBox="1"/>
            <p:nvPr/>
          </p:nvSpPr>
          <p:spPr>
            <a:xfrm>
              <a:off x="548640" y="3317342"/>
              <a:ext cx="1892808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NMR model, 20-seed mean</a:t>
              </a:r>
            </a:p>
          </p:txBody>
        </p:sp>
        <p:sp>
          <p:nvSpPr>
            <p:cNvPr id="1047" name="Bar"/>
            <p:cNvSpPr/>
            <p:nvPr/>
          </p:nvSpPr>
          <p:spPr>
            <a:xfrm>
              <a:off x="2551176" y="4141811"/>
              <a:ext cx="2039112" cy="515293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8" name="Value label"/>
            <p:cNvSpPr txBox="1"/>
            <p:nvPr/>
          </p:nvSpPr>
          <p:spPr>
            <a:xfrm>
              <a:off x="4663440" y="4141811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0.500</a:t>
              </a:r>
            </a:p>
          </p:txBody>
        </p:sp>
        <p:sp>
          <p:nvSpPr>
            <p:cNvPr id="1049" name="Category label"/>
            <p:cNvSpPr txBox="1"/>
            <p:nvPr/>
          </p:nvSpPr>
          <p:spPr>
            <a:xfrm>
              <a:off x="548640" y="4038752"/>
              <a:ext cx="1892808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Sex only</a:t>
              </a:r>
            </a:p>
          </p:txBody>
        </p:sp>
        <p:sp>
          <p:nvSpPr>
            <p:cNvPr id="1050" name="Bar"/>
            <p:cNvSpPr/>
            <p:nvPr/>
          </p:nvSpPr>
          <p:spPr>
            <a:xfrm>
              <a:off x="2551176" y="4863222"/>
              <a:ext cx="1484474" cy="515293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1" name="Value label"/>
            <p:cNvSpPr txBox="1"/>
            <p:nvPr/>
          </p:nvSpPr>
          <p:spPr>
            <a:xfrm>
              <a:off x="4108802" y="4863222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300" b="1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0.364</a:t>
              </a:r>
            </a:p>
          </p:txBody>
        </p:sp>
        <p:sp>
          <p:nvSpPr>
            <p:cNvPr id="1052" name="Category label"/>
            <p:cNvSpPr txBox="1"/>
            <p:nvPr/>
          </p:nvSpPr>
          <p:spPr>
            <a:xfrm>
              <a:off x="548640" y="4760163"/>
              <a:ext cx="1892808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n-US" sz="1200" dirty="0">
                  <a:solidFill>
                    <a:srgbClr val="1B2430"/>
                  </a:solidFill>
                  <a:latin typeface="Calibri"/>
                  <a:ea typeface="Calibri"/>
                  <a:cs typeface="Calibri"/>
                </a:rPr>
                <a:t>Chance (prevalence)</a:t>
              </a:r>
            </a:p>
          </p:txBody>
        </p:sp>
        <p:cxnSp>
          <p:nvCxnSpPr>
            <p:cNvPr id="1053" name="Axis"/>
            <p:cNvCxnSpPr/>
            <p:nvPr/>
          </p:nvCxnSpPr>
          <p:spPr>
            <a:xfrm>
              <a:off x="2551176" y="1874520"/>
              <a:ext cx="0" cy="3607054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</p:grpSp>
      <p:sp>
        <p:nvSpPr>
          <p:cNvPr id="7" name="Text 3"/>
          <p:cNvSpPr txBox="1"/>
          <p:nvPr/>
        </p:nvSpPr>
        <p:spPr>
          <a:xfrm>
            <a:off x="768096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by label and sample-name prefix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4231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ADG19007u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ADG10003u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680960" y="40233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came from its own study protocol, so these data cannot separate disease from collection protocol.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 was one seed; over 20 seeds the mean was 0.911. Age and BMI ranges also differ.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  |  LABEL MEANING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"Obese vs non-obese" is really before vs after surgery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IV-F. Original claim: ROC-AUC 0.973, the AUC of the mean ROC curve over one stratified 5-fold split (0.974 on re-run). Repeat: 10 × 5 CV, mean fold ROC-AUC. No BMI is recorded, so whether 12-month patients are non-obese cannot be checked.</a:t>
            </a:r>
            <a:endParaRPr lang="en-US" sz="1000" dirty="0"/>
          </a:p>
        </p:txBody>
      </p:sp>
      <p:sp>
        <p:nvSpPr>
          <p:cNvPr id="6" name="Preop set"/>
          <p:cNvSpPr/>
          <p:nvPr/>
        </p:nvSpPr>
        <p:spPr>
          <a:xfrm>
            <a:off x="731520" y="2103120"/>
            <a:ext cx="4572000" cy="3291840"/>
          </a:xfrm>
          <a:prstGeom prst="ellipse">
            <a:avLst/>
          </a:prstGeom>
          <a:solidFill>
            <a:srgbClr val="2A78D6">
              <a:alpha val="22000"/>
            </a:srgbClr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7" name="12-month set"/>
          <p:cNvSpPr/>
          <p:nvPr/>
        </p:nvSpPr>
        <p:spPr>
          <a:xfrm>
            <a:off x="2651760" y="2926080"/>
            <a:ext cx="2286000" cy="1737360"/>
          </a:xfrm>
          <a:prstGeom prst="ellipse">
            <a:avLst/>
          </a:prstGeom>
          <a:solidFill>
            <a:srgbClr val="EB6834">
              <a:alpha val="30000"/>
            </a:srgbClr>
          </a:solidFill>
          <a:ln w="19050">
            <a:solidFill>
              <a:srgbClr val="EB68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patients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surgery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30175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4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sampled at 12 months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 = preoperative (106). Label 0 = 12 months after surgery (71). The 71 patients are in both classes and supply 80% of samples.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01168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Patient-grouped vs naive CV (10 × 5)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0.965 vs 0.965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naive test samples had the patient’s other visit in training, yet the score did not drop. The label is the issue.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classifier learns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loss, but potentially also diet, supplements and medication after surgery.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year’s difference in sample storage. These data cannot attribute it to obesity.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questions before trusting a small-n result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VI (Future Directions) of the paper.</a:t>
            </a:r>
            <a:endParaRPr lang="en-US" sz="1000" dirty="0"/>
          </a:p>
        </p:txBody>
      </p:sp>
      <p:sp>
        <p:nvSpPr>
          <p:cNvPr id="6" name="Check card"/>
          <p:cNvSpPr/>
          <p:nvPr/>
        </p:nvSpPr>
        <p:spPr>
          <a:xfrm>
            <a:off x="548640" y="19202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Number badge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0116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computed from features?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permutation is no evidence of a forecast. Regress change on all baselines in each fold; add a pairing-destroyed null.</a:t>
            </a:r>
            <a:endParaRPr lang="en-US" sz="1700" dirty="0"/>
          </a:p>
        </p:txBody>
      </p:sp>
      <p:sp>
        <p:nvSpPr>
          <p:cNvPr id="10" name="Check card"/>
          <p:cNvSpPr/>
          <p:nvPr/>
        </p:nvSpPr>
        <p:spPr>
          <a:xfrm>
            <a:off x="6277356" y="19202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Number badge"/>
          <p:cNvSpPr/>
          <p:nvPr/>
        </p:nvSpPr>
        <p:spPr>
          <a:xfrm>
            <a:off x="6505956" y="22402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59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37476" y="20116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Refit inside every permutation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scheme. If the observed score sits below the whole null, audit the pipeline before reading p.</a:t>
            </a:r>
            <a:endParaRPr lang="en-US" sz="1700" dirty="0"/>
          </a:p>
        </p:txBody>
      </p:sp>
      <p:sp>
        <p:nvSpPr>
          <p:cNvPr id="14" name="Check card"/>
          <p:cNvSpPr/>
          <p:nvPr/>
        </p:nvSpPr>
        <p:spPr>
          <a:xfrm>
            <a:off x="548640" y="32918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Number badge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3832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 a score that learns nothing?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unfitted score. Report the gap with an interval that resamples subjects.</a:t>
            </a:r>
            <a:endParaRPr lang="en-US" sz="1700" dirty="0"/>
          </a:p>
        </p:txBody>
      </p:sp>
      <p:sp>
        <p:nvSpPr>
          <p:cNvPr id="18" name="Check card"/>
          <p:cNvSpPr/>
          <p:nvPr/>
        </p:nvSpPr>
        <p:spPr>
          <a:xfrm>
            <a:off x="6277356" y="32918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Number badge"/>
          <p:cNvSpPr/>
          <p:nvPr/>
        </p:nvSpPr>
        <p:spPr>
          <a:xfrm>
            <a:off x="6505956" y="36118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05956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237476" y="33832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or drug compounds?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and without them; run a feature with no biology through the attribution pipeline.</a:t>
            </a:r>
            <a:endParaRPr lang="en-US" sz="1700" dirty="0"/>
          </a:p>
        </p:txBody>
      </p:sp>
      <p:sp>
        <p:nvSpPr>
          <p:cNvPr id="22" name="Check card"/>
          <p:cNvSpPr/>
          <p:nvPr/>
        </p:nvSpPr>
        <p:spPr>
          <a:xfrm>
            <a:off x="548640" y="46634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3" name="Number badge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47548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or protocol = label?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 the label against every column and read how each class was collected.</a:t>
            </a:r>
            <a:endParaRPr lang="en-US" sz="1700" dirty="0"/>
          </a:p>
        </p:txBody>
      </p:sp>
      <p:sp>
        <p:nvSpPr>
          <p:cNvPr id="26" name="Check card"/>
          <p:cNvSpPr/>
          <p:nvPr/>
        </p:nvSpPr>
        <p:spPr>
          <a:xfrm>
            <a:off x="6277356" y="46634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Number badge"/>
          <p:cNvSpPr/>
          <p:nvPr/>
        </p:nvSpPr>
        <p:spPr>
          <a:xfrm>
            <a:off x="6505956" y="49834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05956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237476" y="47548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separates the two classes?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physically. If it differs from the title, change the title.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a check is not proving the interpretation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MTBLS242, MTBLS1 and MTBLS881 are public on MetaboLights.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rival explanations, then the test for each.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can make an uninformative rejection more confident.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label, not only the model.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3317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analyses of three small public datasets; no claim about how common this 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validation practice, not the biology of obesity, surgery or diabetes.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p-values are uncalibrated; the simulation is Gaussian and linear with one outcome rule.</a:t>
            </a:r>
            <a:endParaRPr lang="en-US" sz="1600" dirty="0"/>
          </a:p>
        </p:txBody>
      </p:sp>
      <p:sp>
        <p:nvSpPr>
          <p:cNvPr id="10" name="Repo callout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983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simulation and every reported number: </a:t>
            </a: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from the authors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design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III-E of the paper. Measured baselines correlate at 0.3r.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latent level per subject: 11 markers (correlated at 0.3) + 10 auxiliary features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sqrt(r) * mu + sqrt(1 - r) * e0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x12 = sqrt(r) * (mu + gamma * g * s) + sqrt(1 - r) * e12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reliability (share of variance that persists). gamma: forecastable individual response (0 = none). g: response propensity from the auxiliary features. s: expected direction.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at least 6 of 11 markers change in the expected direction. Model: ridge regression (lambda = 10), 5-fold CV, scored by average precision.</a:t>
            </a:r>
            <a:endParaRPr lang="en-US" sz="1600" dirty="0"/>
          </a:p>
        </p:txBody>
      </p:sp>
      <p:sp>
        <p:nvSpPr>
          <p:cNvPr id="7" name="Grid card"/>
          <p:cNvSpPr/>
          <p:nvPr/>
        </p:nvSpPr>
        <p:spPr>
          <a:xfrm>
            <a:off x="7040880" y="196596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210312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(1,000 datasets per cell)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 50, 100, 200, 500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0.25, 0.5, 0.75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0, 0.25, 0.5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36,000 datasets in total</a:t>
            </a: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tests per dataset, alpha = 0.05, 200 null replicates, model refit on each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permutation (whole-vector)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Pairing-destroyed null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Per-marker residualisation (per-fold)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residualisation (per-fold)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numbers in full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IV-A. PR-AUC = mean per-fold AP. The gap uses pooled held-out predictions with a 95% bootstrap over the 71 subjects, so it is not exactly the difference of the means. "—" = not reported in the paper.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879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residualised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rule;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9 of 11 markers; 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6 of 11 markers; 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PR-AUC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Learn-nothing PR-AUC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Gap, 95% interval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−0.037 [−0.111, +0.037]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Permutation diagnostic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(calibration not verified)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Pairing-destroyed null lift (median)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 scorer, 1.99 refit; observed 1.57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White">
  <a:themeElements>
    <a:clrScheme name="Academic White">
      <a:dk1>
        <a:srgbClr val="1B2430"/>
      </a:dk1>
      <a:lt1>
        <a:srgbClr val="FFFFFF"/>
      </a:lt1>
      <a:dk2>
        <a:srgbClr val="5B6470"/>
      </a:dk2>
      <a:lt2>
        <a:srgbClr val="F3F5F7"/>
      </a:lt2>
      <a:accent1>
        <a:srgbClr val="2A78D6"/>
      </a:accent1>
      <a:accent2>
        <a:srgbClr val="EB6834"/>
      </a:accent2>
      <a:accent3>
        <a:srgbClr val="1BAF7A"/>
      </a:accent3>
      <a:accent4>
        <a:srgbClr val="4A3AA7"/>
      </a:accent4>
      <a:accent5>
        <a:srgbClr val="EDA100"/>
      </a:accent5>
      <a:accent6>
        <a:srgbClr val="E34948"/>
      </a:accent6>
      <a:hlink>
        <a:srgbClr val="2A78D6"/>
      </a:hlink>
      <a:folHlink>
        <a:srgbClr val="4A3AA7"/>
      </a:folHlink>
    </a:clrScheme>
    <a:fontScheme name="Academic W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Validated, yet Wrong</dc:title>
  <dc:subject>Lessons from four metabolomics validation audits</dc:subject>
  <dc:creator>Kanin Calvin Shomwiwat, Chaiyaporn Orrudee</dc:creator>
  <cp:lastModifiedBy>Chaiyaporn Orrudee, Kanin Calvin Shomwiwat</cp:lastModifiedBy>
  <cp:revision>1</cp:revision>
  <dcterms:created xsi:type="dcterms:W3CDTF">2026-10-21T10:23:14Z</dcterms:created>
  <dcterms:modified xsi:type="dcterms:W3CDTF">2026-10-21T10:23:14Z</dcterms:modified>
</cp:coreProperties>
</file>